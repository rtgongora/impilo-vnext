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Thank you for being here — facility teams, district and provincial colleagues, HQ leadership, and our partners. Over the next 20 minutes I want to give you a shared, plain-language picture of what Impilo vNext is, why we're building it this way, and most importantly what it means for you, wherever you sit in the system. This is an introduction, not a technical deep-dive. Questions welcome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something everyone recognises. Today a single patient can exist in a dozen registers that don't agree. Frontline staff re-enter the same data. Managers get reports late and can't fully trust them. Partners plug in their own tools creating yet another island. We're not short of systems — we're short of coherence. That's the problem Impilo vNext exists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single most important idea today. Impilo is not another application competing with your tools. Think of your phone: it has an operating system, and many apps run on top of it. The apps differ, but they share one identity, one set of rules, one secure foundation. Impilo vNext is the operating system for health in Zimbabwe. Facility systems, programme tools, partner applications become apps on a common, governed foundation instead of disconnected islands.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guiding sentence. Read slowly it says: there is one system and one look-and-feel; every record ties back to one real person; but that person can be a patient in one moment and a provider in another; facilities, districts and programmes are all contexts; and everything runs under one governed, auditable engine. Keep this in mind — everything else today unpacks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insist on the word operating system? Because it changes how we grow. When someone needs a new capability we don't build a new island with its own login and patient list. We add a governed module that already knows who the patient is, already enforces consent, already writes to the shared record and produces an audit trail. That's the difference between a system that gets more coherent as it grows versus one that fragments. Impilo gets stronger as we add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heart of the OS is the person. Each individual gets one Health ID — a single permanent anchor. Everything else — visits, prescriptions, labs, programme enrolments — attaches to that one anchor. This ends the same patient being registered five times. It's also the foundation of a true longitudinal record: for the first time a person's health story can follow them from a rural clinic to a provincial hospital to a pharmacy, as one continuous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person is more than one thing. A nurse is a citizen with her own health record and a provider when she's on shift. Impilo separates who you are as a person from the professional capacity you're acting in. To prescribe or open a patient's record the system checks the whole picture: identity, licence, organisation, facility, purpose, consent, workflow state — every single time, not once at login. That's what makes it both flexible and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like to see the machine — seven planes, each with a clear job. Trust decides who's allowed. Registry keeps the master lists so we all mean the same facility or medicine. Clinical is the actual care and records. Data turns it into insight. Integration speaks standard languages like FHIR to partners and national systems. Experience is the screen we touch. Enterprise is audit and governance underneath. You don't need to memorise these — the point is a deliberate structure, not a pile of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Partners and HQ, pay special attention here. Privacy in Impilo is not a policy on paper — it's enforced by the software on every request. Before any service does anything, the request is checked against ten dimensions: identity, role, organisation, consent, purpose and more. We deliberately keep identifying details separate from the shared clinical record — the record uses a coded person ID and the names live behind a stricter gate. Everything meaningful is logged. This is how we earn the public's trust to run a national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Everybody works in one shell — one consistent, learnable experience — rather than a different portal for every programme. But unified doesn't mean identical. The shell adapts: a facility nurse sees her patients and tasks; a district manager sees her facilities and indicators; a partner sees the slice they're authorised for. Same foundation, same rules, tailored view. Training is easier, mistakes fewer, and moving between roles or facilities doesn't mean learning a whole new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Impilo isn't only for the clinic. Much of health happens in daily life, so the OS includes a real consumer-grade wellness layer — diet, sleep, fitness, community clubs. And it's smart about friction: browsing wellness content should feel effortless, while prescribing a controlled medicine or submitting a claim should be deliberate and tightly controlled. Same system, appropriate rigour for the moment. This is how we move from a system people are made to use to one they want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matters most to this room. Facility teams: less time re-typing, more time with patients — register once, find instantly, guided safely, and it works when the network doesn't. District and provincial managers: indicators roll up automatically from real transactions, one version of the truth you can trace back to source. HQ and leadership: national identity, registries and data with governance built in, and new programmes arrive as modules not silos. Partners: build on the trusted foundation, inherit identity, consent and audit, and extend without creating another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on discipline, because it's what keeps a national system from decaying. We enforce single sources of truth — one patient model, one provider model, one facility model, no duplicates. Every production capability must be authorised, audited, observable and tested before it ships. Any intelligent guidance is advisory and fully traceable — it supports professionals, never replaces their accountability. These aren't slogans; they're rules the platform enforces 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are we? This is not a concept on a whiteboard. The core planes and services are built and running in preview — identity and trust, clinical records, the data layer, the experience shell and the wellness surfaces. We deliver in small verified increments so every step is safe and auditable. Presenter: drop in your latest concrete milestone here — number of services live, environments certified, or a recent demo — the audience will remember one real proof point more than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our priorities are: closing the loop on live end-to-end workflows across services; broadening rollout and onboarding real users at facilities; opening the door wider to partner integrations; and hardening the last-mile experience so the system is dependable where connectivity is hardest. We'll keep bringing progress to this meeting — honestly, including the gaps — because trust is built by being straight about where we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zoom back out. What we're really building is a country where a person's health story follows them safely from clinic to hospital to pharmacy; where managers at every level lead with information they can trust; where partners strengthen the system instead of splintering it; and where the digital foundation of our health system is something we own and govern for the long term. That's the promise of a Health Operating System — and it's within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on the sentence we started with: one Health Operating System, one experience, one person at the centre — many roles, many contexts, one governed runtime. Wherever you sit — facility, district, province, HQ or partner — there's a place for you in this, and a benefit for you from it. Thank you. I'd love your questions and your thinking on where we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B37"/>
        </a:solidFill>
      </p:bgPr>
    </p:bg>
    <p:spTree>
      <p:nvGrpSpPr>
        <p:cNvPr id="1" name=""/>
        <p:cNvGrpSpPr/>
        <p:nvPr/>
      </p:nvGrpSpPr>
      <p:grpSpPr>
        <a:xfrm>
          <a:off x="0" y="0"/>
          <a:ext cx="0" cy="0"/>
          <a:chOff x="0" y="0"/>
          <a:chExt cx="0" cy="0"/>
        </a:xfrm>
      </p:grpSpPr>
      <p:sp>
        <p:nvSpPr>
          <p:cNvPr id="2" name="Shape 0"/>
          <p:cNvSpPr/>
          <p:nvPr/>
        </p:nvSpPr>
        <p:spPr>
          <a:xfrm>
            <a:off x="8778240" y="-2011680"/>
            <a:ext cx="6949440" cy="6949440"/>
          </a:xfrm>
          <a:prstGeom prst="ellipse">
            <a:avLst/>
          </a:prstGeom>
          <a:solidFill>
            <a:srgbClr val="0F4A44"/>
          </a:solidFill>
          <a:ln/>
        </p:spPr>
      </p:sp>
      <p:sp>
        <p:nvSpPr>
          <p:cNvPr id="3" name="Shape 1"/>
          <p:cNvSpPr/>
          <p:nvPr/>
        </p:nvSpPr>
        <p:spPr>
          <a:xfrm>
            <a:off x="9784080" y="-1005840"/>
            <a:ext cx="4937760" cy="4937760"/>
          </a:xfrm>
          <a:prstGeom prst="ellipse">
            <a:avLst/>
          </a:prstGeom>
          <a:solidFill>
            <a:srgbClr val="0B6B60"/>
          </a:solidFill>
          <a:ln/>
        </p:spPr>
      </p:sp>
      <p:sp>
        <p:nvSpPr>
          <p:cNvPr id="4" name="Shape 2"/>
          <p:cNvSpPr/>
          <p:nvPr/>
        </p:nvSpPr>
        <p:spPr>
          <a:xfrm>
            <a:off x="10698480" y="4206240"/>
            <a:ext cx="3840480" cy="3840480"/>
          </a:xfrm>
          <a:prstGeom prst="ellipse">
            <a:avLst/>
          </a:prstGeom>
          <a:solidFill>
            <a:srgbClr val="0B6B60"/>
          </a:solidFill>
          <a:ln/>
        </p:spPr>
      </p:sp>
      <p:sp>
        <p:nvSpPr>
          <p:cNvPr id="5" name="Shape 3"/>
          <p:cNvSpPr/>
          <p:nvPr/>
        </p:nvSpPr>
        <p:spPr>
          <a:xfrm>
            <a:off x="9921240" y="2148840"/>
            <a:ext cx="1554480" cy="1554480"/>
          </a:xfrm>
          <a:prstGeom prst="ellipse">
            <a:avLst/>
          </a:prstGeom>
          <a:solidFill>
            <a:srgbClr val="E1A21A"/>
          </a:solidFill>
          <a:ln/>
        </p:spPr>
      </p:sp>
      <p:pic>
        <p:nvPicPr>
          <p:cNvPr id="6" name="Image 0" descr="preencoded.png">    </p:cNvPr>
          <p:cNvPicPr>
            <a:picLocks noChangeAspect="1"/>
          </p:cNvPicPr>
          <p:nvPr/>
        </p:nvPicPr>
        <p:blipFill>
          <a:blip r:embed="rId1"/>
          <a:stretch>
            <a:fillRect/>
          </a:stretch>
        </p:blipFill>
        <p:spPr>
          <a:xfrm>
            <a:off x="10356494" y="2584094"/>
            <a:ext cx="683971" cy="683971"/>
          </a:xfrm>
          <a:prstGeom prst="rect">
            <a:avLst/>
          </a:prstGeom>
        </p:spPr>
      </p:pic>
      <p:sp>
        <p:nvSpPr>
          <p:cNvPr id="7" name="Text 4"/>
          <p:cNvSpPr/>
          <p:nvPr/>
        </p:nvSpPr>
        <p:spPr>
          <a:xfrm>
            <a:off x="640080" y="1600200"/>
            <a:ext cx="8229600" cy="365760"/>
          </a:xfrm>
          <a:prstGeom prst="rect">
            <a:avLst/>
          </a:prstGeom>
          <a:noFill/>
          <a:ln/>
        </p:spPr>
        <p:txBody>
          <a:bodyPr wrap="square" lIns="0" tIns="0" rIns="0" bIns="0" rtlCol="0" anchor="ctr"/>
          <a:lstStyle/>
          <a:p>
            <a:pPr indent="0" marL="0">
              <a:buNone/>
            </a:pPr>
            <a:r>
              <a:rPr lang="en-US" sz="1400" b="1" spc="300" kern="0" dirty="0">
                <a:solidFill>
                  <a:srgbClr val="5EEAD4"/>
                </a:solidFill>
                <a:latin typeface="Calibri" pitchFamily="34" charset="0"/>
                <a:ea typeface="Calibri" pitchFamily="34" charset="-122"/>
                <a:cs typeface="Calibri" pitchFamily="34" charset="-120"/>
              </a:rPr>
              <a:t>MONTHLY PROGRAMME MEETING</a:t>
            </a:r>
            <a:endParaRPr lang="en-US" sz="1400" dirty="0"/>
          </a:p>
        </p:txBody>
      </p:sp>
      <p:sp>
        <p:nvSpPr>
          <p:cNvPr id="8" name="Text 5"/>
          <p:cNvSpPr/>
          <p:nvPr/>
        </p:nvSpPr>
        <p:spPr>
          <a:xfrm>
            <a:off x="640080" y="2011680"/>
            <a:ext cx="8229600" cy="128016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Impilo vNext</a:t>
            </a:r>
            <a:endParaRPr lang="en-US" sz="6600" dirty="0"/>
          </a:p>
        </p:txBody>
      </p:sp>
      <p:sp>
        <p:nvSpPr>
          <p:cNvPr id="9" name="Text 6"/>
          <p:cNvSpPr/>
          <p:nvPr/>
        </p:nvSpPr>
        <p:spPr>
          <a:xfrm>
            <a:off x="640080" y="3429000"/>
            <a:ext cx="7863840" cy="640080"/>
          </a:xfrm>
          <a:prstGeom prst="rect">
            <a:avLst/>
          </a:prstGeom>
          <a:noFill/>
          <a:ln/>
        </p:spPr>
        <p:txBody>
          <a:bodyPr wrap="square" lIns="0" tIns="0" rIns="0" bIns="0" rtlCol="0" anchor="ctr"/>
          <a:lstStyle/>
          <a:p>
            <a:pPr indent="0" marL="0">
              <a:buNone/>
            </a:pPr>
            <a:r>
              <a:rPr lang="en-US" sz="2300" dirty="0">
                <a:solidFill>
                  <a:srgbClr val="5EEAD4"/>
                </a:solidFill>
                <a:latin typeface="Calibri" pitchFamily="34" charset="0"/>
                <a:ea typeface="Calibri" pitchFamily="34" charset="-122"/>
                <a:cs typeface="Calibri" pitchFamily="34" charset="-120"/>
              </a:rPr>
              <a:t>A National Health Operating System for Zimbabwe</a:t>
            </a:r>
            <a:endParaRPr lang="en-US" sz="2300" dirty="0"/>
          </a:p>
        </p:txBody>
      </p:sp>
      <p:sp>
        <p:nvSpPr>
          <p:cNvPr id="10" name="Shape 7"/>
          <p:cNvSpPr/>
          <p:nvPr/>
        </p:nvSpPr>
        <p:spPr>
          <a:xfrm>
            <a:off x="640080" y="4343400"/>
            <a:ext cx="3108960" cy="0"/>
          </a:xfrm>
          <a:prstGeom prst="line">
            <a:avLst/>
          </a:prstGeom>
          <a:noFill/>
          <a:ln w="31750">
            <a:solidFill>
              <a:srgbClr val="E1A21A"/>
            </a:solidFill>
            <a:prstDash val="solid"/>
          </a:ln>
        </p:spPr>
      </p:sp>
      <p:sp>
        <p:nvSpPr>
          <p:cNvPr id="11" name="Text 8"/>
          <p:cNvSpPr/>
          <p:nvPr/>
        </p:nvSpPr>
        <p:spPr>
          <a:xfrm>
            <a:off x="640080" y="4572000"/>
            <a:ext cx="8229600" cy="365760"/>
          </a:xfrm>
          <a:prstGeom prst="rect">
            <a:avLst/>
          </a:prstGeom>
          <a:noFill/>
          <a:ln/>
        </p:spPr>
        <p:txBody>
          <a:bodyPr wrap="square" lIns="0" tIns="0" rIns="0" bIns="0" rtlCol="0" anchor="ctr"/>
          <a:lstStyle/>
          <a:p>
            <a:pPr indent="0" marL="0">
              <a:buNone/>
            </a:pPr>
            <a:r>
              <a:rPr lang="en-US" sz="1500" i="1" dirty="0">
                <a:solidFill>
                  <a:srgbClr val="CFE9E4"/>
                </a:solidFill>
                <a:latin typeface="Calibri" pitchFamily="34" charset="0"/>
                <a:ea typeface="Calibri" pitchFamily="34" charset="-122"/>
                <a:cs typeface="Calibri" pitchFamily="34" charset="-120"/>
              </a:rPr>
              <a:t>One system  ·  many roles  ·  one person at the centre</a:t>
            </a:r>
            <a:endParaRPr lang="en-US" sz="1500" dirty="0"/>
          </a:p>
        </p:txBody>
      </p:sp>
      <p:sp>
        <p:nvSpPr>
          <p:cNvPr id="12" name="Text 9"/>
          <p:cNvSpPr/>
          <p:nvPr/>
        </p:nvSpPr>
        <p:spPr>
          <a:xfrm>
            <a:off x="640080" y="5989320"/>
            <a:ext cx="8229600" cy="365760"/>
          </a:xfrm>
          <a:prstGeom prst="rect">
            <a:avLst/>
          </a:prstGeom>
          <a:noFill/>
          <a:ln/>
        </p:spPr>
        <p:txBody>
          <a:bodyPr wrap="square" lIns="0" tIns="0" rIns="0" bIns="0" rtlCol="0" anchor="ctr"/>
          <a:lstStyle/>
          <a:p>
            <a:pPr indent="0" marL="0">
              <a:buNone/>
            </a:pPr>
            <a:r>
              <a:rPr lang="en-US" sz="1300" dirty="0">
                <a:solidFill>
                  <a:srgbClr val="9FC4BE"/>
                </a:solidFill>
                <a:latin typeface="Calibri" pitchFamily="34" charset="0"/>
                <a:ea typeface="Calibri" pitchFamily="34" charset="-122"/>
                <a:cs typeface="Calibri" pitchFamily="34" charset="-120"/>
              </a:rPr>
              <a:t>[Date]   ·   [Presenter name &amp; role]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8"/>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DB5A34"/>
                </a:solidFill>
                <a:latin typeface="Calibri" pitchFamily="34" charset="0"/>
                <a:ea typeface="Calibri" pitchFamily="34" charset="-122"/>
                <a:cs typeface="Calibri" pitchFamily="34" charset="-120"/>
              </a:rPr>
              <a:t>WHY WE ARE HERE</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Health information today is fragmented</a:t>
            </a:r>
            <a:endParaRPr lang="en-US" sz="3300" dirty="0"/>
          </a:p>
        </p:txBody>
      </p:sp>
      <p:sp>
        <p:nvSpPr>
          <p:cNvPr id="4" name="Shape 2"/>
          <p:cNvSpPr/>
          <p:nvPr/>
        </p:nvSpPr>
        <p:spPr>
          <a:xfrm>
            <a:off x="640080" y="2148840"/>
            <a:ext cx="2487168" cy="2743200"/>
          </a:xfrm>
          <a:prstGeom prst="roundRect">
            <a:avLst>
              <a:gd name="adj" fmla="val 3676"/>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5" name="Shape 3"/>
          <p:cNvSpPr/>
          <p:nvPr/>
        </p:nvSpPr>
        <p:spPr>
          <a:xfrm>
            <a:off x="960120" y="2514600"/>
            <a:ext cx="868680" cy="868680"/>
          </a:xfrm>
          <a:prstGeom prst="ellipse">
            <a:avLst/>
          </a:prstGeom>
          <a:solidFill>
            <a:srgbClr val="FCEBE4"/>
          </a:solidFill>
          <a:ln/>
        </p:spPr>
      </p:sp>
      <p:pic>
        <p:nvPicPr>
          <p:cNvPr id="6" name="Image 0" descr="preencoded.png">    </p:cNvPr>
          <p:cNvPicPr>
            <a:picLocks noChangeAspect="1"/>
          </p:cNvPicPr>
          <p:nvPr/>
        </p:nvPicPr>
        <p:blipFill>
          <a:blip r:embed="rId1"/>
          <a:stretch>
            <a:fillRect/>
          </a:stretch>
        </p:blipFill>
        <p:spPr>
          <a:xfrm>
            <a:off x="1203350" y="2757830"/>
            <a:ext cx="382219" cy="382219"/>
          </a:xfrm>
          <a:prstGeom prst="rect">
            <a:avLst/>
          </a:prstGeom>
        </p:spPr>
      </p:pic>
      <p:sp>
        <p:nvSpPr>
          <p:cNvPr id="7" name="Text 4"/>
          <p:cNvSpPr/>
          <p:nvPr/>
        </p:nvSpPr>
        <p:spPr>
          <a:xfrm>
            <a:off x="914400" y="3566160"/>
            <a:ext cx="1938528" cy="457200"/>
          </a:xfrm>
          <a:prstGeom prst="rect">
            <a:avLst/>
          </a:prstGeom>
          <a:noFill/>
          <a:ln/>
        </p:spPr>
        <p:txBody>
          <a:bodyPr wrap="square" lIns="0" tIns="0" rIns="0" bIns="0" rtlCol="0" anchor="ctr"/>
          <a:lstStyle/>
          <a:p>
            <a:pPr indent="0" marL="0">
              <a:buNone/>
            </a:pPr>
            <a:r>
              <a:rPr lang="en-US" sz="1600" b="1" dirty="0">
                <a:solidFill>
                  <a:srgbClr val="12312E"/>
                </a:solidFill>
                <a:latin typeface="Cambria" pitchFamily="34" charset="0"/>
                <a:ea typeface="Cambria" pitchFamily="34" charset="-122"/>
                <a:cs typeface="Cambria" pitchFamily="34" charset="-120"/>
              </a:rPr>
              <a:t>Scattered systems</a:t>
            </a:r>
            <a:endParaRPr lang="en-US" sz="1600" dirty="0"/>
          </a:p>
        </p:txBody>
      </p:sp>
      <p:sp>
        <p:nvSpPr>
          <p:cNvPr id="8" name="Text 5"/>
          <p:cNvSpPr/>
          <p:nvPr/>
        </p:nvSpPr>
        <p:spPr>
          <a:xfrm>
            <a:off x="914400" y="4023360"/>
            <a:ext cx="1984248" cy="777240"/>
          </a:xfrm>
          <a:prstGeom prst="rect">
            <a:avLst/>
          </a:prstGeom>
          <a:noFill/>
          <a:ln/>
        </p:spPr>
        <p:txBody>
          <a:bodyPr wrap="square" lIns="0" tIns="0" rIns="0" bIns="0" rtlCol="0" anchor="ctr"/>
          <a:lstStyle/>
          <a:p>
            <a:pPr indent="0" marL="0">
              <a:lnSpc>
                <a:spcPts val="1500"/>
              </a:lnSpc>
              <a:buNone/>
            </a:pPr>
            <a:r>
              <a:rPr lang="en-US" sz="1200" dirty="0">
                <a:solidFill>
                  <a:srgbClr val="5B6E6B"/>
                </a:solidFill>
                <a:latin typeface="Calibri" pitchFamily="34" charset="0"/>
                <a:ea typeface="Calibri" pitchFamily="34" charset="-122"/>
                <a:cs typeface="Calibri" pitchFamily="34" charset="-120"/>
              </a:rPr>
              <a:t>A patient's story is split across many systems that don't talk to each other.</a:t>
            </a:r>
            <a:endParaRPr lang="en-US" sz="1200" dirty="0"/>
          </a:p>
        </p:txBody>
      </p:sp>
      <p:sp>
        <p:nvSpPr>
          <p:cNvPr id="9" name="Shape 6"/>
          <p:cNvSpPr/>
          <p:nvPr/>
        </p:nvSpPr>
        <p:spPr>
          <a:xfrm>
            <a:off x="3447288" y="2148840"/>
            <a:ext cx="2487168" cy="2743200"/>
          </a:xfrm>
          <a:prstGeom prst="roundRect">
            <a:avLst>
              <a:gd name="adj" fmla="val 3676"/>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0" name="Shape 7"/>
          <p:cNvSpPr/>
          <p:nvPr/>
        </p:nvSpPr>
        <p:spPr>
          <a:xfrm>
            <a:off x="3767328" y="2514600"/>
            <a:ext cx="868680" cy="868680"/>
          </a:xfrm>
          <a:prstGeom prst="ellipse">
            <a:avLst/>
          </a:prstGeom>
          <a:solidFill>
            <a:srgbClr val="FCEBE4"/>
          </a:solidFill>
          <a:ln/>
        </p:spPr>
      </p:sp>
      <p:pic>
        <p:nvPicPr>
          <p:cNvPr id="11" name="Image 1" descr="preencoded.png">    </p:cNvPr>
          <p:cNvPicPr>
            <a:picLocks noChangeAspect="1"/>
          </p:cNvPicPr>
          <p:nvPr/>
        </p:nvPicPr>
        <p:blipFill>
          <a:blip r:embed="rId2"/>
          <a:stretch>
            <a:fillRect/>
          </a:stretch>
        </p:blipFill>
        <p:spPr>
          <a:xfrm>
            <a:off x="4010558" y="2757830"/>
            <a:ext cx="382219" cy="382219"/>
          </a:xfrm>
          <a:prstGeom prst="rect">
            <a:avLst/>
          </a:prstGeom>
        </p:spPr>
      </p:pic>
      <p:sp>
        <p:nvSpPr>
          <p:cNvPr id="12" name="Text 8"/>
          <p:cNvSpPr/>
          <p:nvPr/>
        </p:nvSpPr>
        <p:spPr>
          <a:xfrm>
            <a:off x="3721608" y="3566160"/>
            <a:ext cx="1938528" cy="457200"/>
          </a:xfrm>
          <a:prstGeom prst="rect">
            <a:avLst/>
          </a:prstGeom>
          <a:noFill/>
          <a:ln/>
        </p:spPr>
        <p:txBody>
          <a:bodyPr wrap="square" lIns="0" tIns="0" rIns="0" bIns="0" rtlCol="0" anchor="ctr"/>
          <a:lstStyle/>
          <a:p>
            <a:pPr indent="0" marL="0">
              <a:buNone/>
            </a:pPr>
            <a:r>
              <a:rPr lang="en-US" sz="1600" b="1" dirty="0">
                <a:solidFill>
                  <a:srgbClr val="12312E"/>
                </a:solidFill>
                <a:latin typeface="Cambria" pitchFamily="34" charset="0"/>
                <a:ea typeface="Cambria" pitchFamily="34" charset="-122"/>
                <a:cs typeface="Cambria" pitchFamily="34" charset="-120"/>
              </a:rPr>
              <a:t>Duplicate records</a:t>
            </a:r>
            <a:endParaRPr lang="en-US" sz="1600" dirty="0"/>
          </a:p>
        </p:txBody>
      </p:sp>
      <p:sp>
        <p:nvSpPr>
          <p:cNvPr id="13" name="Text 9"/>
          <p:cNvSpPr/>
          <p:nvPr/>
        </p:nvSpPr>
        <p:spPr>
          <a:xfrm>
            <a:off x="3721608" y="4023360"/>
            <a:ext cx="1984248" cy="777240"/>
          </a:xfrm>
          <a:prstGeom prst="rect">
            <a:avLst/>
          </a:prstGeom>
          <a:noFill/>
          <a:ln/>
        </p:spPr>
        <p:txBody>
          <a:bodyPr wrap="square" lIns="0" tIns="0" rIns="0" bIns="0" rtlCol="0" anchor="ctr"/>
          <a:lstStyle/>
          <a:p>
            <a:pPr indent="0" marL="0">
              <a:lnSpc>
                <a:spcPts val="1500"/>
              </a:lnSpc>
              <a:buNone/>
            </a:pPr>
            <a:r>
              <a:rPr lang="en-US" sz="1200" dirty="0">
                <a:solidFill>
                  <a:srgbClr val="5B6E6B"/>
                </a:solidFill>
                <a:latin typeface="Calibri" pitchFamily="34" charset="0"/>
                <a:ea typeface="Calibri" pitchFamily="34" charset="-122"/>
                <a:cs typeface="Calibri" pitchFamily="34" charset="-120"/>
              </a:rPr>
              <a:t>The same person is registered many times, many ways — no single truth.</a:t>
            </a:r>
            <a:endParaRPr lang="en-US" sz="1200" dirty="0"/>
          </a:p>
        </p:txBody>
      </p:sp>
      <p:sp>
        <p:nvSpPr>
          <p:cNvPr id="14" name="Shape 10"/>
          <p:cNvSpPr/>
          <p:nvPr/>
        </p:nvSpPr>
        <p:spPr>
          <a:xfrm>
            <a:off x="6254496" y="2148840"/>
            <a:ext cx="2487168" cy="2743200"/>
          </a:xfrm>
          <a:prstGeom prst="roundRect">
            <a:avLst>
              <a:gd name="adj" fmla="val 3676"/>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5" name="Shape 11"/>
          <p:cNvSpPr/>
          <p:nvPr/>
        </p:nvSpPr>
        <p:spPr>
          <a:xfrm>
            <a:off x="6574536" y="2514600"/>
            <a:ext cx="868680" cy="868680"/>
          </a:xfrm>
          <a:prstGeom prst="ellipse">
            <a:avLst/>
          </a:prstGeom>
          <a:solidFill>
            <a:srgbClr val="FCEBE4"/>
          </a:solidFill>
          <a:ln/>
        </p:spPr>
      </p:sp>
      <p:pic>
        <p:nvPicPr>
          <p:cNvPr id="16" name="Image 2" descr="preencoded.png">    </p:cNvPr>
          <p:cNvPicPr>
            <a:picLocks noChangeAspect="1"/>
          </p:cNvPicPr>
          <p:nvPr/>
        </p:nvPicPr>
        <p:blipFill>
          <a:blip r:embed="rId3"/>
          <a:stretch>
            <a:fillRect/>
          </a:stretch>
        </p:blipFill>
        <p:spPr>
          <a:xfrm>
            <a:off x="6817766" y="2757830"/>
            <a:ext cx="382219" cy="382219"/>
          </a:xfrm>
          <a:prstGeom prst="rect">
            <a:avLst/>
          </a:prstGeom>
        </p:spPr>
      </p:pic>
      <p:sp>
        <p:nvSpPr>
          <p:cNvPr id="17" name="Text 12"/>
          <p:cNvSpPr/>
          <p:nvPr/>
        </p:nvSpPr>
        <p:spPr>
          <a:xfrm>
            <a:off x="6528816" y="3566160"/>
            <a:ext cx="1938528" cy="457200"/>
          </a:xfrm>
          <a:prstGeom prst="rect">
            <a:avLst/>
          </a:prstGeom>
          <a:noFill/>
          <a:ln/>
        </p:spPr>
        <p:txBody>
          <a:bodyPr wrap="square" lIns="0" tIns="0" rIns="0" bIns="0" rtlCol="0" anchor="ctr"/>
          <a:lstStyle/>
          <a:p>
            <a:pPr indent="0" marL="0">
              <a:buNone/>
            </a:pPr>
            <a:r>
              <a:rPr lang="en-US" sz="1600" b="1" dirty="0">
                <a:solidFill>
                  <a:srgbClr val="12312E"/>
                </a:solidFill>
                <a:latin typeface="Cambria" pitchFamily="34" charset="0"/>
                <a:ea typeface="Cambria" pitchFamily="34" charset="-122"/>
                <a:cs typeface="Cambria" pitchFamily="34" charset="-120"/>
              </a:rPr>
              <a:t>Re-entered data</a:t>
            </a:r>
            <a:endParaRPr lang="en-US" sz="1600" dirty="0"/>
          </a:p>
        </p:txBody>
      </p:sp>
      <p:sp>
        <p:nvSpPr>
          <p:cNvPr id="18" name="Text 13"/>
          <p:cNvSpPr/>
          <p:nvPr/>
        </p:nvSpPr>
        <p:spPr>
          <a:xfrm>
            <a:off x="6528816" y="4023360"/>
            <a:ext cx="1984248" cy="777240"/>
          </a:xfrm>
          <a:prstGeom prst="rect">
            <a:avLst/>
          </a:prstGeom>
          <a:noFill/>
          <a:ln/>
        </p:spPr>
        <p:txBody>
          <a:bodyPr wrap="square" lIns="0" tIns="0" rIns="0" bIns="0" rtlCol="0" anchor="ctr"/>
          <a:lstStyle/>
          <a:p>
            <a:pPr indent="0" marL="0">
              <a:lnSpc>
                <a:spcPts val="1500"/>
              </a:lnSpc>
              <a:buNone/>
            </a:pPr>
            <a:r>
              <a:rPr lang="en-US" sz="1200" dirty="0">
                <a:solidFill>
                  <a:srgbClr val="5B6E6B"/>
                </a:solidFill>
                <a:latin typeface="Calibri" pitchFamily="34" charset="0"/>
                <a:ea typeface="Calibri" pitchFamily="34" charset="-122"/>
                <a:cs typeface="Calibri" pitchFamily="34" charset="-120"/>
              </a:rPr>
              <a:t>Staff type the same details over and over; numbers are reconciled by hand.</a:t>
            </a:r>
            <a:endParaRPr lang="en-US" sz="1200" dirty="0"/>
          </a:p>
        </p:txBody>
      </p:sp>
      <p:sp>
        <p:nvSpPr>
          <p:cNvPr id="19" name="Shape 14"/>
          <p:cNvSpPr/>
          <p:nvPr/>
        </p:nvSpPr>
        <p:spPr>
          <a:xfrm>
            <a:off x="9061704" y="2148840"/>
            <a:ext cx="2487168" cy="2743200"/>
          </a:xfrm>
          <a:prstGeom prst="roundRect">
            <a:avLst>
              <a:gd name="adj" fmla="val 3676"/>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20" name="Shape 15"/>
          <p:cNvSpPr/>
          <p:nvPr/>
        </p:nvSpPr>
        <p:spPr>
          <a:xfrm>
            <a:off x="9381744" y="2514600"/>
            <a:ext cx="868680" cy="868680"/>
          </a:xfrm>
          <a:prstGeom prst="ellipse">
            <a:avLst/>
          </a:prstGeom>
          <a:solidFill>
            <a:srgbClr val="FCEBE4"/>
          </a:solidFill>
          <a:ln/>
        </p:spPr>
      </p:sp>
      <p:pic>
        <p:nvPicPr>
          <p:cNvPr id="21" name="Image 3" descr="preencoded.png">    </p:cNvPr>
          <p:cNvPicPr>
            <a:picLocks noChangeAspect="1"/>
          </p:cNvPicPr>
          <p:nvPr/>
        </p:nvPicPr>
        <p:blipFill>
          <a:blip r:embed="rId4"/>
          <a:stretch>
            <a:fillRect/>
          </a:stretch>
        </p:blipFill>
        <p:spPr>
          <a:xfrm>
            <a:off x="9624974" y="2757830"/>
            <a:ext cx="382219" cy="382219"/>
          </a:xfrm>
          <a:prstGeom prst="rect">
            <a:avLst/>
          </a:prstGeom>
        </p:spPr>
      </p:pic>
      <p:sp>
        <p:nvSpPr>
          <p:cNvPr id="22" name="Text 16"/>
          <p:cNvSpPr/>
          <p:nvPr/>
        </p:nvSpPr>
        <p:spPr>
          <a:xfrm>
            <a:off x="9336024" y="3566160"/>
            <a:ext cx="1938528" cy="457200"/>
          </a:xfrm>
          <a:prstGeom prst="rect">
            <a:avLst/>
          </a:prstGeom>
          <a:noFill/>
          <a:ln/>
        </p:spPr>
        <p:txBody>
          <a:bodyPr wrap="square" lIns="0" tIns="0" rIns="0" bIns="0" rtlCol="0" anchor="ctr"/>
          <a:lstStyle/>
          <a:p>
            <a:pPr indent="0" marL="0">
              <a:buNone/>
            </a:pPr>
            <a:r>
              <a:rPr lang="en-US" sz="1600" b="1" dirty="0">
                <a:solidFill>
                  <a:srgbClr val="12312E"/>
                </a:solidFill>
                <a:latin typeface="Cambria" pitchFamily="34" charset="0"/>
                <a:ea typeface="Cambria" pitchFamily="34" charset="-122"/>
                <a:cs typeface="Cambria" pitchFamily="34" charset="-120"/>
              </a:rPr>
              <a:t>Late, low-trust reports</a:t>
            </a:r>
            <a:endParaRPr lang="en-US" sz="1600" dirty="0"/>
          </a:p>
        </p:txBody>
      </p:sp>
      <p:sp>
        <p:nvSpPr>
          <p:cNvPr id="23" name="Text 17"/>
          <p:cNvSpPr/>
          <p:nvPr/>
        </p:nvSpPr>
        <p:spPr>
          <a:xfrm>
            <a:off x="9336024" y="4023360"/>
            <a:ext cx="1984248" cy="777240"/>
          </a:xfrm>
          <a:prstGeom prst="rect">
            <a:avLst/>
          </a:prstGeom>
          <a:noFill/>
          <a:ln/>
        </p:spPr>
        <p:txBody>
          <a:bodyPr wrap="square" lIns="0" tIns="0" rIns="0" bIns="0" rtlCol="0" anchor="ctr"/>
          <a:lstStyle/>
          <a:p>
            <a:pPr indent="0" marL="0">
              <a:lnSpc>
                <a:spcPts val="1500"/>
              </a:lnSpc>
              <a:buNone/>
            </a:pPr>
            <a:r>
              <a:rPr lang="en-US" sz="1200" dirty="0">
                <a:solidFill>
                  <a:srgbClr val="5B6E6B"/>
                </a:solidFill>
                <a:latin typeface="Calibri" pitchFamily="34" charset="0"/>
                <a:ea typeface="Calibri" pitchFamily="34" charset="-122"/>
                <a:cs typeface="Calibri" pitchFamily="34" charset="-120"/>
              </a:rPr>
              <a:t>Managers wait weeks for figures — and can't fully trust them when they arrive.</a:t>
            </a:r>
            <a:endParaRPr lang="en-US" sz="1200" dirty="0"/>
          </a:p>
        </p:txBody>
      </p:sp>
      <p:sp>
        <p:nvSpPr>
          <p:cNvPr id="24" name="Text 18"/>
          <p:cNvSpPr/>
          <p:nvPr/>
        </p:nvSpPr>
        <p:spPr>
          <a:xfrm>
            <a:off x="640080" y="5212080"/>
            <a:ext cx="10908792" cy="548640"/>
          </a:xfrm>
          <a:prstGeom prst="rect">
            <a:avLst/>
          </a:prstGeom>
          <a:noFill/>
          <a:ln/>
        </p:spPr>
        <p:txBody>
          <a:bodyPr wrap="square" rtlCol="0" anchor="ctr"/>
          <a:lstStyle/>
          <a:p>
            <a:pPr algn="ctr" indent="0" marL="0">
              <a:buNone/>
            </a:pPr>
            <a:r>
              <a:rPr lang="en-US" sz="2000" i="1" dirty="0">
                <a:solidFill>
                  <a:srgbClr val="12312E"/>
                </a:solidFill>
                <a:latin typeface="Cambria" pitchFamily="34" charset="0"/>
                <a:ea typeface="Cambria" pitchFamily="34" charset="-122"/>
                <a:cs typeface="Cambria" pitchFamily="34" charset="-120"/>
              </a:rPr>
              <a:t>We are not short of systems — we are short of </a:t>
            </a:r>
            <a:pPr algn="ctr" indent="0" marL="0">
              <a:buNone/>
            </a:pPr>
            <a:r>
              <a:rPr lang="en-US" sz="2000" b="1" i="1" dirty="0">
                <a:solidFill>
                  <a:srgbClr val="DB5A34"/>
                </a:solidFill>
                <a:latin typeface="Cambria" pitchFamily="34" charset="0"/>
                <a:ea typeface="Cambria" pitchFamily="34" charset="-122"/>
                <a:cs typeface="Cambria" pitchFamily="34" charset="-120"/>
              </a:rPr>
              <a:t>coherence.</a:t>
            </a:r>
            <a:endParaRPr lang="en-US" sz="2000" dirty="0"/>
          </a:p>
        </p:txBody>
      </p:sp>
      <p:sp>
        <p:nvSpPr>
          <p:cNvPr id="25" name="Text 19"/>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26" name="Text 20"/>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8"/>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0D8577"/>
                </a:solidFill>
                <a:latin typeface="Calibri" pitchFamily="34" charset="0"/>
                <a:ea typeface="Calibri" pitchFamily="34" charset="-122"/>
                <a:cs typeface="Calibri" pitchFamily="34" charset="-120"/>
              </a:rPr>
              <a:t>THE ONE-LINE ANSWER</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Impilo is a Health Operating System</a:t>
            </a:r>
            <a:endParaRPr lang="en-US" sz="3300" dirty="0"/>
          </a:p>
        </p:txBody>
      </p:sp>
      <p:sp>
        <p:nvSpPr>
          <p:cNvPr id="4" name="Shape 2"/>
          <p:cNvSpPr/>
          <p:nvPr/>
        </p:nvSpPr>
        <p:spPr>
          <a:xfrm>
            <a:off x="640080" y="2011680"/>
            <a:ext cx="5943600" cy="3703320"/>
          </a:xfrm>
          <a:prstGeom prst="roundRect">
            <a:avLst>
              <a:gd name="adj" fmla="val 2469"/>
            </a:avLst>
          </a:prstGeom>
          <a:solidFill>
            <a:srgbClr val="0A3B37"/>
          </a:solidFill>
          <a:ln/>
          <a:effectLst>
            <a:outerShdw sx="100000" sy="100000" kx="0" ky="0" algn="bl" rotWithShape="0" blurRad="114300" dist="38100" dir="5400000">
              <a:srgbClr val="0A3B37">
                <a:alpha val="13000"/>
              </a:srgbClr>
            </a:outerShdw>
          </a:effectLst>
        </p:spPr>
      </p:sp>
      <p:sp>
        <p:nvSpPr>
          <p:cNvPr id="5" name="Text 3"/>
          <p:cNvSpPr/>
          <p:nvPr/>
        </p:nvSpPr>
        <p:spPr>
          <a:xfrm>
            <a:off x="1097280" y="2423160"/>
            <a:ext cx="5029200" cy="2011680"/>
          </a:xfrm>
          <a:prstGeom prst="rect">
            <a:avLst/>
          </a:prstGeom>
          <a:noFill/>
          <a:ln/>
        </p:spPr>
        <p:txBody>
          <a:bodyPr wrap="square" rtlCol="0" anchor="t"/>
          <a:lstStyle/>
          <a:p>
            <a:pPr indent="0" marL="0">
              <a:lnSpc>
                <a:spcPts val="2800"/>
              </a:lnSpc>
              <a:buNone/>
            </a:pPr>
            <a:r>
              <a:rPr lang="en-US" sz="2000" dirty="0">
                <a:solidFill>
                  <a:srgbClr val="D7ECE7"/>
                </a:solidFill>
                <a:latin typeface="Cambria" pitchFamily="34" charset="0"/>
                <a:ea typeface="Cambria" pitchFamily="34" charset="-122"/>
                <a:cs typeface="Cambria" pitchFamily="34" charset="-120"/>
              </a:rPr>
              <a:t>A trusted, governed, interoperable, person-centred national digital environment where health </a:t>
            </a:r>
            <a:pPr indent="0" marL="0">
              <a:lnSpc>
                <a:spcPts val="2800"/>
              </a:lnSpc>
              <a:buNone/>
            </a:pPr>
            <a:r>
              <a:rPr lang="en-US" sz="2000" b="1" dirty="0">
                <a:solidFill>
                  <a:srgbClr val="5EEAD4"/>
                </a:solidFill>
                <a:latin typeface="Cambria" pitchFamily="34" charset="0"/>
                <a:ea typeface="Cambria" pitchFamily="34" charset="-122"/>
                <a:cs typeface="Cambria" pitchFamily="34" charset="-120"/>
              </a:rPr>
              <a:t>identities, records, workflows, services and communities</a:t>
            </a:r>
            <a:pPr indent="0" marL="0">
              <a:lnSpc>
                <a:spcPts val="2800"/>
              </a:lnSpc>
              <a:buNone/>
            </a:pPr>
            <a:r>
              <a:rPr lang="en-US" sz="2000" dirty="0">
                <a:solidFill>
                  <a:srgbClr val="D7ECE7"/>
                </a:solidFill>
                <a:latin typeface="Cambria" pitchFamily="34" charset="0"/>
                <a:ea typeface="Cambria" pitchFamily="34" charset="-122"/>
                <a:cs typeface="Cambria" pitchFamily="34" charset="-120"/>
              </a:rPr>
              <a:t> operate as </a:t>
            </a:r>
            <a:pPr indent="0" marL="0">
              <a:lnSpc>
                <a:spcPts val="2800"/>
              </a:lnSpc>
              <a:buNone/>
            </a:pPr>
            <a:r>
              <a:rPr lang="en-US" sz="2000" b="1" dirty="0">
                <a:solidFill>
                  <a:srgbClr val="FFFFFF"/>
                </a:solidFill>
                <a:latin typeface="Cambria" pitchFamily="34" charset="0"/>
                <a:ea typeface="Cambria" pitchFamily="34" charset="-122"/>
                <a:cs typeface="Cambria" pitchFamily="34" charset="-120"/>
              </a:rPr>
              <a:t>one coherent whole.</a:t>
            </a:r>
            <a:endParaRPr lang="en-US" sz="2000" dirty="0"/>
          </a:p>
        </p:txBody>
      </p:sp>
      <p:sp>
        <p:nvSpPr>
          <p:cNvPr id="6" name="Text 4"/>
          <p:cNvSpPr/>
          <p:nvPr/>
        </p:nvSpPr>
        <p:spPr>
          <a:xfrm>
            <a:off x="1097280" y="4800600"/>
            <a:ext cx="5029200" cy="640080"/>
          </a:xfrm>
          <a:prstGeom prst="rect">
            <a:avLst/>
          </a:prstGeom>
          <a:noFill/>
          <a:ln/>
        </p:spPr>
        <p:txBody>
          <a:bodyPr wrap="square" lIns="0" tIns="0" rIns="0" bIns="0" rtlCol="0" anchor="ctr"/>
          <a:lstStyle/>
          <a:p>
            <a:pPr indent="0" marL="0">
              <a:buNone/>
            </a:pPr>
            <a:r>
              <a:rPr lang="en-US" sz="1350" i="1" dirty="0">
                <a:solidFill>
                  <a:srgbClr val="E1A21A"/>
                </a:solidFill>
                <a:latin typeface="Calibri" pitchFamily="34" charset="0"/>
                <a:ea typeface="Calibri" pitchFamily="34" charset="-122"/>
                <a:cs typeface="Calibri" pitchFamily="34" charset="-120"/>
              </a:rPr>
              <a:t>Not “another app” — a shared foundation that all health apps run on.</a:t>
            </a:r>
            <a:endParaRPr lang="en-US" sz="1350" dirty="0"/>
          </a:p>
        </p:txBody>
      </p:sp>
      <p:sp>
        <p:nvSpPr>
          <p:cNvPr id="7" name="Text 5"/>
          <p:cNvSpPr/>
          <p:nvPr/>
        </p:nvSpPr>
        <p:spPr>
          <a:xfrm>
            <a:off x="7040880" y="2057400"/>
            <a:ext cx="4572000" cy="320040"/>
          </a:xfrm>
          <a:prstGeom prst="rect">
            <a:avLst/>
          </a:prstGeom>
          <a:noFill/>
          <a:ln/>
        </p:spPr>
        <p:txBody>
          <a:bodyPr wrap="square" lIns="0" tIns="0" rIns="0" bIns="0" rtlCol="0" anchor="ctr"/>
          <a:lstStyle/>
          <a:p>
            <a:pPr indent="0" marL="0">
              <a:buNone/>
            </a:pPr>
            <a:r>
              <a:rPr lang="en-US" sz="1200" b="1" spc="200" kern="0" dirty="0">
                <a:solidFill>
                  <a:srgbClr val="0D8577"/>
                </a:solidFill>
                <a:latin typeface="Calibri" pitchFamily="34" charset="0"/>
                <a:ea typeface="Calibri" pitchFamily="34" charset="-122"/>
                <a:cs typeface="Calibri" pitchFamily="34" charset="-120"/>
              </a:rPr>
              <a:t>THINK OF YOUR PHONE</a:t>
            </a:r>
            <a:endParaRPr lang="en-US" sz="1200" dirty="0"/>
          </a:p>
        </p:txBody>
      </p:sp>
      <p:sp>
        <p:nvSpPr>
          <p:cNvPr id="8" name="Shape 6"/>
          <p:cNvSpPr/>
          <p:nvPr/>
        </p:nvSpPr>
        <p:spPr>
          <a:xfrm>
            <a:off x="7040880" y="2514600"/>
            <a:ext cx="4507992" cy="932688"/>
          </a:xfrm>
          <a:prstGeom prst="roundRect">
            <a:avLst>
              <a:gd name="adj" fmla="val 7843"/>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9" name="Shape 7"/>
          <p:cNvSpPr/>
          <p:nvPr/>
        </p:nvSpPr>
        <p:spPr>
          <a:xfrm>
            <a:off x="7223760" y="2734056"/>
            <a:ext cx="502920" cy="502920"/>
          </a:xfrm>
          <a:prstGeom prst="ellipse">
            <a:avLst/>
          </a:prstGeom>
          <a:solidFill>
            <a:srgbClr val="EAF4F2"/>
          </a:solidFill>
          <a:ln/>
        </p:spPr>
      </p:sp>
      <p:pic>
        <p:nvPicPr>
          <p:cNvPr id="10" name="Image 0" descr="preencoded.png">    </p:cNvPr>
          <p:cNvPicPr>
            <a:picLocks noChangeAspect="1"/>
          </p:cNvPicPr>
          <p:nvPr/>
        </p:nvPicPr>
        <p:blipFill>
          <a:blip r:embed="rId1"/>
          <a:stretch>
            <a:fillRect/>
          </a:stretch>
        </p:blipFill>
        <p:spPr>
          <a:xfrm>
            <a:off x="7364578" y="2874874"/>
            <a:ext cx="221285" cy="221285"/>
          </a:xfrm>
          <a:prstGeom prst="rect">
            <a:avLst/>
          </a:prstGeom>
        </p:spPr>
      </p:pic>
      <p:sp>
        <p:nvSpPr>
          <p:cNvPr id="11" name="Text 8"/>
          <p:cNvSpPr/>
          <p:nvPr/>
        </p:nvSpPr>
        <p:spPr>
          <a:xfrm>
            <a:off x="7863840" y="2642616"/>
            <a:ext cx="3566160" cy="320040"/>
          </a:xfrm>
          <a:prstGeom prst="rect">
            <a:avLst/>
          </a:prstGeom>
          <a:noFill/>
          <a:ln/>
        </p:spPr>
        <p:txBody>
          <a:bodyPr wrap="square" lIns="0" tIns="0" rIns="0" bIns="0" rtlCol="0" anchor="ctr"/>
          <a:lstStyle/>
          <a:p>
            <a:pPr indent="0" marL="0">
              <a:buNone/>
            </a:pPr>
            <a:r>
              <a:rPr lang="en-US" sz="1450" b="1" dirty="0">
                <a:solidFill>
                  <a:srgbClr val="12312E"/>
                </a:solidFill>
                <a:latin typeface="Cambria" pitchFamily="34" charset="0"/>
                <a:ea typeface="Cambria" pitchFamily="34" charset="-122"/>
                <a:cs typeface="Cambria" pitchFamily="34" charset="-120"/>
              </a:rPr>
              <a:t>One operating system</a:t>
            </a:r>
            <a:endParaRPr lang="en-US" sz="1450" dirty="0"/>
          </a:p>
        </p:txBody>
      </p:sp>
      <p:sp>
        <p:nvSpPr>
          <p:cNvPr id="12" name="Text 9"/>
          <p:cNvSpPr/>
          <p:nvPr/>
        </p:nvSpPr>
        <p:spPr>
          <a:xfrm>
            <a:off x="7863840" y="2971800"/>
            <a:ext cx="3611880" cy="411480"/>
          </a:xfrm>
          <a:prstGeom prst="rect">
            <a:avLst/>
          </a:prstGeom>
          <a:noFill/>
          <a:ln/>
        </p:spPr>
        <p:txBody>
          <a:bodyPr wrap="square" lIns="0" tIns="0" rIns="0" bIns="0" rtlCol="0" anchor="ctr"/>
          <a:lstStyle/>
          <a:p>
            <a:pPr indent="0" marL="0">
              <a:lnSpc>
                <a:spcPts val="1300"/>
              </a:lnSpc>
              <a:buNone/>
            </a:pPr>
            <a:r>
              <a:rPr lang="en-US" sz="1100" dirty="0">
                <a:solidFill>
                  <a:srgbClr val="5B6E6B"/>
                </a:solidFill>
                <a:latin typeface="Calibri" pitchFamily="34" charset="0"/>
                <a:ea typeface="Calibri" pitchFamily="34" charset="-122"/>
                <a:cs typeface="Calibri" pitchFamily="34" charset="-120"/>
              </a:rPr>
              <a:t>Android / iOS provides identity, rules, security.</a:t>
            </a:r>
            <a:endParaRPr lang="en-US" sz="1100" dirty="0"/>
          </a:p>
        </p:txBody>
      </p:sp>
      <p:sp>
        <p:nvSpPr>
          <p:cNvPr id="13" name="Shape 10"/>
          <p:cNvSpPr/>
          <p:nvPr/>
        </p:nvSpPr>
        <p:spPr>
          <a:xfrm>
            <a:off x="7040880" y="3575304"/>
            <a:ext cx="4507992" cy="932688"/>
          </a:xfrm>
          <a:prstGeom prst="roundRect">
            <a:avLst>
              <a:gd name="adj" fmla="val 7843"/>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4" name="Shape 11"/>
          <p:cNvSpPr/>
          <p:nvPr/>
        </p:nvSpPr>
        <p:spPr>
          <a:xfrm>
            <a:off x="7223760" y="3794760"/>
            <a:ext cx="502920" cy="502920"/>
          </a:xfrm>
          <a:prstGeom prst="ellipse">
            <a:avLst/>
          </a:prstGeom>
          <a:solidFill>
            <a:srgbClr val="EAF4F2"/>
          </a:solidFill>
          <a:ln/>
        </p:spPr>
      </p:sp>
      <p:pic>
        <p:nvPicPr>
          <p:cNvPr id="15" name="Image 1" descr="preencoded.png">    </p:cNvPr>
          <p:cNvPicPr>
            <a:picLocks noChangeAspect="1"/>
          </p:cNvPicPr>
          <p:nvPr/>
        </p:nvPicPr>
        <p:blipFill>
          <a:blip r:embed="rId2"/>
          <a:stretch>
            <a:fillRect/>
          </a:stretch>
        </p:blipFill>
        <p:spPr>
          <a:xfrm>
            <a:off x="7364578" y="3935578"/>
            <a:ext cx="221285" cy="221285"/>
          </a:xfrm>
          <a:prstGeom prst="rect">
            <a:avLst/>
          </a:prstGeom>
        </p:spPr>
      </p:pic>
      <p:sp>
        <p:nvSpPr>
          <p:cNvPr id="16" name="Text 12"/>
          <p:cNvSpPr/>
          <p:nvPr/>
        </p:nvSpPr>
        <p:spPr>
          <a:xfrm>
            <a:off x="7863840" y="3703320"/>
            <a:ext cx="3566160" cy="320040"/>
          </a:xfrm>
          <a:prstGeom prst="rect">
            <a:avLst/>
          </a:prstGeom>
          <a:noFill/>
          <a:ln/>
        </p:spPr>
        <p:txBody>
          <a:bodyPr wrap="square" lIns="0" tIns="0" rIns="0" bIns="0" rtlCol="0" anchor="ctr"/>
          <a:lstStyle/>
          <a:p>
            <a:pPr indent="0" marL="0">
              <a:buNone/>
            </a:pPr>
            <a:r>
              <a:rPr lang="en-US" sz="1450" b="1" dirty="0">
                <a:solidFill>
                  <a:srgbClr val="12312E"/>
                </a:solidFill>
                <a:latin typeface="Cambria" pitchFamily="34" charset="0"/>
                <a:ea typeface="Cambria" pitchFamily="34" charset="-122"/>
                <a:cs typeface="Cambria" pitchFamily="34" charset="-120"/>
              </a:rPr>
              <a:t>Many apps on top</a:t>
            </a:r>
            <a:endParaRPr lang="en-US" sz="1450" dirty="0"/>
          </a:p>
        </p:txBody>
      </p:sp>
      <p:sp>
        <p:nvSpPr>
          <p:cNvPr id="17" name="Text 13"/>
          <p:cNvSpPr/>
          <p:nvPr/>
        </p:nvSpPr>
        <p:spPr>
          <a:xfrm>
            <a:off x="7863840" y="4032504"/>
            <a:ext cx="3611880" cy="411480"/>
          </a:xfrm>
          <a:prstGeom prst="rect">
            <a:avLst/>
          </a:prstGeom>
          <a:noFill/>
          <a:ln/>
        </p:spPr>
        <p:txBody>
          <a:bodyPr wrap="square" lIns="0" tIns="0" rIns="0" bIns="0" rtlCol="0" anchor="ctr"/>
          <a:lstStyle/>
          <a:p>
            <a:pPr indent="0" marL="0">
              <a:lnSpc>
                <a:spcPts val="1300"/>
              </a:lnSpc>
              <a:buNone/>
            </a:pPr>
            <a:r>
              <a:rPr lang="en-US" sz="1100" dirty="0">
                <a:solidFill>
                  <a:srgbClr val="5B6E6B"/>
                </a:solidFill>
                <a:latin typeface="Calibri" pitchFamily="34" charset="0"/>
                <a:ea typeface="Calibri" pitchFamily="34" charset="-122"/>
                <a:cs typeface="Calibri" pitchFamily="34" charset="-120"/>
              </a:rPr>
              <a:t>Different apps — but one login, one trust model.</a:t>
            </a:r>
            <a:endParaRPr lang="en-US" sz="1100" dirty="0"/>
          </a:p>
        </p:txBody>
      </p:sp>
      <p:sp>
        <p:nvSpPr>
          <p:cNvPr id="18" name="Shape 14"/>
          <p:cNvSpPr/>
          <p:nvPr/>
        </p:nvSpPr>
        <p:spPr>
          <a:xfrm>
            <a:off x="7040880" y="4636008"/>
            <a:ext cx="4507992" cy="932688"/>
          </a:xfrm>
          <a:prstGeom prst="roundRect">
            <a:avLst>
              <a:gd name="adj" fmla="val 7843"/>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9" name="Shape 15"/>
          <p:cNvSpPr/>
          <p:nvPr/>
        </p:nvSpPr>
        <p:spPr>
          <a:xfrm>
            <a:off x="7223760" y="4855464"/>
            <a:ext cx="502920" cy="502920"/>
          </a:xfrm>
          <a:prstGeom prst="ellipse">
            <a:avLst/>
          </a:prstGeom>
          <a:solidFill>
            <a:srgbClr val="EAF4F2"/>
          </a:solidFill>
          <a:ln/>
        </p:spPr>
      </p:sp>
      <p:pic>
        <p:nvPicPr>
          <p:cNvPr id="20" name="Image 2" descr="preencoded.png">    </p:cNvPr>
          <p:cNvPicPr>
            <a:picLocks noChangeAspect="1"/>
          </p:cNvPicPr>
          <p:nvPr/>
        </p:nvPicPr>
        <p:blipFill>
          <a:blip r:embed="rId3"/>
          <a:stretch>
            <a:fillRect/>
          </a:stretch>
        </p:blipFill>
        <p:spPr>
          <a:xfrm>
            <a:off x="7364578" y="4996282"/>
            <a:ext cx="221285" cy="221285"/>
          </a:xfrm>
          <a:prstGeom prst="rect">
            <a:avLst/>
          </a:prstGeom>
        </p:spPr>
      </p:pic>
      <p:sp>
        <p:nvSpPr>
          <p:cNvPr id="21" name="Text 16"/>
          <p:cNvSpPr/>
          <p:nvPr/>
        </p:nvSpPr>
        <p:spPr>
          <a:xfrm>
            <a:off x="7863840" y="4764024"/>
            <a:ext cx="3566160" cy="320040"/>
          </a:xfrm>
          <a:prstGeom prst="rect">
            <a:avLst/>
          </a:prstGeom>
          <a:noFill/>
          <a:ln/>
        </p:spPr>
        <p:txBody>
          <a:bodyPr wrap="square" lIns="0" tIns="0" rIns="0" bIns="0" rtlCol="0" anchor="ctr"/>
          <a:lstStyle/>
          <a:p>
            <a:pPr indent="0" marL="0">
              <a:buNone/>
            </a:pPr>
            <a:r>
              <a:rPr lang="en-US" sz="1450" b="1" dirty="0">
                <a:solidFill>
                  <a:srgbClr val="12312E"/>
                </a:solidFill>
                <a:latin typeface="Cambria" pitchFamily="34" charset="0"/>
                <a:ea typeface="Cambria" pitchFamily="34" charset="-122"/>
                <a:cs typeface="Cambria" pitchFamily="34" charset="-120"/>
              </a:rPr>
              <a:t>Impilo = the health OS</a:t>
            </a:r>
            <a:endParaRPr lang="en-US" sz="1450" dirty="0"/>
          </a:p>
        </p:txBody>
      </p:sp>
      <p:sp>
        <p:nvSpPr>
          <p:cNvPr id="22" name="Text 17"/>
          <p:cNvSpPr/>
          <p:nvPr/>
        </p:nvSpPr>
        <p:spPr>
          <a:xfrm>
            <a:off x="7863840" y="5093208"/>
            <a:ext cx="3611880" cy="411480"/>
          </a:xfrm>
          <a:prstGeom prst="rect">
            <a:avLst/>
          </a:prstGeom>
          <a:noFill/>
          <a:ln/>
        </p:spPr>
        <p:txBody>
          <a:bodyPr wrap="square" lIns="0" tIns="0" rIns="0" bIns="0" rtlCol="0" anchor="ctr"/>
          <a:lstStyle/>
          <a:p>
            <a:pPr indent="0" marL="0">
              <a:lnSpc>
                <a:spcPts val="1300"/>
              </a:lnSpc>
              <a:buNone/>
            </a:pPr>
            <a:r>
              <a:rPr lang="en-US" sz="1100" dirty="0">
                <a:solidFill>
                  <a:srgbClr val="5B6E6B"/>
                </a:solidFill>
                <a:latin typeface="Calibri" pitchFamily="34" charset="0"/>
                <a:ea typeface="Calibri" pitchFamily="34" charset="-122"/>
                <a:cs typeface="Calibri" pitchFamily="34" charset="-120"/>
              </a:rPr>
              <a:t>Facility, programme &amp; partner tools become governed apps, not islands.</a:t>
            </a:r>
            <a:endParaRPr lang="en-US" sz="1100" dirty="0"/>
          </a:p>
        </p:txBody>
      </p:sp>
      <p:sp>
        <p:nvSpPr>
          <p:cNvPr id="23" name="Text 18"/>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24" name="Text 19"/>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3B37"/>
        </a:solidFill>
      </p:bgPr>
    </p:bg>
    <p:spTree>
      <p:nvGrpSpPr>
        <p:cNvPr id="1" name=""/>
        <p:cNvGrpSpPr/>
        <p:nvPr/>
      </p:nvGrpSpPr>
      <p:grpSpPr>
        <a:xfrm>
          <a:off x="0" y="0"/>
          <a:ext cx="0" cy="0"/>
          <a:chOff x="0" y="0"/>
          <a:chExt cx="0" cy="0"/>
        </a:xfrm>
      </p:grpSpPr>
      <p:sp>
        <p:nvSpPr>
          <p:cNvPr id="2" name="Shape 0"/>
          <p:cNvSpPr/>
          <p:nvPr/>
        </p:nvSpPr>
        <p:spPr>
          <a:xfrm>
            <a:off x="-1645920" y="4023360"/>
            <a:ext cx="4572000" cy="4572000"/>
          </a:xfrm>
          <a:prstGeom prst="ellipse">
            <a:avLst/>
          </a:prstGeom>
          <a:solidFill>
            <a:srgbClr val="0F4A44"/>
          </a:solidFill>
          <a:ln/>
        </p:spPr>
      </p:sp>
      <p:sp>
        <p:nvSpPr>
          <p:cNvPr id="3" name="Shape 1"/>
          <p:cNvSpPr/>
          <p:nvPr/>
        </p:nvSpPr>
        <p:spPr>
          <a:xfrm>
            <a:off x="10241280" y="-1737360"/>
            <a:ext cx="4023360" cy="4023360"/>
          </a:xfrm>
          <a:prstGeom prst="ellipse">
            <a:avLst/>
          </a:prstGeom>
          <a:solidFill>
            <a:srgbClr val="0F4A44"/>
          </a:solidFill>
          <a:ln/>
        </p:spPr>
      </p:sp>
      <p:sp>
        <p:nvSpPr>
          <p:cNvPr id="4" name="Text 2"/>
          <p:cNvSpPr/>
          <p:nvPr/>
        </p:nvSpPr>
        <p:spPr>
          <a:xfrm>
            <a:off x="0" y="1234440"/>
            <a:ext cx="12188952" cy="365760"/>
          </a:xfrm>
          <a:prstGeom prst="rect">
            <a:avLst/>
          </a:prstGeom>
          <a:noFill/>
          <a:ln/>
        </p:spPr>
        <p:txBody>
          <a:bodyPr wrap="square" rtlCol="0" anchor="ctr"/>
          <a:lstStyle/>
          <a:p>
            <a:pPr algn="ctr" indent="0" marL="0">
              <a:buNone/>
            </a:pPr>
            <a:r>
              <a:rPr lang="en-US" sz="1400" b="1" spc="400" kern="0" dirty="0">
                <a:solidFill>
                  <a:srgbClr val="E1A21A"/>
                </a:solidFill>
                <a:latin typeface="Calibri" pitchFamily="34" charset="0"/>
                <a:ea typeface="Calibri" pitchFamily="34" charset="-122"/>
                <a:cs typeface="Calibri" pitchFamily="34" charset="-120"/>
              </a:rPr>
              <a:t>OUR NORTH STAR</a:t>
            </a:r>
            <a:endParaRPr lang="en-US" sz="1400" dirty="0"/>
          </a:p>
        </p:txBody>
      </p:sp>
      <p:sp>
        <p:nvSpPr>
          <p:cNvPr id="5" name="Text 3"/>
          <p:cNvSpPr/>
          <p:nvPr/>
        </p:nvSpPr>
        <p:spPr>
          <a:xfrm>
            <a:off x="1097280" y="1965960"/>
            <a:ext cx="9994392" cy="2926080"/>
          </a:xfrm>
          <a:prstGeom prst="rect">
            <a:avLst/>
          </a:prstGeom>
          <a:noFill/>
          <a:ln/>
        </p:spPr>
        <p:txBody>
          <a:bodyPr wrap="square" rtlCol="0" anchor="ctr"/>
          <a:lstStyle/>
          <a:p>
            <a:pPr algn="ctr" indent="0" marL="0">
              <a:lnSpc>
                <a:spcPts val="4600"/>
              </a:lnSpc>
              <a:buNone/>
            </a:pPr>
            <a:r>
              <a:rPr lang="en-US" sz="3400" b="1" dirty="0">
                <a:solidFill>
                  <a:srgbClr val="FFFFFF"/>
                </a:solidFill>
                <a:latin typeface="Cambria" pitchFamily="34" charset="0"/>
                <a:ea typeface="Cambria" pitchFamily="34" charset="-122"/>
                <a:cs typeface="Cambria" pitchFamily="34" charset="-120"/>
              </a:rPr>
              <a:t>One Health Operating System.
</a:t>
            </a:r>
            <a:pPr algn="ctr" indent="0" marL="0">
              <a:lnSpc>
                <a:spcPts val="4600"/>
              </a:lnSpc>
              <a:buNone/>
            </a:pPr>
            <a:r>
              <a:rPr lang="en-US" sz="3400" b="1" dirty="0">
                <a:solidFill>
                  <a:srgbClr val="FFFFFF"/>
                </a:solidFill>
                <a:latin typeface="Cambria" pitchFamily="34" charset="0"/>
                <a:ea typeface="Cambria" pitchFamily="34" charset="-122"/>
                <a:cs typeface="Cambria" pitchFamily="34" charset="-120"/>
              </a:rPr>
              <a:t>One experience. One person anchor.
</a:t>
            </a:r>
            <a:pPr algn="ctr" indent="0" marL="0">
              <a:lnSpc>
                <a:spcPts val="4600"/>
              </a:lnSpc>
              <a:buNone/>
            </a:pPr>
            <a:r>
              <a:rPr lang="en-US" sz="3400" b="1" dirty="0">
                <a:solidFill>
                  <a:srgbClr val="5EEAD4"/>
                </a:solidFill>
                <a:latin typeface="Cambria" pitchFamily="34" charset="0"/>
                <a:ea typeface="Cambria" pitchFamily="34" charset="-122"/>
                <a:cs typeface="Cambria" pitchFamily="34" charset="-120"/>
              </a:rPr>
              <a:t>Many roles, many contexts — </a:t>
            </a:r>
            <a:pPr algn="ctr" indent="0" marL="0">
              <a:lnSpc>
                <a:spcPts val="4600"/>
              </a:lnSpc>
              <a:buNone/>
            </a:pPr>
            <a:r>
              <a:rPr lang="en-US" sz="3400" b="1" dirty="0">
                <a:solidFill>
                  <a:srgbClr val="E1A21A"/>
                </a:solidFill>
                <a:latin typeface="Cambria" pitchFamily="34" charset="0"/>
                <a:ea typeface="Cambria" pitchFamily="34" charset="-122"/>
                <a:cs typeface="Cambria" pitchFamily="34" charset="-120"/>
              </a:rPr>
              <a:t>one governed runtime.</a:t>
            </a:r>
            <a:endParaRPr lang="en-US" sz="3400" dirty="0"/>
          </a:p>
        </p:txBody>
      </p:sp>
      <p:sp>
        <p:nvSpPr>
          <p:cNvPr id="6" name="Text 4"/>
          <p:cNvSpPr/>
          <p:nvPr/>
        </p:nvSpPr>
        <p:spPr>
          <a:xfrm>
            <a:off x="0" y="5394960"/>
            <a:ext cx="12188952" cy="365760"/>
          </a:xfrm>
          <a:prstGeom prst="rect">
            <a:avLst/>
          </a:prstGeom>
          <a:noFill/>
          <a:ln/>
        </p:spPr>
        <p:txBody>
          <a:bodyPr wrap="square" rtlCol="0" anchor="ctr"/>
          <a:lstStyle/>
          <a:p>
            <a:pPr algn="ctr" indent="0" marL="0">
              <a:buNone/>
            </a:pPr>
            <a:r>
              <a:rPr lang="en-US" sz="1400" i="1" dirty="0">
                <a:solidFill>
                  <a:srgbClr val="9FC4BE"/>
                </a:solidFill>
                <a:latin typeface="Calibri" pitchFamily="34" charset="0"/>
                <a:ea typeface="Calibri" pitchFamily="34" charset="-122"/>
                <a:cs typeface="Calibri" pitchFamily="34" charset="-120"/>
              </a:rPr>
              <a:t>Everything else in this session is simply unpacking this sentence.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8"/>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0D8577"/>
                </a:solidFill>
                <a:latin typeface="Calibri" pitchFamily="34" charset="0"/>
                <a:ea typeface="Calibri" pitchFamily="34" charset="-122"/>
                <a:cs typeface="Calibri" pitchFamily="34" charset="-120"/>
              </a:rPr>
              <a:t>WHY THE WORD “OPERATING SYSTEM” MATTERS</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A foundation that grows more coherent — not more fragmented</a:t>
            </a:r>
            <a:endParaRPr lang="en-US" sz="3300" dirty="0"/>
          </a:p>
        </p:txBody>
      </p:sp>
      <p:sp>
        <p:nvSpPr>
          <p:cNvPr id="4" name="Shape 2"/>
          <p:cNvSpPr/>
          <p:nvPr/>
        </p:nvSpPr>
        <p:spPr>
          <a:xfrm>
            <a:off x="2194560" y="2057400"/>
            <a:ext cx="4535424" cy="548640"/>
          </a:xfrm>
          <a:prstGeom prst="roundRect">
            <a:avLst>
              <a:gd name="adj" fmla="val 13333"/>
            </a:avLst>
          </a:prstGeom>
          <a:solidFill>
            <a:srgbClr val="E4E1DD"/>
          </a:solidFill>
          <a:ln/>
        </p:spPr>
      </p:sp>
      <p:sp>
        <p:nvSpPr>
          <p:cNvPr id="5" name="Text 3"/>
          <p:cNvSpPr/>
          <p:nvPr/>
        </p:nvSpPr>
        <p:spPr>
          <a:xfrm>
            <a:off x="2194560" y="2057400"/>
            <a:ext cx="4535424" cy="548640"/>
          </a:xfrm>
          <a:prstGeom prst="rect">
            <a:avLst/>
          </a:prstGeom>
          <a:noFill/>
          <a:ln/>
        </p:spPr>
        <p:txBody>
          <a:bodyPr wrap="square" rtlCol="0" anchor="ctr"/>
          <a:lstStyle/>
          <a:p>
            <a:pPr algn="ctr" indent="0" marL="0">
              <a:buNone/>
            </a:pPr>
            <a:r>
              <a:rPr lang="en-US" sz="1500" b="1" dirty="0">
                <a:solidFill>
                  <a:srgbClr val="6B6560"/>
                </a:solidFill>
                <a:latin typeface="Cambria" pitchFamily="34" charset="0"/>
                <a:ea typeface="Cambria" pitchFamily="34" charset="-122"/>
                <a:cs typeface="Cambria" pitchFamily="34" charset="-120"/>
              </a:rPr>
              <a:t>A single application</a:t>
            </a:r>
            <a:endParaRPr lang="en-US" sz="1500" dirty="0"/>
          </a:p>
        </p:txBody>
      </p:sp>
      <p:sp>
        <p:nvSpPr>
          <p:cNvPr id="6" name="Shape 4"/>
          <p:cNvSpPr/>
          <p:nvPr/>
        </p:nvSpPr>
        <p:spPr>
          <a:xfrm>
            <a:off x="7004304" y="2057400"/>
            <a:ext cx="4535424" cy="548640"/>
          </a:xfrm>
          <a:prstGeom prst="roundRect">
            <a:avLst>
              <a:gd name="adj" fmla="val 13333"/>
            </a:avLst>
          </a:prstGeom>
          <a:solidFill>
            <a:srgbClr val="0D8577"/>
          </a:solidFill>
          <a:ln/>
        </p:spPr>
      </p:sp>
      <p:sp>
        <p:nvSpPr>
          <p:cNvPr id="7" name="Text 5"/>
          <p:cNvSpPr/>
          <p:nvPr/>
        </p:nvSpPr>
        <p:spPr>
          <a:xfrm>
            <a:off x="7004304" y="2057400"/>
            <a:ext cx="4535424"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 Health OS (Impilo)</a:t>
            </a:r>
            <a:endParaRPr lang="en-US" sz="1500" dirty="0"/>
          </a:p>
        </p:txBody>
      </p:sp>
      <p:sp>
        <p:nvSpPr>
          <p:cNvPr id="8" name="Shape 6"/>
          <p:cNvSpPr/>
          <p:nvPr/>
        </p:nvSpPr>
        <p:spPr>
          <a:xfrm>
            <a:off x="640080" y="2743200"/>
            <a:ext cx="1371600" cy="749808"/>
          </a:xfrm>
          <a:prstGeom prst="roundRect">
            <a:avLst>
              <a:gd name="adj" fmla="val 8537"/>
            </a:avLst>
          </a:prstGeom>
          <a:solidFill>
            <a:srgbClr val="0A3B37"/>
          </a:solidFill>
          <a:ln/>
        </p:spPr>
      </p:sp>
      <p:pic>
        <p:nvPicPr>
          <p:cNvPr id="9" name="Image 0" descr="preencoded.png">    </p:cNvPr>
          <p:cNvPicPr>
            <a:picLocks noChangeAspect="1"/>
          </p:cNvPicPr>
          <p:nvPr/>
        </p:nvPicPr>
        <p:blipFill>
          <a:blip r:embed="rId1"/>
          <a:stretch>
            <a:fillRect/>
          </a:stretch>
        </p:blipFill>
        <p:spPr>
          <a:xfrm>
            <a:off x="822960" y="2971800"/>
            <a:ext cx="301752" cy="301752"/>
          </a:xfrm>
          <a:prstGeom prst="rect">
            <a:avLst/>
          </a:prstGeom>
        </p:spPr>
      </p:pic>
      <p:sp>
        <p:nvSpPr>
          <p:cNvPr id="10" name="Text 7"/>
          <p:cNvSpPr/>
          <p:nvPr/>
        </p:nvSpPr>
        <p:spPr>
          <a:xfrm>
            <a:off x="1188720" y="2743200"/>
            <a:ext cx="777240" cy="749808"/>
          </a:xfrm>
          <a:prstGeom prst="rect">
            <a:avLst/>
          </a:prstGeom>
          <a:noFill/>
          <a:ln/>
        </p:spPr>
        <p:txBody>
          <a:bodyPr wrap="square" lIns="0" tIns="0" rIns="0" bIns="0" rtlCol="0" anchor="ctr"/>
          <a:lstStyle/>
          <a:p>
            <a:pPr algn="l" indent="0" marL="0">
              <a:lnSpc>
                <a:spcPts val="1200"/>
              </a:lnSpc>
              <a:buNone/>
            </a:pPr>
            <a:r>
              <a:rPr lang="en-US" sz="1050" b="1" dirty="0">
                <a:solidFill>
                  <a:srgbClr val="FFFFFF"/>
                </a:solidFill>
                <a:latin typeface="Calibri" pitchFamily="34" charset="0"/>
                <a:ea typeface="Calibri" pitchFamily="34" charset="-122"/>
                <a:cs typeface="Calibri" pitchFamily="34" charset="-120"/>
              </a:rPr>
              <a:t>Scope</a:t>
            </a:r>
            <a:endParaRPr lang="en-US" sz="1050" dirty="0"/>
          </a:p>
        </p:txBody>
      </p:sp>
      <p:sp>
        <p:nvSpPr>
          <p:cNvPr id="11" name="Shape 8"/>
          <p:cNvSpPr/>
          <p:nvPr/>
        </p:nvSpPr>
        <p:spPr>
          <a:xfrm>
            <a:off x="2194560" y="2743200"/>
            <a:ext cx="4535424" cy="749808"/>
          </a:xfrm>
          <a:prstGeom prst="roundRect">
            <a:avLst>
              <a:gd name="adj" fmla="val 8537"/>
            </a:avLst>
          </a:prstGeom>
          <a:solidFill>
            <a:srgbClr val="FFFFFF"/>
          </a:solidFill>
          <a:ln w="12700">
            <a:solidFill>
              <a:srgbClr val="D8E6E3"/>
            </a:solidFill>
            <a:prstDash val="solid"/>
          </a:ln>
        </p:spPr>
      </p:sp>
      <p:sp>
        <p:nvSpPr>
          <p:cNvPr id="12" name="Text 9"/>
          <p:cNvSpPr/>
          <p:nvPr/>
        </p:nvSpPr>
        <p:spPr>
          <a:xfrm>
            <a:off x="2423160" y="2743200"/>
            <a:ext cx="4123944" cy="749808"/>
          </a:xfrm>
          <a:prstGeom prst="rect">
            <a:avLst/>
          </a:prstGeom>
          <a:noFill/>
          <a:ln/>
        </p:spPr>
        <p:txBody>
          <a:bodyPr wrap="square" lIns="0" tIns="0" rIns="0" bIns="0" rtlCol="0" anchor="ctr"/>
          <a:lstStyle/>
          <a:p>
            <a:pPr algn="l" indent="0" marL="0">
              <a:buNone/>
            </a:pPr>
            <a:r>
              <a:rPr lang="en-US" sz="1300" dirty="0">
                <a:solidFill>
                  <a:srgbClr val="8A857F"/>
                </a:solidFill>
                <a:latin typeface="Calibri" pitchFamily="34" charset="0"/>
                <a:ea typeface="Calibri" pitchFamily="34" charset="-122"/>
                <a:cs typeface="Calibri" pitchFamily="34" charset="-120"/>
              </a:rPr>
              <a:t>Solves one problem</a:t>
            </a:r>
            <a:endParaRPr lang="en-US" sz="1300" dirty="0"/>
          </a:p>
        </p:txBody>
      </p:sp>
      <p:sp>
        <p:nvSpPr>
          <p:cNvPr id="13" name="Shape 10"/>
          <p:cNvSpPr/>
          <p:nvPr/>
        </p:nvSpPr>
        <p:spPr>
          <a:xfrm>
            <a:off x="7004304" y="2743200"/>
            <a:ext cx="4535424" cy="749808"/>
          </a:xfrm>
          <a:prstGeom prst="roundRect">
            <a:avLst>
              <a:gd name="adj" fmla="val 8537"/>
            </a:avLst>
          </a:prstGeom>
          <a:solidFill>
            <a:srgbClr val="EAF4F2"/>
          </a:solidFill>
          <a:ln w="12700">
            <a:solidFill>
              <a:srgbClr val="14B8A6"/>
            </a:solidFill>
            <a:prstDash val="solid"/>
          </a:ln>
        </p:spPr>
      </p:sp>
      <p:sp>
        <p:nvSpPr>
          <p:cNvPr id="14" name="Text 11"/>
          <p:cNvSpPr/>
          <p:nvPr/>
        </p:nvSpPr>
        <p:spPr>
          <a:xfrm>
            <a:off x="7232904" y="2743200"/>
            <a:ext cx="4123944" cy="749808"/>
          </a:xfrm>
          <a:prstGeom prst="rect">
            <a:avLst/>
          </a:prstGeom>
          <a:noFill/>
          <a:ln/>
        </p:spPr>
        <p:txBody>
          <a:bodyPr wrap="square" lIns="0" tIns="0" rIns="0" bIns="0" rtlCol="0" anchor="ctr"/>
          <a:lstStyle/>
          <a:p>
            <a:pPr algn="l" indent="0" marL="0">
              <a:buNone/>
            </a:pPr>
            <a:r>
              <a:rPr lang="en-US" sz="1300" b="1" dirty="0">
                <a:solidFill>
                  <a:srgbClr val="12312E"/>
                </a:solidFill>
                <a:latin typeface="Calibri" pitchFamily="34" charset="0"/>
                <a:ea typeface="Calibri" pitchFamily="34" charset="-122"/>
                <a:cs typeface="Calibri" pitchFamily="34" charset="-120"/>
              </a:rPr>
              <a:t>A foundation for many capabilities</a:t>
            </a:r>
            <a:endParaRPr lang="en-US" sz="1300" dirty="0"/>
          </a:p>
        </p:txBody>
      </p:sp>
      <p:sp>
        <p:nvSpPr>
          <p:cNvPr id="15" name="Shape 12"/>
          <p:cNvSpPr/>
          <p:nvPr/>
        </p:nvSpPr>
        <p:spPr>
          <a:xfrm>
            <a:off x="640080" y="3630168"/>
            <a:ext cx="1371600" cy="749808"/>
          </a:xfrm>
          <a:prstGeom prst="roundRect">
            <a:avLst>
              <a:gd name="adj" fmla="val 8537"/>
            </a:avLst>
          </a:prstGeom>
          <a:solidFill>
            <a:srgbClr val="0A3B37"/>
          </a:solidFill>
          <a:ln/>
        </p:spPr>
      </p:sp>
      <p:pic>
        <p:nvPicPr>
          <p:cNvPr id="16" name="Image 1" descr="preencoded.png">    </p:cNvPr>
          <p:cNvPicPr>
            <a:picLocks noChangeAspect="1"/>
          </p:cNvPicPr>
          <p:nvPr/>
        </p:nvPicPr>
        <p:blipFill>
          <a:blip r:embed="rId2"/>
          <a:stretch>
            <a:fillRect/>
          </a:stretch>
        </p:blipFill>
        <p:spPr>
          <a:xfrm>
            <a:off x="822960" y="3858768"/>
            <a:ext cx="301752" cy="301752"/>
          </a:xfrm>
          <a:prstGeom prst="rect">
            <a:avLst/>
          </a:prstGeom>
        </p:spPr>
      </p:pic>
      <p:sp>
        <p:nvSpPr>
          <p:cNvPr id="17" name="Text 13"/>
          <p:cNvSpPr/>
          <p:nvPr/>
        </p:nvSpPr>
        <p:spPr>
          <a:xfrm>
            <a:off x="1188720" y="3630168"/>
            <a:ext cx="777240" cy="749808"/>
          </a:xfrm>
          <a:prstGeom prst="rect">
            <a:avLst/>
          </a:prstGeom>
          <a:noFill/>
          <a:ln/>
        </p:spPr>
        <p:txBody>
          <a:bodyPr wrap="square" lIns="0" tIns="0" rIns="0" bIns="0" rtlCol="0" anchor="ctr"/>
          <a:lstStyle/>
          <a:p>
            <a:pPr algn="l" indent="0" marL="0">
              <a:lnSpc>
                <a:spcPts val="1200"/>
              </a:lnSpc>
              <a:buNone/>
            </a:pPr>
            <a:r>
              <a:rPr lang="en-US" sz="1050" b="1" dirty="0">
                <a:solidFill>
                  <a:srgbClr val="FFFFFF"/>
                </a:solidFill>
                <a:latin typeface="Calibri" pitchFamily="34" charset="0"/>
                <a:ea typeface="Calibri" pitchFamily="34" charset="-122"/>
                <a:cs typeface="Calibri" pitchFamily="34" charset="-120"/>
              </a:rPr>
              <a:t>Identity &amp; data</a:t>
            </a:r>
            <a:endParaRPr lang="en-US" sz="1050" dirty="0"/>
          </a:p>
        </p:txBody>
      </p:sp>
      <p:sp>
        <p:nvSpPr>
          <p:cNvPr id="18" name="Shape 14"/>
          <p:cNvSpPr/>
          <p:nvPr/>
        </p:nvSpPr>
        <p:spPr>
          <a:xfrm>
            <a:off x="2194560" y="3630168"/>
            <a:ext cx="4535424" cy="749808"/>
          </a:xfrm>
          <a:prstGeom prst="roundRect">
            <a:avLst>
              <a:gd name="adj" fmla="val 8537"/>
            </a:avLst>
          </a:prstGeom>
          <a:solidFill>
            <a:srgbClr val="FFFFFF"/>
          </a:solidFill>
          <a:ln w="12700">
            <a:solidFill>
              <a:srgbClr val="D8E6E3"/>
            </a:solidFill>
            <a:prstDash val="solid"/>
          </a:ln>
        </p:spPr>
      </p:sp>
      <p:sp>
        <p:nvSpPr>
          <p:cNvPr id="19" name="Text 15"/>
          <p:cNvSpPr/>
          <p:nvPr/>
        </p:nvSpPr>
        <p:spPr>
          <a:xfrm>
            <a:off x="2423160" y="3630168"/>
            <a:ext cx="4123944" cy="749808"/>
          </a:xfrm>
          <a:prstGeom prst="rect">
            <a:avLst/>
          </a:prstGeom>
          <a:noFill/>
          <a:ln/>
        </p:spPr>
        <p:txBody>
          <a:bodyPr wrap="square" lIns="0" tIns="0" rIns="0" bIns="0" rtlCol="0" anchor="ctr"/>
          <a:lstStyle/>
          <a:p>
            <a:pPr algn="l" indent="0" marL="0">
              <a:buNone/>
            </a:pPr>
            <a:r>
              <a:rPr lang="en-US" sz="1300" dirty="0">
                <a:solidFill>
                  <a:srgbClr val="8A857F"/>
                </a:solidFill>
                <a:latin typeface="Calibri" pitchFamily="34" charset="0"/>
                <a:ea typeface="Calibri" pitchFamily="34" charset="-122"/>
                <a:cs typeface="Calibri" pitchFamily="34" charset="-120"/>
              </a:rPr>
              <a:t>Its own login and patient list</a:t>
            </a:r>
            <a:endParaRPr lang="en-US" sz="1300" dirty="0"/>
          </a:p>
        </p:txBody>
      </p:sp>
      <p:sp>
        <p:nvSpPr>
          <p:cNvPr id="20" name="Shape 16"/>
          <p:cNvSpPr/>
          <p:nvPr/>
        </p:nvSpPr>
        <p:spPr>
          <a:xfrm>
            <a:off x="7004304" y="3630168"/>
            <a:ext cx="4535424" cy="749808"/>
          </a:xfrm>
          <a:prstGeom prst="roundRect">
            <a:avLst>
              <a:gd name="adj" fmla="val 8537"/>
            </a:avLst>
          </a:prstGeom>
          <a:solidFill>
            <a:srgbClr val="EAF4F2"/>
          </a:solidFill>
          <a:ln w="12700">
            <a:solidFill>
              <a:srgbClr val="14B8A6"/>
            </a:solidFill>
            <a:prstDash val="solid"/>
          </a:ln>
        </p:spPr>
      </p:sp>
      <p:sp>
        <p:nvSpPr>
          <p:cNvPr id="21" name="Text 17"/>
          <p:cNvSpPr/>
          <p:nvPr/>
        </p:nvSpPr>
        <p:spPr>
          <a:xfrm>
            <a:off x="7232904" y="3630168"/>
            <a:ext cx="4123944" cy="749808"/>
          </a:xfrm>
          <a:prstGeom prst="rect">
            <a:avLst/>
          </a:prstGeom>
          <a:noFill/>
          <a:ln/>
        </p:spPr>
        <p:txBody>
          <a:bodyPr wrap="square" lIns="0" tIns="0" rIns="0" bIns="0" rtlCol="0" anchor="ctr"/>
          <a:lstStyle/>
          <a:p>
            <a:pPr algn="l" indent="0" marL="0">
              <a:buNone/>
            </a:pPr>
            <a:r>
              <a:rPr lang="en-US" sz="1300" b="1" dirty="0">
                <a:solidFill>
                  <a:srgbClr val="12312E"/>
                </a:solidFill>
                <a:latin typeface="Calibri" pitchFamily="34" charset="0"/>
                <a:ea typeface="Calibri" pitchFamily="34" charset="-122"/>
                <a:cs typeface="Calibri" pitchFamily="34" charset="-120"/>
              </a:rPr>
              <a:t>One identity, one shared trust model</a:t>
            </a:r>
            <a:endParaRPr lang="en-US" sz="1300" dirty="0"/>
          </a:p>
        </p:txBody>
      </p:sp>
      <p:sp>
        <p:nvSpPr>
          <p:cNvPr id="22" name="Shape 18"/>
          <p:cNvSpPr/>
          <p:nvPr/>
        </p:nvSpPr>
        <p:spPr>
          <a:xfrm>
            <a:off x="640080" y="4517136"/>
            <a:ext cx="1371600" cy="749808"/>
          </a:xfrm>
          <a:prstGeom prst="roundRect">
            <a:avLst>
              <a:gd name="adj" fmla="val 8537"/>
            </a:avLst>
          </a:prstGeom>
          <a:solidFill>
            <a:srgbClr val="0A3B37"/>
          </a:solidFill>
          <a:ln/>
        </p:spPr>
      </p:sp>
      <p:pic>
        <p:nvPicPr>
          <p:cNvPr id="23" name="Image 2" descr="preencoded.png">    </p:cNvPr>
          <p:cNvPicPr>
            <a:picLocks noChangeAspect="1"/>
          </p:cNvPicPr>
          <p:nvPr/>
        </p:nvPicPr>
        <p:blipFill>
          <a:blip r:embed="rId3"/>
          <a:stretch>
            <a:fillRect/>
          </a:stretch>
        </p:blipFill>
        <p:spPr>
          <a:xfrm>
            <a:off x="822960" y="4745736"/>
            <a:ext cx="301752" cy="301752"/>
          </a:xfrm>
          <a:prstGeom prst="rect">
            <a:avLst/>
          </a:prstGeom>
        </p:spPr>
      </p:pic>
      <p:sp>
        <p:nvSpPr>
          <p:cNvPr id="24" name="Text 19"/>
          <p:cNvSpPr/>
          <p:nvPr/>
        </p:nvSpPr>
        <p:spPr>
          <a:xfrm>
            <a:off x="1188720" y="4517136"/>
            <a:ext cx="777240" cy="749808"/>
          </a:xfrm>
          <a:prstGeom prst="rect">
            <a:avLst/>
          </a:prstGeom>
          <a:noFill/>
          <a:ln/>
        </p:spPr>
        <p:txBody>
          <a:bodyPr wrap="square" lIns="0" tIns="0" rIns="0" bIns="0" rtlCol="0" anchor="ctr"/>
          <a:lstStyle/>
          <a:p>
            <a:pPr algn="l" indent="0" marL="0">
              <a:lnSpc>
                <a:spcPts val="1200"/>
              </a:lnSpc>
              <a:buNone/>
            </a:pPr>
            <a:r>
              <a:rPr lang="en-US" sz="1050" b="1" dirty="0">
                <a:solidFill>
                  <a:srgbClr val="FFFFFF"/>
                </a:solidFill>
                <a:latin typeface="Calibri" pitchFamily="34" charset="0"/>
                <a:ea typeface="Calibri" pitchFamily="34" charset="-122"/>
                <a:cs typeface="Calibri" pitchFamily="34" charset="-120"/>
              </a:rPr>
              <a:t>Adding capability</a:t>
            </a:r>
            <a:endParaRPr lang="en-US" sz="1050" dirty="0"/>
          </a:p>
        </p:txBody>
      </p:sp>
      <p:sp>
        <p:nvSpPr>
          <p:cNvPr id="25" name="Shape 20"/>
          <p:cNvSpPr/>
          <p:nvPr/>
        </p:nvSpPr>
        <p:spPr>
          <a:xfrm>
            <a:off x="2194560" y="4517136"/>
            <a:ext cx="4535424" cy="749808"/>
          </a:xfrm>
          <a:prstGeom prst="roundRect">
            <a:avLst>
              <a:gd name="adj" fmla="val 8537"/>
            </a:avLst>
          </a:prstGeom>
          <a:solidFill>
            <a:srgbClr val="FFFFFF"/>
          </a:solidFill>
          <a:ln w="12700">
            <a:solidFill>
              <a:srgbClr val="D8E6E3"/>
            </a:solidFill>
            <a:prstDash val="solid"/>
          </a:ln>
        </p:spPr>
      </p:sp>
      <p:sp>
        <p:nvSpPr>
          <p:cNvPr id="26" name="Text 21"/>
          <p:cNvSpPr/>
          <p:nvPr/>
        </p:nvSpPr>
        <p:spPr>
          <a:xfrm>
            <a:off x="2423160" y="4517136"/>
            <a:ext cx="4123944" cy="749808"/>
          </a:xfrm>
          <a:prstGeom prst="rect">
            <a:avLst/>
          </a:prstGeom>
          <a:noFill/>
          <a:ln/>
        </p:spPr>
        <p:txBody>
          <a:bodyPr wrap="square" lIns="0" tIns="0" rIns="0" bIns="0" rtlCol="0" anchor="ctr"/>
          <a:lstStyle/>
          <a:p>
            <a:pPr algn="l" indent="0" marL="0">
              <a:buNone/>
            </a:pPr>
            <a:r>
              <a:rPr lang="en-US" sz="1300" dirty="0">
                <a:solidFill>
                  <a:srgbClr val="8A857F"/>
                </a:solidFill>
                <a:latin typeface="Calibri" pitchFamily="34" charset="0"/>
                <a:ea typeface="Calibri" pitchFamily="34" charset="-122"/>
                <a:cs typeface="Calibri" pitchFamily="34" charset="-120"/>
              </a:rPr>
              <a:t>New tool = a new island</a:t>
            </a:r>
            <a:endParaRPr lang="en-US" sz="1300" dirty="0"/>
          </a:p>
        </p:txBody>
      </p:sp>
      <p:sp>
        <p:nvSpPr>
          <p:cNvPr id="27" name="Shape 22"/>
          <p:cNvSpPr/>
          <p:nvPr/>
        </p:nvSpPr>
        <p:spPr>
          <a:xfrm>
            <a:off x="7004304" y="4517136"/>
            <a:ext cx="4535424" cy="749808"/>
          </a:xfrm>
          <a:prstGeom prst="roundRect">
            <a:avLst>
              <a:gd name="adj" fmla="val 8537"/>
            </a:avLst>
          </a:prstGeom>
          <a:solidFill>
            <a:srgbClr val="EAF4F2"/>
          </a:solidFill>
          <a:ln w="12700">
            <a:solidFill>
              <a:srgbClr val="14B8A6"/>
            </a:solidFill>
            <a:prstDash val="solid"/>
          </a:ln>
        </p:spPr>
      </p:sp>
      <p:sp>
        <p:nvSpPr>
          <p:cNvPr id="28" name="Text 23"/>
          <p:cNvSpPr/>
          <p:nvPr/>
        </p:nvSpPr>
        <p:spPr>
          <a:xfrm>
            <a:off x="7232904" y="4517136"/>
            <a:ext cx="4123944" cy="749808"/>
          </a:xfrm>
          <a:prstGeom prst="rect">
            <a:avLst/>
          </a:prstGeom>
          <a:noFill/>
          <a:ln/>
        </p:spPr>
        <p:txBody>
          <a:bodyPr wrap="square" lIns="0" tIns="0" rIns="0" bIns="0" rtlCol="0" anchor="ctr"/>
          <a:lstStyle/>
          <a:p>
            <a:pPr algn="l" indent="0" marL="0">
              <a:buNone/>
            </a:pPr>
            <a:r>
              <a:rPr lang="en-US" sz="1300" b="1" dirty="0">
                <a:solidFill>
                  <a:srgbClr val="12312E"/>
                </a:solidFill>
                <a:latin typeface="Calibri" pitchFamily="34" charset="0"/>
                <a:ea typeface="Calibri" pitchFamily="34" charset="-122"/>
                <a:cs typeface="Calibri" pitchFamily="34" charset="-120"/>
              </a:rPr>
              <a:t>New tool = a governed extension</a:t>
            </a:r>
            <a:endParaRPr lang="en-US" sz="1300" dirty="0"/>
          </a:p>
        </p:txBody>
      </p:sp>
      <p:sp>
        <p:nvSpPr>
          <p:cNvPr id="29" name="Shape 24"/>
          <p:cNvSpPr/>
          <p:nvPr/>
        </p:nvSpPr>
        <p:spPr>
          <a:xfrm>
            <a:off x="640080" y="5404104"/>
            <a:ext cx="1371600" cy="749808"/>
          </a:xfrm>
          <a:prstGeom prst="roundRect">
            <a:avLst>
              <a:gd name="adj" fmla="val 8537"/>
            </a:avLst>
          </a:prstGeom>
          <a:solidFill>
            <a:srgbClr val="0A3B37"/>
          </a:solidFill>
          <a:ln/>
        </p:spPr>
      </p:sp>
      <p:pic>
        <p:nvPicPr>
          <p:cNvPr id="30" name="Image 3" descr="preencoded.png">    </p:cNvPr>
          <p:cNvPicPr>
            <a:picLocks noChangeAspect="1"/>
          </p:cNvPicPr>
          <p:nvPr/>
        </p:nvPicPr>
        <p:blipFill>
          <a:blip r:embed="rId4"/>
          <a:stretch>
            <a:fillRect/>
          </a:stretch>
        </p:blipFill>
        <p:spPr>
          <a:xfrm>
            <a:off x="822960" y="5632704"/>
            <a:ext cx="301752" cy="301752"/>
          </a:xfrm>
          <a:prstGeom prst="rect">
            <a:avLst/>
          </a:prstGeom>
        </p:spPr>
      </p:pic>
      <p:sp>
        <p:nvSpPr>
          <p:cNvPr id="31" name="Text 25"/>
          <p:cNvSpPr/>
          <p:nvPr/>
        </p:nvSpPr>
        <p:spPr>
          <a:xfrm>
            <a:off x="1188720" y="5404104"/>
            <a:ext cx="777240" cy="749808"/>
          </a:xfrm>
          <a:prstGeom prst="rect">
            <a:avLst/>
          </a:prstGeom>
          <a:noFill/>
          <a:ln/>
        </p:spPr>
        <p:txBody>
          <a:bodyPr wrap="square" lIns="0" tIns="0" rIns="0" bIns="0" rtlCol="0" anchor="ctr"/>
          <a:lstStyle/>
          <a:p>
            <a:pPr algn="l" indent="0" marL="0">
              <a:lnSpc>
                <a:spcPts val="1200"/>
              </a:lnSpc>
              <a:buNone/>
            </a:pPr>
            <a:r>
              <a:rPr lang="en-US" sz="1050" b="1" dirty="0">
                <a:solidFill>
                  <a:srgbClr val="FFFFFF"/>
                </a:solidFill>
                <a:latin typeface="Calibri" pitchFamily="34" charset="0"/>
                <a:ea typeface="Calibri" pitchFamily="34" charset="-122"/>
                <a:cs typeface="Calibri" pitchFamily="34" charset="-120"/>
              </a:rPr>
              <a:t>Trust</a:t>
            </a:r>
            <a:endParaRPr lang="en-US" sz="1050" dirty="0"/>
          </a:p>
        </p:txBody>
      </p:sp>
      <p:sp>
        <p:nvSpPr>
          <p:cNvPr id="32" name="Shape 26"/>
          <p:cNvSpPr/>
          <p:nvPr/>
        </p:nvSpPr>
        <p:spPr>
          <a:xfrm>
            <a:off x="2194560" y="5404104"/>
            <a:ext cx="4535424" cy="749808"/>
          </a:xfrm>
          <a:prstGeom prst="roundRect">
            <a:avLst>
              <a:gd name="adj" fmla="val 8537"/>
            </a:avLst>
          </a:prstGeom>
          <a:solidFill>
            <a:srgbClr val="FFFFFF"/>
          </a:solidFill>
          <a:ln w="12700">
            <a:solidFill>
              <a:srgbClr val="D8E6E3"/>
            </a:solidFill>
            <a:prstDash val="solid"/>
          </a:ln>
        </p:spPr>
      </p:sp>
      <p:sp>
        <p:nvSpPr>
          <p:cNvPr id="33" name="Text 27"/>
          <p:cNvSpPr/>
          <p:nvPr/>
        </p:nvSpPr>
        <p:spPr>
          <a:xfrm>
            <a:off x="2423160" y="5404104"/>
            <a:ext cx="4123944" cy="749808"/>
          </a:xfrm>
          <a:prstGeom prst="rect">
            <a:avLst/>
          </a:prstGeom>
          <a:noFill/>
          <a:ln/>
        </p:spPr>
        <p:txBody>
          <a:bodyPr wrap="square" lIns="0" tIns="0" rIns="0" bIns="0" rtlCol="0" anchor="ctr"/>
          <a:lstStyle/>
          <a:p>
            <a:pPr algn="l" indent="0" marL="0">
              <a:buNone/>
            </a:pPr>
            <a:r>
              <a:rPr lang="en-US" sz="1300" dirty="0">
                <a:solidFill>
                  <a:srgbClr val="8A857F"/>
                </a:solidFill>
                <a:latin typeface="Calibri" pitchFamily="34" charset="0"/>
                <a:ea typeface="Calibri" pitchFamily="34" charset="-122"/>
                <a:cs typeface="Calibri" pitchFamily="34" charset="-120"/>
              </a:rPr>
              <a:t>Assumed, bolted on later</a:t>
            </a:r>
            <a:endParaRPr lang="en-US" sz="1300" dirty="0"/>
          </a:p>
        </p:txBody>
      </p:sp>
      <p:sp>
        <p:nvSpPr>
          <p:cNvPr id="34" name="Shape 28"/>
          <p:cNvSpPr/>
          <p:nvPr/>
        </p:nvSpPr>
        <p:spPr>
          <a:xfrm>
            <a:off x="7004304" y="5404104"/>
            <a:ext cx="4535424" cy="749808"/>
          </a:xfrm>
          <a:prstGeom prst="roundRect">
            <a:avLst>
              <a:gd name="adj" fmla="val 8537"/>
            </a:avLst>
          </a:prstGeom>
          <a:solidFill>
            <a:srgbClr val="EAF4F2"/>
          </a:solidFill>
          <a:ln w="12700">
            <a:solidFill>
              <a:srgbClr val="14B8A6"/>
            </a:solidFill>
            <a:prstDash val="solid"/>
          </a:ln>
        </p:spPr>
      </p:sp>
      <p:sp>
        <p:nvSpPr>
          <p:cNvPr id="35" name="Text 29"/>
          <p:cNvSpPr/>
          <p:nvPr/>
        </p:nvSpPr>
        <p:spPr>
          <a:xfrm>
            <a:off x="7232904" y="5404104"/>
            <a:ext cx="4123944" cy="749808"/>
          </a:xfrm>
          <a:prstGeom prst="rect">
            <a:avLst/>
          </a:prstGeom>
          <a:noFill/>
          <a:ln/>
        </p:spPr>
        <p:txBody>
          <a:bodyPr wrap="square" lIns="0" tIns="0" rIns="0" bIns="0" rtlCol="0" anchor="ctr"/>
          <a:lstStyle/>
          <a:p>
            <a:pPr algn="l" indent="0" marL="0">
              <a:buNone/>
            </a:pPr>
            <a:r>
              <a:rPr lang="en-US" sz="1300" b="1" dirty="0">
                <a:solidFill>
                  <a:srgbClr val="12312E"/>
                </a:solidFill>
                <a:latin typeface="Calibri" pitchFamily="34" charset="0"/>
                <a:ea typeface="Calibri" pitchFamily="34" charset="-122"/>
                <a:cs typeface="Calibri" pitchFamily="34" charset="-120"/>
              </a:rPr>
              <a:t>Enforced on every single request</a:t>
            </a:r>
            <a:endParaRPr lang="en-US" sz="1300" dirty="0"/>
          </a:p>
        </p:txBody>
      </p:sp>
      <p:sp>
        <p:nvSpPr>
          <p:cNvPr id="36" name="Text 30"/>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37" name="Text 31"/>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8"/>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0D8577"/>
                </a:solidFill>
                <a:latin typeface="Calibri" pitchFamily="34" charset="0"/>
                <a:ea typeface="Calibri" pitchFamily="34" charset="-122"/>
                <a:cs typeface="Calibri" pitchFamily="34" charset="-120"/>
              </a:rPr>
              <a:t>PERSON-CENTRED IDENTITY</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One person, one Health ID</a:t>
            </a:r>
            <a:endParaRPr lang="en-US" sz="3300" dirty="0"/>
          </a:p>
        </p:txBody>
      </p:sp>
      <p:sp>
        <p:nvSpPr>
          <p:cNvPr id="4" name="Text 2"/>
          <p:cNvSpPr/>
          <p:nvPr/>
        </p:nvSpPr>
        <p:spPr>
          <a:xfrm>
            <a:off x="640080" y="1572768"/>
            <a:ext cx="10908792" cy="457200"/>
          </a:xfrm>
          <a:prstGeom prst="rect">
            <a:avLst/>
          </a:prstGeom>
          <a:noFill/>
          <a:ln/>
        </p:spPr>
        <p:txBody>
          <a:bodyPr wrap="square" lIns="0" tIns="0" rIns="0" bIns="0" rtlCol="0" anchor="ctr"/>
          <a:lstStyle/>
          <a:p>
            <a:pPr indent="0" marL="0">
              <a:buNone/>
            </a:pPr>
            <a:r>
              <a:rPr lang="en-US" sz="1450" dirty="0">
                <a:solidFill>
                  <a:srgbClr val="5B6E6B"/>
                </a:solidFill>
                <a:latin typeface="Calibri" pitchFamily="34" charset="0"/>
                <a:ea typeface="Calibri" pitchFamily="34" charset="-122"/>
                <a:cs typeface="Calibri" pitchFamily="34" charset="-120"/>
              </a:rPr>
              <a:t>Every person has a single, lifelong anchor. Everything attaches to it — but there is always one person.</a:t>
            </a:r>
            <a:endParaRPr lang="en-US" sz="1450" dirty="0"/>
          </a:p>
        </p:txBody>
      </p:sp>
      <p:sp>
        <p:nvSpPr>
          <p:cNvPr id="5" name="Shape 3"/>
          <p:cNvSpPr/>
          <p:nvPr/>
        </p:nvSpPr>
        <p:spPr>
          <a:xfrm>
            <a:off x="2148840" y="2880360"/>
            <a:ext cx="3931920" cy="1280160"/>
          </a:xfrm>
          <a:prstGeom prst="line">
            <a:avLst/>
          </a:prstGeom>
          <a:noFill/>
          <a:ln w="25400">
            <a:solidFill>
              <a:srgbClr val="14B8A6"/>
            </a:solidFill>
            <a:prstDash val="solid"/>
          </a:ln>
        </p:spPr>
      </p:sp>
      <p:sp>
        <p:nvSpPr>
          <p:cNvPr id="6" name="Shape 4"/>
          <p:cNvSpPr/>
          <p:nvPr/>
        </p:nvSpPr>
        <p:spPr>
          <a:xfrm>
            <a:off x="6080760" y="2514600"/>
            <a:ext cx="0" cy="1645920"/>
          </a:xfrm>
          <a:prstGeom prst="line">
            <a:avLst/>
          </a:prstGeom>
          <a:noFill/>
          <a:ln w="25400">
            <a:solidFill>
              <a:srgbClr val="14B8A6"/>
            </a:solidFill>
            <a:prstDash val="solid"/>
          </a:ln>
        </p:spPr>
      </p:sp>
      <p:sp>
        <p:nvSpPr>
          <p:cNvPr id="7" name="Shape 5"/>
          <p:cNvSpPr/>
          <p:nvPr/>
        </p:nvSpPr>
        <p:spPr>
          <a:xfrm flipV="1">
            <a:off x="6080760" y="2880360"/>
            <a:ext cx="3931920" cy="1280160"/>
          </a:xfrm>
          <a:prstGeom prst="line">
            <a:avLst/>
          </a:prstGeom>
          <a:noFill/>
          <a:ln w="25400">
            <a:solidFill>
              <a:srgbClr val="14B8A6"/>
            </a:solidFill>
            <a:prstDash val="solid"/>
          </a:ln>
        </p:spPr>
      </p:sp>
      <p:sp>
        <p:nvSpPr>
          <p:cNvPr id="8" name="Shape 6"/>
          <p:cNvSpPr/>
          <p:nvPr/>
        </p:nvSpPr>
        <p:spPr>
          <a:xfrm>
            <a:off x="6080760" y="4160520"/>
            <a:ext cx="2926080" cy="1280160"/>
          </a:xfrm>
          <a:prstGeom prst="line">
            <a:avLst/>
          </a:prstGeom>
          <a:noFill/>
          <a:ln w="25400">
            <a:solidFill>
              <a:srgbClr val="14B8A6"/>
            </a:solidFill>
            <a:prstDash val="solid"/>
          </a:ln>
        </p:spPr>
      </p:sp>
      <p:sp>
        <p:nvSpPr>
          <p:cNvPr id="9" name="Shape 7"/>
          <p:cNvSpPr/>
          <p:nvPr/>
        </p:nvSpPr>
        <p:spPr>
          <a:xfrm flipV="1">
            <a:off x="3154680" y="4160520"/>
            <a:ext cx="2926080" cy="1280160"/>
          </a:xfrm>
          <a:prstGeom prst="line">
            <a:avLst/>
          </a:prstGeom>
          <a:noFill/>
          <a:ln w="25400">
            <a:solidFill>
              <a:srgbClr val="14B8A6"/>
            </a:solidFill>
            <a:prstDash val="solid"/>
          </a:ln>
        </p:spPr>
      </p:sp>
      <p:sp>
        <p:nvSpPr>
          <p:cNvPr id="10" name="Shape 8"/>
          <p:cNvSpPr/>
          <p:nvPr/>
        </p:nvSpPr>
        <p:spPr>
          <a:xfrm>
            <a:off x="1531620" y="2263140"/>
            <a:ext cx="1234440" cy="1234440"/>
          </a:xfrm>
          <a:prstGeom prst="ellipse">
            <a:avLst/>
          </a:prstGeom>
          <a:solidFill>
            <a:srgbClr val="FFFFFF"/>
          </a:solidFill>
          <a:ln w="19050">
            <a:solidFill>
              <a:srgbClr val="14B8A6"/>
            </a:solidFill>
            <a:prstDash val="solid"/>
          </a:ln>
          <a:effectLst>
            <a:outerShdw sx="100000" sy="100000" kx="0" ky="0" algn="bl" rotWithShape="0" blurRad="114300" dist="38100" dir="5400000">
              <a:srgbClr val="0A3B37">
                <a:alpha val="13000"/>
              </a:srgbClr>
            </a:outerShdw>
          </a:effectLst>
        </p:spPr>
      </p:sp>
      <p:pic>
        <p:nvPicPr>
          <p:cNvPr id="11" name="Image 0" descr="preencoded.png">    </p:cNvPr>
          <p:cNvPicPr>
            <a:picLocks noChangeAspect="1"/>
          </p:cNvPicPr>
          <p:nvPr/>
        </p:nvPicPr>
        <p:blipFill>
          <a:blip r:embed="rId1"/>
          <a:stretch>
            <a:fillRect/>
          </a:stretch>
        </p:blipFill>
        <p:spPr>
          <a:xfrm>
            <a:off x="1929384" y="2496312"/>
            <a:ext cx="438912" cy="438912"/>
          </a:xfrm>
          <a:prstGeom prst="rect">
            <a:avLst/>
          </a:prstGeom>
        </p:spPr>
      </p:pic>
      <p:sp>
        <p:nvSpPr>
          <p:cNvPr id="12" name="Text 9"/>
          <p:cNvSpPr/>
          <p:nvPr/>
        </p:nvSpPr>
        <p:spPr>
          <a:xfrm>
            <a:off x="1531620" y="2953512"/>
            <a:ext cx="1234440" cy="502920"/>
          </a:xfrm>
          <a:prstGeom prst="rect">
            <a:avLst/>
          </a:prstGeom>
          <a:noFill/>
          <a:ln/>
        </p:spPr>
        <p:txBody>
          <a:bodyPr wrap="square" lIns="0" tIns="0" rIns="0" bIns="0" rtlCol="0" anchor="t"/>
          <a:lstStyle/>
          <a:p>
            <a:pPr algn="ctr" indent="0" marL="0">
              <a:lnSpc>
                <a:spcPts val="1100"/>
              </a:lnSpc>
              <a:buNone/>
            </a:pPr>
            <a:r>
              <a:rPr lang="en-US" sz="1000" b="1" dirty="0">
                <a:solidFill>
                  <a:srgbClr val="12312E"/>
                </a:solidFill>
                <a:latin typeface="Calibri" pitchFamily="34" charset="0"/>
                <a:ea typeface="Calibri" pitchFamily="34" charset="-122"/>
                <a:cs typeface="Calibri" pitchFamily="34" charset="-120"/>
              </a:rPr>
              <a:t>Records &amp;</a:t>
            </a:r>
            <a:endParaRPr lang="en-US" sz="1000" dirty="0"/>
          </a:p>
          <a:p>
            <a:pPr algn="ctr" indent="0" marL="0">
              <a:lnSpc>
                <a:spcPts val="1100"/>
              </a:lnSpc>
              <a:buNone/>
            </a:pPr>
            <a:r>
              <a:rPr lang="en-US" sz="1000" b="1" dirty="0">
                <a:solidFill>
                  <a:srgbClr val="12312E"/>
                </a:solidFill>
                <a:latin typeface="Calibri" pitchFamily="34" charset="0"/>
                <a:ea typeface="Calibri" pitchFamily="34" charset="-122"/>
                <a:cs typeface="Calibri" pitchFamily="34" charset="-120"/>
              </a:rPr>
              <a:t>results</a:t>
            </a:r>
            <a:endParaRPr lang="en-US" sz="1000" dirty="0"/>
          </a:p>
        </p:txBody>
      </p:sp>
      <p:sp>
        <p:nvSpPr>
          <p:cNvPr id="13" name="Shape 10"/>
          <p:cNvSpPr/>
          <p:nvPr/>
        </p:nvSpPr>
        <p:spPr>
          <a:xfrm>
            <a:off x="5463540" y="1897380"/>
            <a:ext cx="1234440" cy="1234440"/>
          </a:xfrm>
          <a:prstGeom prst="ellipse">
            <a:avLst/>
          </a:prstGeom>
          <a:solidFill>
            <a:srgbClr val="FFFFFF"/>
          </a:solidFill>
          <a:ln w="19050">
            <a:solidFill>
              <a:srgbClr val="14B8A6"/>
            </a:solidFill>
            <a:prstDash val="solid"/>
          </a:ln>
          <a:effectLst>
            <a:outerShdw sx="100000" sy="100000" kx="0" ky="0" algn="bl" rotWithShape="0" blurRad="114300" dist="38100" dir="5400000">
              <a:srgbClr val="0A3B37">
                <a:alpha val="13000"/>
              </a:srgbClr>
            </a:outerShdw>
          </a:effectLst>
        </p:spPr>
      </p:sp>
      <p:pic>
        <p:nvPicPr>
          <p:cNvPr id="14" name="Image 1" descr="preencoded.png">    </p:cNvPr>
          <p:cNvPicPr>
            <a:picLocks noChangeAspect="1"/>
          </p:cNvPicPr>
          <p:nvPr/>
        </p:nvPicPr>
        <p:blipFill>
          <a:blip r:embed="rId2"/>
          <a:stretch>
            <a:fillRect/>
          </a:stretch>
        </p:blipFill>
        <p:spPr>
          <a:xfrm>
            <a:off x="5861304" y="2130552"/>
            <a:ext cx="438912" cy="438912"/>
          </a:xfrm>
          <a:prstGeom prst="rect">
            <a:avLst/>
          </a:prstGeom>
        </p:spPr>
      </p:pic>
      <p:sp>
        <p:nvSpPr>
          <p:cNvPr id="15" name="Text 11"/>
          <p:cNvSpPr/>
          <p:nvPr/>
        </p:nvSpPr>
        <p:spPr>
          <a:xfrm>
            <a:off x="5463540" y="2587752"/>
            <a:ext cx="1234440" cy="502920"/>
          </a:xfrm>
          <a:prstGeom prst="rect">
            <a:avLst/>
          </a:prstGeom>
          <a:noFill/>
          <a:ln/>
        </p:spPr>
        <p:txBody>
          <a:bodyPr wrap="square" lIns="0" tIns="0" rIns="0" bIns="0" rtlCol="0" anchor="t"/>
          <a:lstStyle/>
          <a:p>
            <a:pPr algn="ctr" indent="0" marL="0">
              <a:lnSpc>
                <a:spcPts val="1100"/>
              </a:lnSpc>
              <a:buNone/>
            </a:pPr>
            <a:r>
              <a:rPr lang="en-US" sz="1000" b="1" dirty="0">
                <a:solidFill>
                  <a:srgbClr val="12312E"/>
                </a:solidFill>
                <a:latin typeface="Calibri" pitchFamily="34" charset="0"/>
                <a:ea typeface="Calibri" pitchFamily="34" charset="-122"/>
                <a:cs typeface="Calibri" pitchFamily="34" charset="-120"/>
              </a:rPr>
              <a:t>Roles &amp;</a:t>
            </a:r>
            <a:endParaRPr lang="en-US" sz="1000" dirty="0"/>
          </a:p>
          <a:p>
            <a:pPr algn="ctr" indent="0" marL="0">
              <a:lnSpc>
                <a:spcPts val="1100"/>
              </a:lnSpc>
              <a:buNone/>
            </a:pPr>
            <a:r>
              <a:rPr lang="en-US" sz="1000" b="1" dirty="0">
                <a:solidFill>
                  <a:srgbClr val="12312E"/>
                </a:solidFill>
                <a:latin typeface="Calibri" pitchFamily="34" charset="0"/>
                <a:ea typeface="Calibri" pitchFamily="34" charset="-122"/>
                <a:cs typeface="Calibri" pitchFamily="34" charset="-120"/>
              </a:rPr>
              <a:t>providers</a:t>
            </a:r>
            <a:endParaRPr lang="en-US" sz="1000" dirty="0"/>
          </a:p>
        </p:txBody>
      </p:sp>
      <p:sp>
        <p:nvSpPr>
          <p:cNvPr id="16" name="Shape 12"/>
          <p:cNvSpPr/>
          <p:nvPr/>
        </p:nvSpPr>
        <p:spPr>
          <a:xfrm>
            <a:off x="9395460" y="2263140"/>
            <a:ext cx="1234440" cy="1234440"/>
          </a:xfrm>
          <a:prstGeom prst="ellipse">
            <a:avLst/>
          </a:prstGeom>
          <a:solidFill>
            <a:srgbClr val="FFFFFF"/>
          </a:solidFill>
          <a:ln w="19050">
            <a:solidFill>
              <a:srgbClr val="14B8A6"/>
            </a:solidFill>
            <a:prstDash val="solid"/>
          </a:ln>
          <a:effectLst>
            <a:outerShdw sx="100000" sy="100000" kx="0" ky="0" algn="bl" rotWithShape="0" blurRad="114300" dist="38100" dir="5400000">
              <a:srgbClr val="0A3B37">
                <a:alpha val="13000"/>
              </a:srgbClr>
            </a:outerShdw>
          </a:effectLst>
        </p:spPr>
      </p:sp>
      <p:pic>
        <p:nvPicPr>
          <p:cNvPr id="17" name="Image 2" descr="preencoded.png">    </p:cNvPr>
          <p:cNvPicPr>
            <a:picLocks noChangeAspect="1"/>
          </p:cNvPicPr>
          <p:nvPr/>
        </p:nvPicPr>
        <p:blipFill>
          <a:blip r:embed="rId3"/>
          <a:stretch>
            <a:fillRect/>
          </a:stretch>
        </p:blipFill>
        <p:spPr>
          <a:xfrm>
            <a:off x="9793224" y="2496312"/>
            <a:ext cx="438912" cy="438912"/>
          </a:xfrm>
          <a:prstGeom prst="rect">
            <a:avLst/>
          </a:prstGeom>
        </p:spPr>
      </p:pic>
      <p:sp>
        <p:nvSpPr>
          <p:cNvPr id="18" name="Text 13"/>
          <p:cNvSpPr/>
          <p:nvPr/>
        </p:nvSpPr>
        <p:spPr>
          <a:xfrm>
            <a:off x="9395460" y="2953512"/>
            <a:ext cx="1234440" cy="502920"/>
          </a:xfrm>
          <a:prstGeom prst="rect">
            <a:avLst/>
          </a:prstGeom>
          <a:noFill/>
          <a:ln/>
        </p:spPr>
        <p:txBody>
          <a:bodyPr wrap="square" lIns="0" tIns="0" rIns="0" bIns="0" rtlCol="0" anchor="t"/>
          <a:lstStyle/>
          <a:p>
            <a:pPr algn="ctr" indent="0" marL="0">
              <a:lnSpc>
                <a:spcPts val="1100"/>
              </a:lnSpc>
              <a:buNone/>
            </a:pPr>
            <a:r>
              <a:rPr lang="en-US" sz="1000" b="1" dirty="0">
                <a:solidFill>
                  <a:srgbClr val="12312E"/>
                </a:solidFill>
                <a:latin typeface="Calibri" pitchFamily="34" charset="0"/>
                <a:ea typeface="Calibri" pitchFamily="34" charset="-122"/>
                <a:cs typeface="Calibri" pitchFamily="34" charset="-120"/>
              </a:rPr>
              <a:t>Facilities &amp;</a:t>
            </a:r>
            <a:endParaRPr lang="en-US" sz="1000" dirty="0"/>
          </a:p>
          <a:p>
            <a:pPr algn="ctr" indent="0" marL="0">
              <a:lnSpc>
                <a:spcPts val="1100"/>
              </a:lnSpc>
              <a:buNone/>
            </a:pPr>
            <a:r>
              <a:rPr lang="en-US" sz="1000" b="1" dirty="0">
                <a:solidFill>
                  <a:srgbClr val="12312E"/>
                </a:solidFill>
                <a:latin typeface="Calibri" pitchFamily="34" charset="0"/>
                <a:ea typeface="Calibri" pitchFamily="34" charset="-122"/>
                <a:cs typeface="Calibri" pitchFamily="34" charset="-120"/>
              </a:rPr>
              <a:t>contexts</a:t>
            </a:r>
            <a:endParaRPr lang="en-US" sz="1000" dirty="0"/>
          </a:p>
        </p:txBody>
      </p:sp>
      <p:sp>
        <p:nvSpPr>
          <p:cNvPr id="19" name="Shape 14"/>
          <p:cNvSpPr/>
          <p:nvPr/>
        </p:nvSpPr>
        <p:spPr>
          <a:xfrm>
            <a:off x="8389620" y="4823460"/>
            <a:ext cx="1234440" cy="1234440"/>
          </a:xfrm>
          <a:prstGeom prst="ellipse">
            <a:avLst/>
          </a:prstGeom>
          <a:solidFill>
            <a:srgbClr val="FFFFFF"/>
          </a:solidFill>
          <a:ln w="19050">
            <a:solidFill>
              <a:srgbClr val="14B8A6"/>
            </a:solidFill>
            <a:prstDash val="solid"/>
          </a:ln>
          <a:effectLst>
            <a:outerShdw sx="100000" sy="100000" kx="0" ky="0" algn="bl" rotWithShape="0" blurRad="114300" dist="38100" dir="5400000">
              <a:srgbClr val="0A3B37">
                <a:alpha val="13000"/>
              </a:srgbClr>
            </a:outerShdw>
          </a:effectLst>
        </p:spPr>
      </p:sp>
      <p:pic>
        <p:nvPicPr>
          <p:cNvPr id="20" name="Image 3" descr="preencoded.png">    </p:cNvPr>
          <p:cNvPicPr>
            <a:picLocks noChangeAspect="1"/>
          </p:cNvPicPr>
          <p:nvPr/>
        </p:nvPicPr>
        <p:blipFill>
          <a:blip r:embed="rId4"/>
          <a:stretch>
            <a:fillRect/>
          </a:stretch>
        </p:blipFill>
        <p:spPr>
          <a:xfrm>
            <a:off x="8787384" y="5056632"/>
            <a:ext cx="438912" cy="438912"/>
          </a:xfrm>
          <a:prstGeom prst="rect">
            <a:avLst/>
          </a:prstGeom>
        </p:spPr>
      </p:pic>
      <p:sp>
        <p:nvSpPr>
          <p:cNvPr id="21" name="Text 15"/>
          <p:cNvSpPr/>
          <p:nvPr/>
        </p:nvSpPr>
        <p:spPr>
          <a:xfrm>
            <a:off x="8389620" y="5513832"/>
            <a:ext cx="1234440" cy="502920"/>
          </a:xfrm>
          <a:prstGeom prst="rect">
            <a:avLst/>
          </a:prstGeom>
          <a:noFill/>
          <a:ln/>
        </p:spPr>
        <p:txBody>
          <a:bodyPr wrap="square" lIns="0" tIns="0" rIns="0" bIns="0" rtlCol="0" anchor="t"/>
          <a:lstStyle/>
          <a:p>
            <a:pPr algn="ctr" indent="0" marL="0">
              <a:lnSpc>
                <a:spcPts val="1100"/>
              </a:lnSpc>
              <a:buNone/>
            </a:pPr>
            <a:r>
              <a:rPr lang="en-US" sz="1000" b="1" dirty="0">
                <a:solidFill>
                  <a:srgbClr val="12312E"/>
                </a:solidFill>
                <a:latin typeface="Calibri" pitchFamily="34" charset="0"/>
                <a:ea typeface="Calibri" pitchFamily="34" charset="-122"/>
                <a:cs typeface="Calibri" pitchFamily="34" charset="-120"/>
              </a:rPr>
              <a:t>Programme</a:t>
            </a:r>
            <a:endParaRPr lang="en-US" sz="1000" dirty="0"/>
          </a:p>
          <a:p>
            <a:pPr algn="ctr" indent="0" marL="0">
              <a:lnSpc>
                <a:spcPts val="1100"/>
              </a:lnSpc>
              <a:buNone/>
            </a:pPr>
            <a:r>
              <a:rPr lang="en-US" sz="1000" b="1" dirty="0">
                <a:solidFill>
                  <a:srgbClr val="12312E"/>
                </a:solidFill>
                <a:latin typeface="Calibri" pitchFamily="34" charset="0"/>
                <a:ea typeface="Calibri" pitchFamily="34" charset="-122"/>
                <a:cs typeface="Calibri" pitchFamily="34" charset="-120"/>
              </a:rPr>
              <a:t>enrolments</a:t>
            </a:r>
            <a:endParaRPr lang="en-US" sz="1000" dirty="0"/>
          </a:p>
        </p:txBody>
      </p:sp>
      <p:sp>
        <p:nvSpPr>
          <p:cNvPr id="22" name="Shape 16"/>
          <p:cNvSpPr/>
          <p:nvPr/>
        </p:nvSpPr>
        <p:spPr>
          <a:xfrm>
            <a:off x="2537460" y="4823460"/>
            <a:ext cx="1234440" cy="1234440"/>
          </a:xfrm>
          <a:prstGeom prst="ellipse">
            <a:avLst/>
          </a:prstGeom>
          <a:solidFill>
            <a:srgbClr val="FFFFFF"/>
          </a:solidFill>
          <a:ln w="19050">
            <a:solidFill>
              <a:srgbClr val="14B8A6"/>
            </a:solidFill>
            <a:prstDash val="solid"/>
          </a:ln>
          <a:effectLst>
            <a:outerShdw sx="100000" sy="100000" kx="0" ky="0" algn="bl" rotWithShape="0" blurRad="114300" dist="38100" dir="5400000">
              <a:srgbClr val="0A3B37">
                <a:alpha val="13000"/>
              </a:srgbClr>
            </a:outerShdw>
          </a:effectLst>
        </p:spPr>
      </p:sp>
      <p:pic>
        <p:nvPicPr>
          <p:cNvPr id="23" name="Image 4" descr="preencoded.png">    </p:cNvPr>
          <p:cNvPicPr>
            <a:picLocks noChangeAspect="1"/>
          </p:cNvPicPr>
          <p:nvPr/>
        </p:nvPicPr>
        <p:blipFill>
          <a:blip r:embed="rId5"/>
          <a:stretch>
            <a:fillRect/>
          </a:stretch>
        </p:blipFill>
        <p:spPr>
          <a:xfrm>
            <a:off x="2935224" y="5056632"/>
            <a:ext cx="438912" cy="438912"/>
          </a:xfrm>
          <a:prstGeom prst="rect">
            <a:avLst/>
          </a:prstGeom>
        </p:spPr>
      </p:pic>
      <p:sp>
        <p:nvSpPr>
          <p:cNvPr id="24" name="Text 17"/>
          <p:cNvSpPr/>
          <p:nvPr/>
        </p:nvSpPr>
        <p:spPr>
          <a:xfrm>
            <a:off x="2537460" y="5513832"/>
            <a:ext cx="1234440" cy="502920"/>
          </a:xfrm>
          <a:prstGeom prst="rect">
            <a:avLst/>
          </a:prstGeom>
          <a:noFill/>
          <a:ln/>
        </p:spPr>
        <p:txBody>
          <a:bodyPr wrap="square" lIns="0" tIns="0" rIns="0" bIns="0" rtlCol="0" anchor="t"/>
          <a:lstStyle/>
          <a:p>
            <a:pPr algn="ctr" indent="0" marL="0">
              <a:lnSpc>
                <a:spcPts val="1100"/>
              </a:lnSpc>
              <a:buNone/>
            </a:pPr>
            <a:r>
              <a:rPr lang="en-US" sz="1000" b="1" dirty="0">
                <a:solidFill>
                  <a:srgbClr val="12312E"/>
                </a:solidFill>
                <a:latin typeface="Calibri" pitchFamily="34" charset="0"/>
                <a:ea typeface="Calibri" pitchFamily="34" charset="-122"/>
                <a:cs typeface="Calibri" pitchFamily="34" charset="-120"/>
              </a:rPr>
              <a:t>Consent &amp;</a:t>
            </a:r>
            <a:endParaRPr lang="en-US" sz="1000" dirty="0"/>
          </a:p>
          <a:p>
            <a:pPr algn="ctr" indent="0" marL="0">
              <a:lnSpc>
                <a:spcPts val="1100"/>
              </a:lnSpc>
              <a:buNone/>
            </a:pPr>
            <a:r>
              <a:rPr lang="en-US" sz="1000" b="1" dirty="0">
                <a:solidFill>
                  <a:srgbClr val="12312E"/>
                </a:solidFill>
                <a:latin typeface="Calibri" pitchFamily="34" charset="0"/>
                <a:ea typeface="Calibri" pitchFamily="34" charset="-122"/>
                <a:cs typeface="Calibri" pitchFamily="34" charset="-120"/>
              </a:rPr>
              <a:t>legal basis</a:t>
            </a:r>
            <a:endParaRPr lang="en-US" sz="1000" dirty="0"/>
          </a:p>
        </p:txBody>
      </p:sp>
      <p:sp>
        <p:nvSpPr>
          <p:cNvPr id="25" name="Shape 18"/>
          <p:cNvSpPr/>
          <p:nvPr/>
        </p:nvSpPr>
        <p:spPr>
          <a:xfrm>
            <a:off x="5189220" y="3268980"/>
            <a:ext cx="1783080" cy="1783080"/>
          </a:xfrm>
          <a:prstGeom prst="ellipse">
            <a:avLst/>
          </a:prstGeom>
          <a:solidFill>
            <a:srgbClr val="0A3B37"/>
          </a:solidFill>
          <a:ln w="38100">
            <a:solidFill>
              <a:srgbClr val="E1A21A"/>
            </a:solidFill>
            <a:prstDash val="solid"/>
          </a:ln>
          <a:effectLst>
            <a:outerShdw sx="100000" sy="100000" kx="0" ky="0" algn="bl" rotWithShape="0" blurRad="114300" dist="38100" dir="5400000">
              <a:srgbClr val="0A3B37">
                <a:alpha val="13000"/>
              </a:srgbClr>
            </a:outerShdw>
          </a:effectLst>
        </p:spPr>
      </p:sp>
      <p:pic>
        <p:nvPicPr>
          <p:cNvPr id="26" name="Image 5" descr="preencoded.png">    </p:cNvPr>
          <p:cNvPicPr>
            <a:picLocks noChangeAspect="1"/>
          </p:cNvPicPr>
          <p:nvPr/>
        </p:nvPicPr>
        <p:blipFill>
          <a:blip r:embed="rId6"/>
          <a:stretch>
            <a:fillRect/>
          </a:stretch>
        </p:blipFill>
        <p:spPr>
          <a:xfrm>
            <a:off x="5760720" y="3657600"/>
            <a:ext cx="640080" cy="640080"/>
          </a:xfrm>
          <a:prstGeom prst="rect">
            <a:avLst/>
          </a:prstGeom>
        </p:spPr>
      </p:pic>
      <p:sp>
        <p:nvSpPr>
          <p:cNvPr id="27" name="Text 19"/>
          <p:cNvSpPr/>
          <p:nvPr/>
        </p:nvSpPr>
        <p:spPr>
          <a:xfrm>
            <a:off x="5189220" y="4325112"/>
            <a:ext cx="17830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HEALTH ID</a:t>
            </a:r>
            <a:endParaRPr lang="en-US" sz="1300" dirty="0"/>
          </a:p>
        </p:txBody>
      </p:sp>
      <p:sp>
        <p:nvSpPr>
          <p:cNvPr id="28" name="Text 20"/>
          <p:cNvSpPr/>
          <p:nvPr/>
        </p:nvSpPr>
        <p:spPr>
          <a:xfrm>
            <a:off x="5189220" y="4599432"/>
            <a:ext cx="1783080" cy="274320"/>
          </a:xfrm>
          <a:prstGeom prst="rect">
            <a:avLst/>
          </a:prstGeom>
          <a:noFill/>
          <a:ln/>
        </p:spPr>
        <p:txBody>
          <a:bodyPr wrap="square" lIns="0" tIns="0" rIns="0" bIns="0" rtlCol="0" anchor="ctr"/>
          <a:lstStyle/>
          <a:p>
            <a:pPr algn="ctr" indent="0" marL="0">
              <a:buNone/>
            </a:pPr>
            <a:r>
              <a:rPr lang="en-US" sz="1000" i="1" dirty="0">
                <a:solidFill>
                  <a:srgbClr val="5EEAD4"/>
                </a:solidFill>
                <a:latin typeface="Calibri" pitchFamily="34" charset="0"/>
                <a:ea typeface="Calibri" pitchFamily="34" charset="-122"/>
                <a:cs typeface="Calibri" pitchFamily="34" charset="-120"/>
              </a:rPr>
              <a:t>one person</a:t>
            </a:r>
            <a:endParaRPr lang="en-US" sz="1000" dirty="0"/>
          </a:p>
        </p:txBody>
      </p:sp>
      <p:sp>
        <p:nvSpPr>
          <p:cNvPr id="29" name="Text 21"/>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30" name="Text 22"/>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8"/>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0D8577"/>
                </a:solidFill>
                <a:latin typeface="Calibri" pitchFamily="34" charset="0"/>
                <a:ea typeface="Calibri" pitchFamily="34" charset="-122"/>
                <a:cs typeface="Calibri" pitchFamily="34" charset="-120"/>
              </a:rPr>
              <a:t>IDENTITY &amp; ROLE ACTIVATION</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Sign in as a person → practise as a provider</a:t>
            </a:r>
            <a:endParaRPr lang="en-US" sz="3300" dirty="0"/>
          </a:p>
        </p:txBody>
      </p:sp>
      <p:sp>
        <p:nvSpPr>
          <p:cNvPr id="4" name="Shape 2"/>
          <p:cNvSpPr/>
          <p:nvPr/>
        </p:nvSpPr>
        <p:spPr>
          <a:xfrm>
            <a:off x="640080" y="2148840"/>
            <a:ext cx="3331464" cy="3246120"/>
          </a:xfrm>
          <a:prstGeom prst="roundRect">
            <a:avLst>
              <a:gd name="adj" fmla="val 2817"/>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5" name="Shape 3"/>
          <p:cNvSpPr/>
          <p:nvPr/>
        </p:nvSpPr>
        <p:spPr>
          <a:xfrm>
            <a:off x="1802892" y="2468880"/>
            <a:ext cx="1005840" cy="1005840"/>
          </a:xfrm>
          <a:prstGeom prst="ellipse">
            <a:avLst/>
          </a:prstGeom>
          <a:solidFill>
            <a:srgbClr val="0D8577"/>
          </a:solidFill>
          <a:ln/>
        </p:spPr>
      </p:sp>
      <p:pic>
        <p:nvPicPr>
          <p:cNvPr id="6" name="Image 0" descr="preencoded.png">    </p:cNvPr>
          <p:cNvPicPr>
            <a:picLocks noChangeAspect="1"/>
          </p:cNvPicPr>
          <p:nvPr/>
        </p:nvPicPr>
        <p:blipFill>
          <a:blip r:embed="rId1"/>
          <a:stretch>
            <a:fillRect/>
          </a:stretch>
        </p:blipFill>
        <p:spPr>
          <a:xfrm>
            <a:off x="2084527" y="2750515"/>
            <a:ext cx="442570" cy="442570"/>
          </a:xfrm>
          <a:prstGeom prst="rect">
            <a:avLst/>
          </a:prstGeom>
        </p:spPr>
      </p:pic>
      <p:sp>
        <p:nvSpPr>
          <p:cNvPr id="7" name="Text 4"/>
          <p:cNvSpPr/>
          <p:nvPr/>
        </p:nvSpPr>
        <p:spPr>
          <a:xfrm>
            <a:off x="640080" y="3611880"/>
            <a:ext cx="3331464" cy="411480"/>
          </a:xfrm>
          <a:prstGeom prst="rect">
            <a:avLst/>
          </a:prstGeom>
          <a:noFill/>
          <a:ln/>
        </p:spPr>
        <p:txBody>
          <a:bodyPr wrap="square" lIns="0" tIns="0" rIns="0" bIns="0" rtlCol="0" anchor="ctr"/>
          <a:lstStyle/>
          <a:p>
            <a:pPr algn="ctr" indent="0" marL="0">
              <a:buNone/>
            </a:pPr>
            <a:r>
              <a:rPr lang="en-US" sz="2600" b="1" dirty="0">
                <a:solidFill>
                  <a:srgbClr val="12312E"/>
                </a:solidFill>
                <a:latin typeface="Cambria" pitchFamily="34" charset="0"/>
                <a:ea typeface="Cambria" pitchFamily="34" charset="-122"/>
                <a:cs typeface="Cambria" pitchFamily="34" charset="-120"/>
              </a:rPr>
              <a:t>WHO</a:t>
            </a:r>
            <a:endParaRPr lang="en-US" sz="2600" dirty="0"/>
          </a:p>
        </p:txBody>
      </p:sp>
      <p:sp>
        <p:nvSpPr>
          <p:cNvPr id="8" name="Text 5"/>
          <p:cNvSpPr/>
          <p:nvPr/>
        </p:nvSpPr>
        <p:spPr>
          <a:xfrm>
            <a:off x="640080" y="4041648"/>
            <a:ext cx="3331464" cy="320040"/>
          </a:xfrm>
          <a:prstGeom prst="rect">
            <a:avLst/>
          </a:prstGeom>
          <a:noFill/>
          <a:ln/>
        </p:spPr>
        <p:txBody>
          <a:bodyPr wrap="square" lIns="0" tIns="0" rIns="0" bIns="0" rtlCol="0" anchor="ctr"/>
          <a:lstStyle/>
          <a:p>
            <a:pPr algn="ctr" indent="0" marL="0">
              <a:buNone/>
            </a:pPr>
            <a:r>
              <a:rPr lang="en-US" sz="1300" i="1" dirty="0">
                <a:solidFill>
                  <a:srgbClr val="5B6E6B"/>
                </a:solidFill>
                <a:latin typeface="Calibri" pitchFamily="34" charset="0"/>
                <a:ea typeface="Calibri" pitchFamily="34" charset="-122"/>
                <a:cs typeface="Calibri" pitchFamily="34" charset="-120"/>
              </a:rPr>
              <a:t>you are</a:t>
            </a:r>
            <a:endParaRPr lang="en-US" sz="1300" dirty="0"/>
          </a:p>
        </p:txBody>
      </p:sp>
      <p:sp>
        <p:nvSpPr>
          <p:cNvPr id="9" name="Text 6"/>
          <p:cNvSpPr/>
          <p:nvPr/>
        </p:nvSpPr>
        <p:spPr>
          <a:xfrm>
            <a:off x="914400" y="4480560"/>
            <a:ext cx="2782824" cy="822960"/>
          </a:xfrm>
          <a:prstGeom prst="rect">
            <a:avLst/>
          </a:prstGeom>
          <a:noFill/>
          <a:ln/>
        </p:spPr>
        <p:txBody>
          <a:bodyPr wrap="square" lIns="0" tIns="0" rIns="0" bIns="0" rtlCol="0" anchor="ctr"/>
          <a:lstStyle/>
          <a:p>
            <a:pPr algn="ctr" indent="0" marL="0">
              <a:spcAft>
                <a:spcPts val="400"/>
              </a:spcAft>
              <a:buNone/>
            </a:pPr>
            <a:r>
              <a:rPr lang="en-US" sz="1150" dirty="0">
                <a:solidFill>
                  <a:srgbClr val="0B6B60"/>
                </a:solidFill>
                <a:latin typeface="Calibri" pitchFamily="34" charset="0"/>
                <a:ea typeface="Calibri" pitchFamily="34" charset="-122"/>
                <a:cs typeface="Calibri" pitchFamily="34" charset="-120"/>
              </a:rPr>
              <a:t>Health ID</a:t>
            </a:r>
            <a:endParaRPr lang="en-US" sz="1150" dirty="0"/>
          </a:p>
          <a:p>
            <a:pPr algn="ctr" indent="0" marL="0">
              <a:spcAft>
                <a:spcPts val="400"/>
              </a:spcAft>
              <a:buNone/>
            </a:pPr>
            <a:r>
              <a:rPr lang="en-US" sz="1150" dirty="0">
                <a:solidFill>
                  <a:srgbClr val="0B6B60"/>
                </a:solidFill>
                <a:latin typeface="Calibri" pitchFamily="34" charset="0"/>
                <a:ea typeface="Calibri" pitchFamily="34" charset="-122"/>
                <a:cs typeface="Calibri" pitchFamily="34" charset="-120"/>
              </a:rPr>
              <a:t>Provider ID</a:t>
            </a:r>
            <a:endParaRPr lang="en-US" sz="1150" dirty="0"/>
          </a:p>
          <a:p>
            <a:pPr algn="ctr" indent="0" marL="0">
              <a:spcAft>
                <a:spcPts val="400"/>
              </a:spcAft>
              <a:buNone/>
            </a:pPr>
            <a:r>
              <a:rPr lang="en-US" sz="1150" dirty="0">
                <a:solidFill>
                  <a:srgbClr val="0B6B60"/>
                </a:solidFill>
                <a:latin typeface="Calibri" pitchFamily="34" charset="0"/>
                <a:ea typeface="Calibri" pitchFamily="34" charset="-122"/>
                <a:cs typeface="Calibri" pitchFamily="34" charset="-120"/>
              </a:rPr>
              <a:t>Staff ID</a:t>
            </a:r>
            <a:endParaRPr lang="en-US" sz="1150" dirty="0"/>
          </a:p>
        </p:txBody>
      </p:sp>
      <p:sp>
        <p:nvSpPr>
          <p:cNvPr id="10" name="Shape 7"/>
          <p:cNvSpPr/>
          <p:nvPr/>
        </p:nvSpPr>
        <p:spPr>
          <a:xfrm>
            <a:off x="4428744" y="2148840"/>
            <a:ext cx="3331464" cy="3246120"/>
          </a:xfrm>
          <a:prstGeom prst="roundRect">
            <a:avLst>
              <a:gd name="adj" fmla="val 2817"/>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1" name="Shape 8"/>
          <p:cNvSpPr/>
          <p:nvPr/>
        </p:nvSpPr>
        <p:spPr>
          <a:xfrm>
            <a:off x="5591556" y="2468880"/>
            <a:ext cx="1005840" cy="1005840"/>
          </a:xfrm>
          <a:prstGeom prst="ellipse">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5873191" y="2750515"/>
            <a:ext cx="442570" cy="442570"/>
          </a:xfrm>
          <a:prstGeom prst="rect">
            <a:avLst/>
          </a:prstGeom>
        </p:spPr>
      </p:pic>
      <p:sp>
        <p:nvSpPr>
          <p:cNvPr id="13" name="Text 9"/>
          <p:cNvSpPr/>
          <p:nvPr/>
        </p:nvSpPr>
        <p:spPr>
          <a:xfrm>
            <a:off x="4428744" y="3611880"/>
            <a:ext cx="3331464" cy="411480"/>
          </a:xfrm>
          <a:prstGeom prst="rect">
            <a:avLst/>
          </a:prstGeom>
          <a:noFill/>
          <a:ln/>
        </p:spPr>
        <p:txBody>
          <a:bodyPr wrap="square" lIns="0" tIns="0" rIns="0" bIns="0" rtlCol="0" anchor="ctr"/>
          <a:lstStyle/>
          <a:p>
            <a:pPr algn="ctr" indent="0" marL="0">
              <a:buNone/>
            </a:pPr>
            <a:r>
              <a:rPr lang="en-US" sz="2600" b="1" dirty="0">
                <a:solidFill>
                  <a:srgbClr val="12312E"/>
                </a:solidFill>
                <a:latin typeface="Cambria" pitchFamily="34" charset="0"/>
                <a:ea typeface="Cambria" pitchFamily="34" charset="-122"/>
                <a:cs typeface="Cambria" pitchFamily="34" charset="-120"/>
              </a:rPr>
              <a:t>WHERE</a:t>
            </a:r>
            <a:endParaRPr lang="en-US" sz="2600" dirty="0"/>
          </a:p>
        </p:txBody>
      </p:sp>
      <p:sp>
        <p:nvSpPr>
          <p:cNvPr id="14" name="Text 10"/>
          <p:cNvSpPr/>
          <p:nvPr/>
        </p:nvSpPr>
        <p:spPr>
          <a:xfrm>
            <a:off x="4428744" y="4041648"/>
            <a:ext cx="3331464" cy="320040"/>
          </a:xfrm>
          <a:prstGeom prst="rect">
            <a:avLst/>
          </a:prstGeom>
          <a:noFill/>
          <a:ln/>
        </p:spPr>
        <p:txBody>
          <a:bodyPr wrap="square" lIns="0" tIns="0" rIns="0" bIns="0" rtlCol="0" anchor="ctr"/>
          <a:lstStyle/>
          <a:p>
            <a:pPr algn="ctr" indent="0" marL="0">
              <a:buNone/>
            </a:pPr>
            <a:r>
              <a:rPr lang="en-US" sz="1300" i="1" dirty="0">
                <a:solidFill>
                  <a:srgbClr val="5B6E6B"/>
                </a:solidFill>
                <a:latin typeface="Calibri" pitchFamily="34" charset="0"/>
                <a:ea typeface="Calibri" pitchFamily="34" charset="-122"/>
                <a:cs typeface="Calibri" pitchFamily="34" charset="-120"/>
              </a:rPr>
              <a:t>you are working</a:t>
            </a:r>
            <a:endParaRPr lang="en-US" sz="1300" dirty="0"/>
          </a:p>
        </p:txBody>
      </p:sp>
      <p:sp>
        <p:nvSpPr>
          <p:cNvPr id="15" name="Text 11"/>
          <p:cNvSpPr/>
          <p:nvPr/>
        </p:nvSpPr>
        <p:spPr>
          <a:xfrm>
            <a:off x="4703064" y="4480560"/>
            <a:ext cx="2782824" cy="822960"/>
          </a:xfrm>
          <a:prstGeom prst="rect">
            <a:avLst/>
          </a:prstGeom>
          <a:noFill/>
          <a:ln/>
        </p:spPr>
        <p:txBody>
          <a:bodyPr wrap="square" lIns="0" tIns="0" rIns="0" bIns="0" rtlCol="0" anchor="ctr"/>
          <a:lstStyle/>
          <a:p>
            <a:pPr algn="ctr" indent="0" marL="0">
              <a:spcAft>
                <a:spcPts val="400"/>
              </a:spcAft>
              <a:buNone/>
            </a:pPr>
            <a:r>
              <a:rPr lang="en-US" sz="1150" dirty="0">
                <a:solidFill>
                  <a:srgbClr val="0B6B60"/>
                </a:solidFill>
                <a:latin typeface="Calibri" pitchFamily="34" charset="0"/>
                <a:ea typeface="Calibri" pitchFamily="34" charset="-122"/>
                <a:cs typeface="Calibri" pitchFamily="34" charset="-120"/>
              </a:rPr>
              <a:t>Facility</a:t>
            </a:r>
            <a:endParaRPr lang="en-US" sz="1150" dirty="0"/>
          </a:p>
          <a:p>
            <a:pPr algn="ctr" indent="0" marL="0">
              <a:spcAft>
                <a:spcPts val="400"/>
              </a:spcAft>
              <a:buNone/>
            </a:pPr>
            <a:r>
              <a:rPr lang="en-US" sz="1150" dirty="0">
                <a:solidFill>
                  <a:srgbClr val="0B6B60"/>
                </a:solidFill>
                <a:latin typeface="Calibri" pitchFamily="34" charset="0"/>
                <a:ea typeface="Calibri" pitchFamily="34" charset="-122"/>
                <a:cs typeface="Calibri" pitchFamily="34" charset="-120"/>
              </a:rPr>
              <a:t>Department / Ward</a:t>
            </a:r>
            <a:endParaRPr lang="en-US" sz="1150" dirty="0"/>
          </a:p>
          <a:p>
            <a:pPr algn="ctr" indent="0" marL="0">
              <a:spcAft>
                <a:spcPts val="400"/>
              </a:spcAft>
              <a:buNone/>
            </a:pPr>
            <a:r>
              <a:rPr lang="en-US" sz="1150" dirty="0">
                <a:solidFill>
                  <a:srgbClr val="0B6B60"/>
                </a:solidFill>
                <a:latin typeface="Calibri" pitchFamily="34" charset="0"/>
                <a:ea typeface="Calibri" pitchFamily="34" charset="-122"/>
                <a:cs typeface="Calibri" pitchFamily="34" charset="-120"/>
              </a:rPr>
              <a:t>Programme / Workspace</a:t>
            </a:r>
            <a:endParaRPr lang="en-US" sz="1150" dirty="0"/>
          </a:p>
        </p:txBody>
      </p:sp>
      <p:sp>
        <p:nvSpPr>
          <p:cNvPr id="16" name="Shape 12"/>
          <p:cNvSpPr/>
          <p:nvPr/>
        </p:nvSpPr>
        <p:spPr>
          <a:xfrm>
            <a:off x="8217408" y="2148840"/>
            <a:ext cx="3331464" cy="3246120"/>
          </a:xfrm>
          <a:prstGeom prst="roundRect">
            <a:avLst>
              <a:gd name="adj" fmla="val 2817"/>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7" name="Shape 13"/>
          <p:cNvSpPr/>
          <p:nvPr/>
        </p:nvSpPr>
        <p:spPr>
          <a:xfrm>
            <a:off x="9380220" y="2468880"/>
            <a:ext cx="1005840" cy="1005840"/>
          </a:xfrm>
          <a:prstGeom prst="ellipse">
            <a:avLst/>
          </a:prstGeom>
          <a:solidFill>
            <a:srgbClr val="E1A21A"/>
          </a:solidFill>
          <a:ln/>
        </p:spPr>
      </p:sp>
      <p:pic>
        <p:nvPicPr>
          <p:cNvPr id="18" name="Image 2" descr="preencoded.png">    </p:cNvPr>
          <p:cNvPicPr>
            <a:picLocks noChangeAspect="1"/>
          </p:cNvPicPr>
          <p:nvPr/>
        </p:nvPicPr>
        <p:blipFill>
          <a:blip r:embed="rId3"/>
          <a:stretch>
            <a:fillRect/>
          </a:stretch>
        </p:blipFill>
        <p:spPr>
          <a:xfrm>
            <a:off x="9661855" y="2750515"/>
            <a:ext cx="442570" cy="442570"/>
          </a:xfrm>
          <a:prstGeom prst="rect">
            <a:avLst/>
          </a:prstGeom>
        </p:spPr>
      </p:pic>
      <p:sp>
        <p:nvSpPr>
          <p:cNvPr id="19" name="Text 14"/>
          <p:cNvSpPr/>
          <p:nvPr/>
        </p:nvSpPr>
        <p:spPr>
          <a:xfrm>
            <a:off x="8217408" y="3611880"/>
            <a:ext cx="3331464" cy="411480"/>
          </a:xfrm>
          <a:prstGeom prst="rect">
            <a:avLst/>
          </a:prstGeom>
          <a:noFill/>
          <a:ln/>
        </p:spPr>
        <p:txBody>
          <a:bodyPr wrap="square" lIns="0" tIns="0" rIns="0" bIns="0" rtlCol="0" anchor="ctr"/>
          <a:lstStyle/>
          <a:p>
            <a:pPr algn="ctr" indent="0" marL="0">
              <a:buNone/>
            </a:pPr>
            <a:r>
              <a:rPr lang="en-US" sz="2600" b="1" dirty="0">
                <a:solidFill>
                  <a:srgbClr val="12312E"/>
                </a:solidFill>
                <a:latin typeface="Cambria" pitchFamily="34" charset="0"/>
                <a:ea typeface="Cambria" pitchFamily="34" charset="-122"/>
                <a:cs typeface="Cambria" pitchFamily="34" charset="-120"/>
              </a:rPr>
              <a:t>WHAT</a:t>
            </a:r>
            <a:endParaRPr lang="en-US" sz="2600" dirty="0"/>
          </a:p>
        </p:txBody>
      </p:sp>
      <p:sp>
        <p:nvSpPr>
          <p:cNvPr id="20" name="Text 15"/>
          <p:cNvSpPr/>
          <p:nvPr/>
        </p:nvSpPr>
        <p:spPr>
          <a:xfrm>
            <a:off x="8217408" y="4041648"/>
            <a:ext cx="3331464" cy="320040"/>
          </a:xfrm>
          <a:prstGeom prst="rect">
            <a:avLst/>
          </a:prstGeom>
          <a:noFill/>
          <a:ln/>
        </p:spPr>
        <p:txBody>
          <a:bodyPr wrap="square" lIns="0" tIns="0" rIns="0" bIns="0" rtlCol="0" anchor="ctr"/>
          <a:lstStyle/>
          <a:p>
            <a:pPr algn="ctr" indent="0" marL="0">
              <a:buNone/>
            </a:pPr>
            <a:r>
              <a:rPr lang="en-US" sz="1300" i="1" dirty="0">
                <a:solidFill>
                  <a:srgbClr val="5B6E6B"/>
                </a:solidFill>
                <a:latin typeface="Calibri" pitchFamily="34" charset="0"/>
                <a:ea typeface="Calibri" pitchFamily="34" charset="-122"/>
                <a:cs typeface="Calibri" pitchFamily="34" charset="-120"/>
              </a:rPr>
              <a:t>you may do</a:t>
            </a:r>
            <a:endParaRPr lang="en-US" sz="1300" dirty="0"/>
          </a:p>
        </p:txBody>
      </p:sp>
      <p:sp>
        <p:nvSpPr>
          <p:cNvPr id="21" name="Text 16"/>
          <p:cNvSpPr/>
          <p:nvPr/>
        </p:nvSpPr>
        <p:spPr>
          <a:xfrm>
            <a:off x="8491728" y="4480560"/>
            <a:ext cx="2782824" cy="822960"/>
          </a:xfrm>
          <a:prstGeom prst="rect">
            <a:avLst/>
          </a:prstGeom>
          <a:noFill/>
          <a:ln/>
        </p:spPr>
        <p:txBody>
          <a:bodyPr wrap="square" lIns="0" tIns="0" rIns="0" bIns="0" rtlCol="0" anchor="ctr"/>
          <a:lstStyle/>
          <a:p>
            <a:pPr algn="ctr" indent="0" marL="0">
              <a:spcAft>
                <a:spcPts val="400"/>
              </a:spcAft>
              <a:buNone/>
            </a:pPr>
            <a:r>
              <a:rPr lang="en-US" sz="1150" dirty="0">
                <a:solidFill>
                  <a:srgbClr val="0B6B60"/>
                </a:solidFill>
                <a:latin typeface="Calibri" pitchFamily="34" charset="0"/>
                <a:ea typeface="Calibri" pitchFamily="34" charset="-122"/>
                <a:cs typeface="Calibri" pitchFamily="34" charset="-120"/>
              </a:rPr>
              <a:t>Depends on all of it</a:t>
            </a:r>
            <a:endParaRPr lang="en-US" sz="1150" dirty="0"/>
          </a:p>
          <a:p>
            <a:pPr algn="ctr" indent="0" marL="0">
              <a:spcAft>
                <a:spcPts val="400"/>
              </a:spcAft>
              <a:buNone/>
            </a:pPr>
            <a:r>
              <a:rPr lang="en-US" sz="1150" dirty="0">
                <a:solidFill>
                  <a:srgbClr val="0B6B60"/>
                </a:solidFill>
                <a:latin typeface="Calibri" pitchFamily="34" charset="0"/>
                <a:ea typeface="Calibri" pitchFamily="34" charset="-122"/>
                <a:cs typeface="Calibri" pitchFamily="34" charset="-120"/>
              </a:rPr>
              <a:t>Checked every request</a:t>
            </a:r>
            <a:endParaRPr lang="en-US" sz="1150" dirty="0"/>
          </a:p>
          <a:p>
            <a:pPr algn="ctr" indent="0" marL="0">
              <a:spcAft>
                <a:spcPts val="400"/>
              </a:spcAft>
              <a:buNone/>
            </a:pPr>
            <a:r>
              <a:rPr lang="en-US" sz="1150" dirty="0">
                <a:solidFill>
                  <a:srgbClr val="0B6B60"/>
                </a:solidFill>
                <a:latin typeface="Calibri" pitchFamily="34" charset="0"/>
                <a:ea typeface="Calibri" pitchFamily="34" charset="-122"/>
                <a:cs typeface="Calibri" pitchFamily="34" charset="-120"/>
              </a:rPr>
              <a:t>Not just once at login</a:t>
            </a:r>
            <a:endParaRPr lang="en-US" sz="1150" dirty="0"/>
          </a:p>
        </p:txBody>
      </p:sp>
      <p:sp>
        <p:nvSpPr>
          <p:cNvPr id="22" name="Text 17"/>
          <p:cNvSpPr/>
          <p:nvPr/>
        </p:nvSpPr>
        <p:spPr>
          <a:xfrm>
            <a:off x="640080" y="5623560"/>
            <a:ext cx="10908792" cy="457200"/>
          </a:xfrm>
          <a:prstGeom prst="rect">
            <a:avLst/>
          </a:prstGeom>
          <a:noFill/>
          <a:ln/>
        </p:spPr>
        <p:txBody>
          <a:bodyPr wrap="square" rtlCol="0" anchor="ctr"/>
          <a:lstStyle/>
          <a:p>
            <a:pPr algn="ctr" indent="0" marL="0">
              <a:buNone/>
            </a:pPr>
            <a:r>
              <a:rPr lang="en-US" sz="1400" i="1" dirty="0">
                <a:solidFill>
                  <a:srgbClr val="12312E"/>
                </a:solidFill>
                <a:latin typeface="Calibri" pitchFamily="34" charset="0"/>
                <a:ea typeface="Calibri" pitchFamily="34" charset="-122"/>
                <a:cs typeface="Calibri" pitchFamily="34" charset="-120"/>
              </a:rPr>
              <a:t>To prescribe or open a record, the system weighs identity + licence + organisation + facility + purpose + consent — </a:t>
            </a:r>
            <a:pPr algn="ctr" indent="0" marL="0">
              <a:buNone/>
            </a:pPr>
            <a:r>
              <a:rPr lang="en-US" sz="1400" b="1" i="1" dirty="0">
                <a:solidFill>
                  <a:srgbClr val="0D8577"/>
                </a:solidFill>
                <a:latin typeface="Calibri" pitchFamily="34" charset="0"/>
                <a:ea typeface="Calibri" pitchFamily="34" charset="-122"/>
                <a:cs typeface="Calibri" pitchFamily="34" charset="-120"/>
              </a:rPr>
              <a:t>every time.</a:t>
            </a:r>
            <a:endParaRPr lang="en-US" sz="1400" dirty="0"/>
          </a:p>
        </p:txBody>
      </p:sp>
      <p:sp>
        <p:nvSpPr>
          <p:cNvPr id="23" name="Text 18"/>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24" name="Text 19"/>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8"/>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0D8577"/>
                </a:solidFill>
                <a:latin typeface="Calibri" pitchFamily="34" charset="0"/>
                <a:ea typeface="Calibri" pitchFamily="34" charset="-122"/>
                <a:cs typeface="Calibri" pitchFamily="34" charset="-120"/>
              </a:rPr>
              <a:t>THE ARCHITECTURE, SIMPLY</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Seven coherent planes — each with a clear job</a:t>
            </a:r>
            <a:endParaRPr lang="en-US" sz="3300" dirty="0"/>
          </a:p>
        </p:txBody>
      </p:sp>
      <p:sp>
        <p:nvSpPr>
          <p:cNvPr id="4" name="Shape 2"/>
          <p:cNvSpPr/>
          <p:nvPr/>
        </p:nvSpPr>
        <p:spPr>
          <a:xfrm>
            <a:off x="640080" y="2011680"/>
            <a:ext cx="2521458" cy="1755648"/>
          </a:xfrm>
          <a:prstGeom prst="roundRect">
            <a:avLst>
              <a:gd name="adj" fmla="val 4688"/>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5" name="Text 3"/>
          <p:cNvSpPr/>
          <p:nvPr/>
        </p:nvSpPr>
        <p:spPr>
          <a:xfrm>
            <a:off x="2612898" y="2121408"/>
            <a:ext cx="45720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Cambria" pitchFamily="34" charset="0"/>
                <a:ea typeface="Cambria" pitchFamily="34" charset="-122"/>
                <a:cs typeface="Cambria" pitchFamily="34" charset="-120"/>
              </a:rPr>
              <a:t>1</a:t>
            </a:r>
            <a:endParaRPr lang="en-US" sz="1500" dirty="0"/>
          </a:p>
        </p:txBody>
      </p:sp>
      <p:sp>
        <p:nvSpPr>
          <p:cNvPr id="6" name="Shape 4"/>
          <p:cNvSpPr/>
          <p:nvPr/>
        </p:nvSpPr>
        <p:spPr>
          <a:xfrm>
            <a:off x="896112" y="2267712"/>
            <a:ext cx="749808" cy="749808"/>
          </a:xfrm>
          <a:prstGeom prst="ellipse">
            <a:avLst/>
          </a:prstGeom>
          <a:solidFill>
            <a:srgbClr val="0D8577"/>
          </a:solidFill>
          <a:ln/>
        </p:spPr>
      </p:sp>
      <p:pic>
        <p:nvPicPr>
          <p:cNvPr id="7" name="Image 0" descr="preencoded.png">    </p:cNvPr>
          <p:cNvPicPr>
            <a:picLocks noChangeAspect="1"/>
          </p:cNvPicPr>
          <p:nvPr/>
        </p:nvPicPr>
        <p:blipFill>
          <a:blip r:embed="rId1"/>
          <a:stretch>
            <a:fillRect/>
          </a:stretch>
        </p:blipFill>
        <p:spPr>
          <a:xfrm>
            <a:off x="1106058" y="2477658"/>
            <a:ext cx="329916" cy="329916"/>
          </a:xfrm>
          <a:prstGeom prst="rect">
            <a:avLst/>
          </a:prstGeom>
        </p:spPr>
      </p:pic>
      <p:sp>
        <p:nvSpPr>
          <p:cNvPr id="8" name="Text 5"/>
          <p:cNvSpPr/>
          <p:nvPr/>
        </p:nvSpPr>
        <p:spPr>
          <a:xfrm>
            <a:off x="896112" y="3063240"/>
            <a:ext cx="2064258" cy="320040"/>
          </a:xfrm>
          <a:prstGeom prst="rect">
            <a:avLst/>
          </a:prstGeom>
          <a:noFill/>
          <a:ln/>
        </p:spPr>
        <p:txBody>
          <a:bodyPr wrap="square" lIns="0" tIns="0" rIns="0" bIns="0" rtlCol="0" anchor="ctr"/>
          <a:lstStyle/>
          <a:p>
            <a:pPr indent="0" marL="0">
              <a:buNone/>
            </a:pPr>
            <a:r>
              <a:rPr lang="en-US" sz="1550" b="1" dirty="0">
                <a:solidFill>
                  <a:srgbClr val="12312E"/>
                </a:solidFill>
                <a:latin typeface="Cambria" pitchFamily="34" charset="0"/>
                <a:ea typeface="Cambria" pitchFamily="34" charset="-122"/>
                <a:cs typeface="Cambria" pitchFamily="34" charset="-120"/>
              </a:rPr>
              <a:t>Trust</a:t>
            </a:r>
            <a:endParaRPr lang="en-US" sz="1550" dirty="0"/>
          </a:p>
        </p:txBody>
      </p:sp>
      <p:sp>
        <p:nvSpPr>
          <p:cNvPr id="9" name="Text 6"/>
          <p:cNvSpPr/>
          <p:nvPr/>
        </p:nvSpPr>
        <p:spPr>
          <a:xfrm>
            <a:off x="896112" y="3383280"/>
            <a:ext cx="2109978" cy="384048"/>
          </a:xfrm>
          <a:prstGeom prst="rect">
            <a:avLst/>
          </a:prstGeom>
          <a:noFill/>
          <a:ln/>
        </p:spPr>
        <p:txBody>
          <a:bodyPr wrap="square" lIns="0" tIns="0" rIns="0" bIns="0" rtlCol="0" anchor="ctr"/>
          <a:lstStyle/>
          <a:p>
            <a:pPr indent="0" marL="0">
              <a:lnSpc>
                <a:spcPts val="1250"/>
              </a:lnSpc>
              <a:buNone/>
            </a:pPr>
            <a:r>
              <a:rPr lang="en-US" sz="1050" dirty="0">
                <a:solidFill>
                  <a:srgbClr val="5B6E6B"/>
                </a:solidFill>
                <a:latin typeface="Calibri" pitchFamily="34" charset="0"/>
                <a:ea typeface="Calibri" pitchFamily="34" charset="-122"/>
                <a:cs typeface="Calibri" pitchFamily="34" charset="-120"/>
              </a:rPr>
              <a:t>Identity, consent — “are you allowed?”</a:t>
            </a:r>
            <a:endParaRPr lang="en-US" sz="1050" dirty="0"/>
          </a:p>
        </p:txBody>
      </p:sp>
      <p:sp>
        <p:nvSpPr>
          <p:cNvPr id="10" name="Shape 7"/>
          <p:cNvSpPr/>
          <p:nvPr/>
        </p:nvSpPr>
        <p:spPr>
          <a:xfrm>
            <a:off x="3435858" y="2011680"/>
            <a:ext cx="2521458" cy="1755648"/>
          </a:xfrm>
          <a:prstGeom prst="roundRect">
            <a:avLst>
              <a:gd name="adj" fmla="val 4688"/>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1" name="Text 8"/>
          <p:cNvSpPr/>
          <p:nvPr/>
        </p:nvSpPr>
        <p:spPr>
          <a:xfrm>
            <a:off x="5408676" y="2121408"/>
            <a:ext cx="45720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Cambria" pitchFamily="34" charset="0"/>
                <a:ea typeface="Cambria" pitchFamily="34" charset="-122"/>
                <a:cs typeface="Cambria" pitchFamily="34" charset="-120"/>
              </a:rPr>
              <a:t>2</a:t>
            </a:r>
            <a:endParaRPr lang="en-US" sz="1500" dirty="0"/>
          </a:p>
        </p:txBody>
      </p:sp>
      <p:sp>
        <p:nvSpPr>
          <p:cNvPr id="12" name="Shape 9"/>
          <p:cNvSpPr/>
          <p:nvPr/>
        </p:nvSpPr>
        <p:spPr>
          <a:xfrm>
            <a:off x="3691890" y="2267712"/>
            <a:ext cx="749808" cy="749808"/>
          </a:xfrm>
          <a:prstGeom prst="ellipse">
            <a:avLst/>
          </a:prstGeom>
          <a:solidFill>
            <a:srgbClr val="0B6B60"/>
          </a:solidFill>
          <a:ln/>
        </p:spPr>
      </p:sp>
      <p:pic>
        <p:nvPicPr>
          <p:cNvPr id="13" name="Image 1" descr="preencoded.png">    </p:cNvPr>
          <p:cNvPicPr>
            <a:picLocks noChangeAspect="1"/>
          </p:cNvPicPr>
          <p:nvPr/>
        </p:nvPicPr>
        <p:blipFill>
          <a:blip r:embed="rId2"/>
          <a:stretch>
            <a:fillRect/>
          </a:stretch>
        </p:blipFill>
        <p:spPr>
          <a:xfrm>
            <a:off x="3901836" y="2477658"/>
            <a:ext cx="329916" cy="329916"/>
          </a:xfrm>
          <a:prstGeom prst="rect">
            <a:avLst/>
          </a:prstGeom>
        </p:spPr>
      </p:pic>
      <p:sp>
        <p:nvSpPr>
          <p:cNvPr id="14" name="Text 10"/>
          <p:cNvSpPr/>
          <p:nvPr/>
        </p:nvSpPr>
        <p:spPr>
          <a:xfrm>
            <a:off x="3691890" y="3063240"/>
            <a:ext cx="2064258" cy="320040"/>
          </a:xfrm>
          <a:prstGeom prst="rect">
            <a:avLst/>
          </a:prstGeom>
          <a:noFill/>
          <a:ln/>
        </p:spPr>
        <p:txBody>
          <a:bodyPr wrap="square" lIns="0" tIns="0" rIns="0" bIns="0" rtlCol="0" anchor="ctr"/>
          <a:lstStyle/>
          <a:p>
            <a:pPr indent="0" marL="0">
              <a:buNone/>
            </a:pPr>
            <a:r>
              <a:rPr lang="en-US" sz="1550" b="1" dirty="0">
                <a:solidFill>
                  <a:srgbClr val="12312E"/>
                </a:solidFill>
                <a:latin typeface="Cambria" pitchFamily="34" charset="0"/>
                <a:ea typeface="Cambria" pitchFamily="34" charset="-122"/>
                <a:cs typeface="Cambria" pitchFamily="34" charset="-120"/>
              </a:rPr>
              <a:t>Registry</a:t>
            </a:r>
            <a:endParaRPr lang="en-US" sz="1550" dirty="0"/>
          </a:p>
        </p:txBody>
      </p:sp>
      <p:sp>
        <p:nvSpPr>
          <p:cNvPr id="15" name="Text 11"/>
          <p:cNvSpPr/>
          <p:nvPr/>
        </p:nvSpPr>
        <p:spPr>
          <a:xfrm>
            <a:off x="3691890" y="3383280"/>
            <a:ext cx="2109978" cy="384048"/>
          </a:xfrm>
          <a:prstGeom prst="rect">
            <a:avLst/>
          </a:prstGeom>
          <a:noFill/>
          <a:ln/>
        </p:spPr>
        <p:txBody>
          <a:bodyPr wrap="square" lIns="0" tIns="0" rIns="0" bIns="0" rtlCol="0" anchor="ctr"/>
          <a:lstStyle/>
          <a:p>
            <a:pPr indent="0" marL="0">
              <a:lnSpc>
                <a:spcPts val="1250"/>
              </a:lnSpc>
              <a:buNone/>
            </a:pPr>
            <a:r>
              <a:rPr lang="en-US" sz="1050" dirty="0">
                <a:solidFill>
                  <a:srgbClr val="5B6E6B"/>
                </a:solidFill>
                <a:latin typeface="Calibri" pitchFamily="34" charset="0"/>
                <a:ea typeface="Calibri" pitchFamily="34" charset="-122"/>
                <a:cs typeface="Calibri" pitchFamily="34" charset="-120"/>
              </a:rPr>
              <a:t>Canonical lists of people, facilities, products</a:t>
            </a:r>
            <a:endParaRPr lang="en-US" sz="1050" dirty="0"/>
          </a:p>
        </p:txBody>
      </p:sp>
      <p:sp>
        <p:nvSpPr>
          <p:cNvPr id="16" name="Shape 12"/>
          <p:cNvSpPr/>
          <p:nvPr/>
        </p:nvSpPr>
        <p:spPr>
          <a:xfrm>
            <a:off x="6231636" y="2011680"/>
            <a:ext cx="2521458" cy="1755648"/>
          </a:xfrm>
          <a:prstGeom prst="roundRect">
            <a:avLst>
              <a:gd name="adj" fmla="val 4688"/>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7" name="Text 13"/>
          <p:cNvSpPr/>
          <p:nvPr/>
        </p:nvSpPr>
        <p:spPr>
          <a:xfrm>
            <a:off x="8204454" y="2121408"/>
            <a:ext cx="45720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Cambria" pitchFamily="34" charset="0"/>
                <a:ea typeface="Cambria" pitchFamily="34" charset="-122"/>
                <a:cs typeface="Cambria" pitchFamily="34" charset="-120"/>
              </a:rPr>
              <a:t>3</a:t>
            </a:r>
            <a:endParaRPr lang="en-US" sz="1500" dirty="0"/>
          </a:p>
        </p:txBody>
      </p:sp>
      <p:sp>
        <p:nvSpPr>
          <p:cNvPr id="18" name="Shape 14"/>
          <p:cNvSpPr/>
          <p:nvPr/>
        </p:nvSpPr>
        <p:spPr>
          <a:xfrm>
            <a:off x="6487668" y="2267712"/>
            <a:ext cx="749808" cy="749808"/>
          </a:xfrm>
          <a:prstGeom prst="ellipse">
            <a:avLst/>
          </a:prstGeom>
          <a:solidFill>
            <a:srgbClr val="14B8A6"/>
          </a:solidFill>
          <a:ln/>
        </p:spPr>
      </p:sp>
      <p:pic>
        <p:nvPicPr>
          <p:cNvPr id="19" name="Image 2" descr="preencoded.png">    </p:cNvPr>
          <p:cNvPicPr>
            <a:picLocks noChangeAspect="1"/>
          </p:cNvPicPr>
          <p:nvPr/>
        </p:nvPicPr>
        <p:blipFill>
          <a:blip r:embed="rId3"/>
          <a:stretch>
            <a:fillRect/>
          </a:stretch>
        </p:blipFill>
        <p:spPr>
          <a:xfrm>
            <a:off x="6697614" y="2477658"/>
            <a:ext cx="329916" cy="329916"/>
          </a:xfrm>
          <a:prstGeom prst="rect">
            <a:avLst/>
          </a:prstGeom>
        </p:spPr>
      </p:pic>
      <p:sp>
        <p:nvSpPr>
          <p:cNvPr id="20" name="Text 15"/>
          <p:cNvSpPr/>
          <p:nvPr/>
        </p:nvSpPr>
        <p:spPr>
          <a:xfrm>
            <a:off x="6487668" y="3063240"/>
            <a:ext cx="2064258" cy="320040"/>
          </a:xfrm>
          <a:prstGeom prst="rect">
            <a:avLst/>
          </a:prstGeom>
          <a:noFill/>
          <a:ln/>
        </p:spPr>
        <p:txBody>
          <a:bodyPr wrap="square" lIns="0" tIns="0" rIns="0" bIns="0" rtlCol="0" anchor="ctr"/>
          <a:lstStyle/>
          <a:p>
            <a:pPr indent="0" marL="0">
              <a:buNone/>
            </a:pPr>
            <a:r>
              <a:rPr lang="en-US" sz="1550" b="1" dirty="0">
                <a:solidFill>
                  <a:srgbClr val="12312E"/>
                </a:solidFill>
                <a:latin typeface="Cambria" pitchFamily="34" charset="0"/>
                <a:ea typeface="Cambria" pitchFamily="34" charset="-122"/>
                <a:cs typeface="Cambria" pitchFamily="34" charset="-120"/>
              </a:rPr>
              <a:t>Clinical</a:t>
            </a:r>
            <a:endParaRPr lang="en-US" sz="1550" dirty="0"/>
          </a:p>
        </p:txBody>
      </p:sp>
      <p:sp>
        <p:nvSpPr>
          <p:cNvPr id="21" name="Text 16"/>
          <p:cNvSpPr/>
          <p:nvPr/>
        </p:nvSpPr>
        <p:spPr>
          <a:xfrm>
            <a:off x="6487668" y="3383280"/>
            <a:ext cx="2109978" cy="384048"/>
          </a:xfrm>
          <a:prstGeom prst="rect">
            <a:avLst/>
          </a:prstGeom>
          <a:noFill/>
          <a:ln/>
        </p:spPr>
        <p:txBody>
          <a:bodyPr wrap="square" lIns="0" tIns="0" rIns="0" bIns="0" rtlCol="0" anchor="ctr"/>
          <a:lstStyle/>
          <a:p>
            <a:pPr indent="0" marL="0">
              <a:lnSpc>
                <a:spcPts val="1250"/>
              </a:lnSpc>
              <a:buNone/>
            </a:pPr>
            <a:r>
              <a:rPr lang="en-US" sz="1050" dirty="0">
                <a:solidFill>
                  <a:srgbClr val="5B6E6B"/>
                </a:solidFill>
                <a:latin typeface="Calibri" pitchFamily="34" charset="0"/>
                <a:ea typeface="Calibri" pitchFamily="34" charset="-122"/>
                <a:cs typeface="Calibri" pitchFamily="34" charset="-120"/>
              </a:rPr>
              <a:t>The health record and care workflows</a:t>
            </a:r>
            <a:endParaRPr lang="en-US" sz="1050" dirty="0"/>
          </a:p>
        </p:txBody>
      </p:sp>
      <p:sp>
        <p:nvSpPr>
          <p:cNvPr id="22" name="Shape 17"/>
          <p:cNvSpPr/>
          <p:nvPr/>
        </p:nvSpPr>
        <p:spPr>
          <a:xfrm>
            <a:off x="9027414" y="2011680"/>
            <a:ext cx="2521458" cy="1755648"/>
          </a:xfrm>
          <a:prstGeom prst="roundRect">
            <a:avLst>
              <a:gd name="adj" fmla="val 4688"/>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23" name="Text 18"/>
          <p:cNvSpPr/>
          <p:nvPr/>
        </p:nvSpPr>
        <p:spPr>
          <a:xfrm>
            <a:off x="11000232" y="2121408"/>
            <a:ext cx="45720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Cambria" pitchFamily="34" charset="0"/>
                <a:ea typeface="Cambria" pitchFamily="34" charset="-122"/>
                <a:cs typeface="Cambria" pitchFamily="34" charset="-120"/>
              </a:rPr>
              <a:t>4</a:t>
            </a:r>
            <a:endParaRPr lang="en-US" sz="1500" dirty="0"/>
          </a:p>
        </p:txBody>
      </p:sp>
      <p:sp>
        <p:nvSpPr>
          <p:cNvPr id="24" name="Shape 19"/>
          <p:cNvSpPr/>
          <p:nvPr/>
        </p:nvSpPr>
        <p:spPr>
          <a:xfrm>
            <a:off x="9283446" y="2267712"/>
            <a:ext cx="749808" cy="749808"/>
          </a:xfrm>
          <a:prstGeom prst="ellipse">
            <a:avLst/>
          </a:prstGeom>
          <a:solidFill>
            <a:srgbClr val="0D8577"/>
          </a:solidFill>
          <a:ln/>
        </p:spPr>
      </p:sp>
      <p:pic>
        <p:nvPicPr>
          <p:cNvPr id="25" name="Image 3" descr="preencoded.png">    </p:cNvPr>
          <p:cNvPicPr>
            <a:picLocks noChangeAspect="1"/>
          </p:cNvPicPr>
          <p:nvPr/>
        </p:nvPicPr>
        <p:blipFill>
          <a:blip r:embed="rId4"/>
          <a:stretch>
            <a:fillRect/>
          </a:stretch>
        </p:blipFill>
        <p:spPr>
          <a:xfrm>
            <a:off x="9493392" y="2477658"/>
            <a:ext cx="329916" cy="329916"/>
          </a:xfrm>
          <a:prstGeom prst="rect">
            <a:avLst/>
          </a:prstGeom>
        </p:spPr>
      </p:pic>
      <p:sp>
        <p:nvSpPr>
          <p:cNvPr id="26" name="Text 20"/>
          <p:cNvSpPr/>
          <p:nvPr/>
        </p:nvSpPr>
        <p:spPr>
          <a:xfrm>
            <a:off x="9283446" y="3063240"/>
            <a:ext cx="2064258" cy="320040"/>
          </a:xfrm>
          <a:prstGeom prst="rect">
            <a:avLst/>
          </a:prstGeom>
          <a:noFill/>
          <a:ln/>
        </p:spPr>
        <p:txBody>
          <a:bodyPr wrap="square" lIns="0" tIns="0" rIns="0" bIns="0" rtlCol="0" anchor="ctr"/>
          <a:lstStyle/>
          <a:p>
            <a:pPr indent="0" marL="0">
              <a:buNone/>
            </a:pPr>
            <a:r>
              <a:rPr lang="en-US" sz="1550" b="1" dirty="0">
                <a:solidFill>
                  <a:srgbClr val="12312E"/>
                </a:solidFill>
                <a:latin typeface="Cambria" pitchFamily="34" charset="0"/>
                <a:ea typeface="Cambria" pitchFamily="34" charset="-122"/>
                <a:cs typeface="Cambria" pitchFamily="34" charset="-120"/>
              </a:rPr>
              <a:t>Data</a:t>
            </a:r>
            <a:endParaRPr lang="en-US" sz="1550" dirty="0"/>
          </a:p>
        </p:txBody>
      </p:sp>
      <p:sp>
        <p:nvSpPr>
          <p:cNvPr id="27" name="Text 21"/>
          <p:cNvSpPr/>
          <p:nvPr/>
        </p:nvSpPr>
        <p:spPr>
          <a:xfrm>
            <a:off x="9283446" y="3383280"/>
            <a:ext cx="2109978" cy="384048"/>
          </a:xfrm>
          <a:prstGeom prst="rect">
            <a:avLst/>
          </a:prstGeom>
          <a:noFill/>
          <a:ln/>
        </p:spPr>
        <p:txBody>
          <a:bodyPr wrap="square" lIns="0" tIns="0" rIns="0" bIns="0" rtlCol="0" anchor="ctr"/>
          <a:lstStyle/>
          <a:p>
            <a:pPr indent="0" marL="0">
              <a:lnSpc>
                <a:spcPts val="1250"/>
              </a:lnSpc>
              <a:buNone/>
            </a:pPr>
            <a:r>
              <a:rPr lang="en-US" sz="1050" dirty="0">
                <a:solidFill>
                  <a:srgbClr val="5B6E6B"/>
                </a:solidFill>
                <a:latin typeface="Calibri" pitchFamily="34" charset="0"/>
                <a:ea typeface="Calibri" pitchFamily="34" charset="-122"/>
                <a:cs typeface="Calibri" pitchFamily="34" charset="-120"/>
              </a:rPr>
              <a:t>Longitudinal records, analytics, reporting</a:t>
            </a:r>
            <a:endParaRPr lang="en-US" sz="1050" dirty="0"/>
          </a:p>
        </p:txBody>
      </p:sp>
      <p:sp>
        <p:nvSpPr>
          <p:cNvPr id="28" name="Shape 22"/>
          <p:cNvSpPr/>
          <p:nvPr/>
        </p:nvSpPr>
        <p:spPr>
          <a:xfrm>
            <a:off x="2037969" y="3950208"/>
            <a:ext cx="2521458" cy="1755648"/>
          </a:xfrm>
          <a:prstGeom prst="roundRect">
            <a:avLst>
              <a:gd name="adj" fmla="val 4688"/>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29" name="Text 23"/>
          <p:cNvSpPr/>
          <p:nvPr/>
        </p:nvSpPr>
        <p:spPr>
          <a:xfrm>
            <a:off x="4010787" y="4059936"/>
            <a:ext cx="45720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Cambria" pitchFamily="34" charset="0"/>
                <a:ea typeface="Cambria" pitchFamily="34" charset="-122"/>
                <a:cs typeface="Cambria" pitchFamily="34" charset="-120"/>
              </a:rPr>
              <a:t>5</a:t>
            </a:r>
            <a:endParaRPr lang="en-US" sz="1500" dirty="0"/>
          </a:p>
        </p:txBody>
      </p:sp>
      <p:sp>
        <p:nvSpPr>
          <p:cNvPr id="30" name="Shape 24"/>
          <p:cNvSpPr/>
          <p:nvPr/>
        </p:nvSpPr>
        <p:spPr>
          <a:xfrm>
            <a:off x="2294001" y="4206240"/>
            <a:ext cx="749808" cy="749808"/>
          </a:xfrm>
          <a:prstGeom prst="ellipse">
            <a:avLst/>
          </a:prstGeom>
          <a:solidFill>
            <a:srgbClr val="0B6B60"/>
          </a:solidFill>
          <a:ln/>
        </p:spPr>
      </p:sp>
      <p:pic>
        <p:nvPicPr>
          <p:cNvPr id="31" name="Image 4" descr="preencoded.png">    </p:cNvPr>
          <p:cNvPicPr>
            <a:picLocks noChangeAspect="1"/>
          </p:cNvPicPr>
          <p:nvPr/>
        </p:nvPicPr>
        <p:blipFill>
          <a:blip r:embed="rId5"/>
          <a:stretch>
            <a:fillRect/>
          </a:stretch>
        </p:blipFill>
        <p:spPr>
          <a:xfrm>
            <a:off x="2503947" y="4416186"/>
            <a:ext cx="329916" cy="329916"/>
          </a:xfrm>
          <a:prstGeom prst="rect">
            <a:avLst/>
          </a:prstGeom>
        </p:spPr>
      </p:pic>
      <p:sp>
        <p:nvSpPr>
          <p:cNvPr id="32" name="Text 25"/>
          <p:cNvSpPr/>
          <p:nvPr/>
        </p:nvSpPr>
        <p:spPr>
          <a:xfrm>
            <a:off x="2294001" y="5001768"/>
            <a:ext cx="2064258" cy="320040"/>
          </a:xfrm>
          <a:prstGeom prst="rect">
            <a:avLst/>
          </a:prstGeom>
          <a:noFill/>
          <a:ln/>
        </p:spPr>
        <p:txBody>
          <a:bodyPr wrap="square" lIns="0" tIns="0" rIns="0" bIns="0" rtlCol="0" anchor="ctr"/>
          <a:lstStyle/>
          <a:p>
            <a:pPr indent="0" marL="0">
              <a:buNone/>
            </a:pPr>
            <a:r>
              <a:rPr lang="en-US" sz="1550" b="1" dirty="0">
                <a:solidFill>
                  <a:srgbClr val="12312E"/>
                </a:solidFill>
                <a:latin typeface="Cambria" pitchFamily="34" charset="0"/>
                <a:ea typeface="Cambria" pitchFamily="34" charset="-122"/>
                <a:cs typeface="Cambria" pitchFamily="34" charset="-120"/>
              </a:rPr>
              <a:t>Integration</a:t>
            </a:r>
            <a:endParaRPr lang="en-US" sz="1550" dirty="0"/>
          </a:p>
        </p:txBody>
      </p:sp>
      <p:sp>
        <p:nvSpPr>
          <p:cNvPr id="33" name="Text 26"/>
          <p:cNvSpPr/>
          <p:nvPr/>
        </p:nvSpPr>
        <p:spPr>
          <a:xfrm>
            <a:off x="2294001" y="5321808"/>
            <a:ext cx="2109978" cy="384048"/>
          </a:xfrm>
          <a:prstGeom prst="rect">
            <a:avLst/>
          </a:prstGeom>
          <a:noFill/>
          <a:ln/>
        </p:spPr>
        <p:txBody>
          <a:bodyPr wrap="square" lIns="0" tIns="0" rIns="0" bIns="0" rtlCol="0" anchor="ctr"/>
          <a:lstStyle/>
          <a:p>
            <a:pPr indent="0" marL="0">
              <a:lnSpc>
                <a:spcPts val="1250"/>
              </a:lnSpc>
              <a:buNone/>
            </a:pPr>
            <a:r>
              <a:rPr lang="en-US" sz="1050" dirty="0">
                <a:solidFill>
                  <a:srgbClr val="5B6E6B"/>
                </a:solidFill>
                <a:latin typeface="Calibri" pitchFamily="34" charset="0"/>
                <a:ea typeface="Calibri" pitchFamily="34" charset="-122"/>
                <a:cs typeface="Calibri" pitchFamily="34" charset="-120"/>
              </a:rPr>
              <a:t>Standards-based links to other systems</a:t>
            </a:r>
            <a:endParaRPr lang="en-US" sz="1050" dirty="0"/>
          </a:p>
        </p:txBody>
      </p:sp>
      <p:sp>
        <p:nvSpPr>
          <p:cNvPr id="34" name="Shape 27"/>
          <p:cNvSpPr/>
          <p:nvPr/>
        </p:nvSpPr>
        <p:spPr>
          <a:xfrm>
            <a:off x="4833747" y="3950208"/>
            <a:ext cx="2521458" cy="1755648"/>
          </a:xfrm>
          <a:prstGeom prst="roundRect">
            <a:avLst>
              <a:gd name="adj" fmla="val 4688"/>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35" name="Text 28"/>
          <p:cNvSpPr/>
          <p:nvPr/>
        </p:nvSpPr>
        <p:spPr>
          <a:xfrm>
            <a:off x="6806565" y="4059936"/>
            <a:ext cx="45720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Cambria" pitchFamily="34" charset="0"/>
                <a:ea typeface="Cambria" pitchFamily="34" charset="-122"/>
                <a:cs typeface="Cambria" pitchFamily="34" charset="-120"/>
              </a:rPr>
              <a:t>6</a:t>
            </a:r>
            <a:endParaRPr lang="en-US" sz="1500" dirty="0"/>
          </a:p>
        </p:txBody>
      </p:sp>
      <p:sp>
        <p:nvSpPr>
          <p:cNvPr id="36" name="Shape 29"/>
          <p:cNvSpPr/>
          <p:nvPr/>
        </p:nvSpPr>
        <p:spPr>
          <a:xfrm>
            <a:off x="5089779" y="4206240"/>
            <a:ext cx="749808" cy="749808"/>
          </a:xfrm>
          <a:prstGeom prst="ellipse">
            <a:avLst/>
          </a:prstGeom>
          <a:solidFill>
            <a:srgbClr val="14B8A6"/>
          </a:solidFill>
          <a:ln/>
        </p:spPr>
      </p:sp>
      <p:pic>
        <p:nvPicPr>
          <p:cNvPr id="37" name="Image 5" descr="preencoded.png">    </p:cNvPr>
          <p:cNvPicPr>
            <a:picLocks noChangeAspect="1"/>
          </p:cNvPicPr>
          <p:nvPr/>
        </p:nvPicPr>
        <p:blipFill>
          <a:blip r:embed="rId6"/>
          <a:stretch>
            <a:fillRect/>
          </a:stretch>
        </p:blipFill>
        <p:spPr>
          <a:xfrm>
            <a:off x="5299725" y="4416186"/>
            <a:ext cx="329916" cy="329916"/>
          </a:xfrm>
          <a:prstGeom prst="rect">
            <a:avLst/>
          </a:prstGeom>
        </p:spPr>
      </p:pic>
      <p:sp>
        <p:nvSpPr>
          <p:cNvPr id="38" name="Text 30"/>
          <p:cNvSpPr/>
          <p:nvPr/>
        </p:nvSpPr>
        <p:spPr>
          <a:xfrm>
            <a:off x="5089779" y="5001768"/>
            <a:ext cx="2064258" cy="320040"/>
          </a:xfrm>
          <a:prstGeom prst="rect">
            <a:avLst/>
          </a:prstGeom>
          <a:noFill/>
          <a:ln/>
        </p:spPr>
        <p:txBody>
          <a:bodyPr wrap="square" lIns="0" tIns="0" rIns="0" bIns="0" rtlCol="0" anchor="ctr"/>
          <a:lstStyle/>
          <a:p>
            <a:pPr indent="0" marL="0">
              <a:buNone/>
            </a:pPr>
            <a:r>
              <a:rPr lang="en-US" sz="1550" b="1" dirty="0">
                <a:solidFill>
                  <a:srgbClr val="12312E"/>
                </a:solidFill>
                <a:latin typeface="Cambria" pitchFamily="34" charset="0"/>
                <a:ea typeface="Cambria" pitchFamily="34" charset="-122"/>
                <a:cs typeface="Cambria" pitchFamily="34" charset="-120"/>
              </a:rPr>
              <a:t>Experience</a:t>
            </a:r>
            <a:endParaRPr lang="en-US" sz="1550" dirty="0"/>
          </a:p>
        </p:txBody>
      </p:sp>
      <p:sp>
        <p:nvSpPr>
          <p:cNvPr id="39" name="Text 31"/>
          <p:cNvSpPr/>
          <p:nvPr/>
        </p:nvSpPr>
        <p:spPr>
          <a:xfrm>
            <a:off x="5089779" y="5321808"/>
            <a:ext cx="2109978" cy="384048"/>
          </a:xfrm>
          <a:prstGeom prst="rect">
            <a:avLst/>
          </a:prstGeom>
          <a:noFill/>
          <a:ln/>
        </p:spPr>
        <p:txBody>
          <a:bodyPr wrap="square" lIns="0" tIns="0" rIns="0" bIns="0" rtlCol="0" anchor="ctr"/>
          <a:lstStyle/>
          <a:p>
            <a:pPr indent="0" marL="0">
              <a:lnSpc>
                <a:spcPts val="1250"/>
              </a:lnSpc>
              <a:buNone/>
            </a:pPr>
            <a:r>
              <a:rPr lang="en-US" sz="1050" dirty="0">
                <a:solidFill>
                  <a:srgbClr val="5B6E6B"/>
                </a:solidFill>
                <a:latin typeface="Calibri" pitchFamily="34" charset="0"/>
                <a:ea typeface="Calibri" pitchFamily="34" charset="-122"/>
                <a:cs typeface="Calibri" pitchFamily="34" charset="-120"/>
              </a:rPr>
              <a:t>The unified shell everyone actually uses</a:t>
            </a:r>
            <a:endParaRPr lang="en-US" sz="1050" dirty="0"/>
          </a:p>
        </p:txBody>
      </p:sp>
      <p:sp>
        <p:nvSpPr>
          <p:cNvPr id="40" name="Shape 32"/>
          <p:cNvSpPr/>
          <p:nvPr/>
        </p:nvSpPr>
        <p:spPr>
          <a:xfrm>
            <a:off x="7629525" y="3950208"/>
            <a:ext cx="2521458" cy="1755648"/>
          </a:xfrm>
          <a:prstGeom prst="roundRect">
            <a:avLst>
              <a:gd name="adj" fmla="val 4688"/>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41" name="Text 33"/>
          <p:cNvSpPr/>
          <p:nvPr/>
        </p:nvSpPr>
        <p:spPr>
          <a:xfrm>
            <a:off x="9602343" y="4059936"/>
            <a:ext cx="45720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Cambria" pitchFamily="34" charset="0"/>
                <a:ea typeface="Cambria" pitchFamily="34" charset="-122"/>
                <a:cs typeface="Cambria" pitchFamily="34" charset="-120"/>
              </a:rPr>
              <a:t>7</a:t>
            </a:r>
            <a:endParaRPr lang="en-US" sz="1500" dirty="0"/>
          </a:p>
        </p:txBody>
      </p:sp>
      <p:sp>
        <p:nvSpPr>
          <p:cNvPr id="42" name="Shape 34"/>
          <p:cNvSpPr/>
          <p:nvPr/>
        </p:nvSpPr>
        <p:spPr>
          <a:xfrm>
            <a:off x="7885557" y="4206240"/>
            <a:ext cx="749808" cy="749808"/>
          </a:xfrm>
          <a:prstGeom prst="ellipse">
            <a:avLst/>
          </a:prstGeom>
          <a:solidFill>
            <a:srgbClr val="0D8577"/>
          </a:solidFill>
          <a:ln/>
        </p:spPr>
      </p:sp>
      <p:pic>
        <p:nvPicPr>
          <p:cNvPr id="43" name="Image 6" descr="preencoded.png">    </p:cNvPr>
          <p:cNvPicPr>
            <a:picLocks noChangeAspect="1"/>
          </p:cNvPicPr>
          <p:nvPr/>
        </p:nvPicPr>
        <p:blipFill>
          <a:blip r:embed="rId7"/>
          <a:stretch>
            <a:fillRect/>
          </a:stretch>
        </p:blipFill>
        <p:spPr>
          <a:xfrm>
            <a:off x="8095503" y="4416186"/>
            <a:ext cx="329916" cy="329916"/>
          </a:xfrm>
          <a:prstGeom prst="rect">
            <a:avLst/>
          </a:prstGeom>
        </p:spPr>
      </p:pic>
      <p:sp>
        <p:nvSpPr>
          <p:cNvPr id="44" name="Text 35"/>
          <p:cNvSpPr/>
          <p:nvPr/>
        </p:nvSpPr>
        <p:spPr>
          <a:xfrm>
            <a:off x="7885557" y="5001768"/>
            <a:ext cx="2064258" cy="320040"/>
          </a:xfrm>
          <a:prstGeom prst="rect">
            <a:avLst/>
          </a:prstGeom>
          <a:noFill/>
          <a:ln/>
        </p:spPr>
        <p:txBody>
          <a:bodyPr wrap="square" lIns="0" tIns="0" rIns="0" bIns="0" rtlCol="0" anchor="ctr"/>
          <a:lstStyle/>
          <a:p>
            <a:pPr indent="0" marL="0">
              <a:buNone/>
            </a:pPr>
            <a:r>
              <a:rPr lang="en-US" sz="1550" b="1" dirty="0">
                <a:solidFill>
                  <a:srgbClr val="12312E"/>
                </a:solidFill>
                <a:latin typeface="Cambria" pitchFamily="34" charset="0"/>
                <a:ea typeface="Cambria" pitchFamily="34" charset="-122"/>
                <a:cs typeface="Cambria" pitchFamily="34" charset="-120"/>
              </a:rPr>
              <a:t>Enterprise</a:t>
            </a:r>
            <a:endParaRPr lang="en-US" sz="1550" dirty="0"/>
          </a:p>
        </p:txBody>
      </p:sp>
      <p:sp>
        <p:nvSpPr>
          <p:cNvPr id="45" name="Text 36"/>
          <p:cNvSpPr/>
          <p:nvPr/>
        </p:nvSpPr>
        <p:spPr>
          <a:xfrm>
            <a:off x="7885557" y="5321808"/>
            <a:ext cx="2109978" cy="384048"/>
          </a:xfrm>
          <a:prstGeom prst="rect">
            <a:avLst/>
          </a:prstGeom>
          <a:noFill/>
          <a:ln/>
        </p:spPr>
        <p:txBody>
          <a:bodyPr wrap="square" lIns="0" tIns="0" rIns="0" bIns="0" rtlCol="0" anchor="ctr"/>
          <a:lstStyle/>
          <a:p>
            <a:pPr indent="0" marL="0">
              <a:lnSpc>
                <a:spcPts val="1250"/>
              </a:lnSpc>
              <a:buNone/>
            </a:pPr>
            <a:r>
              <a:rPr lang="en-US" sz="1050" dirty="0">
                <a:solidFill>
                  <a:srgbClr val="5B6E6B"/>
                </a:solidFill>
                <a:latin typeface="Calibri" pitchFamily="34" charset="0"/>
                <a:ea typeface="Calibri" pitchFamily="34" charset="-122"/>
                <a:cs typeface="Calibri" pitchFamily="34" charset="-120"/>
              </a:rPr>
              <a:t>Audit, governance, operations</a:t>
            </a:r>
            <a:endParaRPr lang="en-US" sz="1050" dirty="0"/>
          </a:p>
        </p:txBody>
      </p:sp>
      <p:sp>
        <p:nvSpPr>
          <p:cNvPr id="46" name="Text 37"/>
          <p:cNvSpPr/>
          <p:nvPr/>
        </p:nvSpPr>
        <p:spPr>
          <a:xfrm>
            <a:off x="640080" y="5943600"/>
            <a:ext cx="10908792" cy="365760"/>
          </a:xfrm>
          <a:prstGeom prst="rect">
            <a:avLst/>
          </a:prstGeom>
          <a:noFill/>
          <a:ln/>
        </p:spPr>
        <p:txBody>
          <a:bodyPr wrap="square" rtlCol="0" anchor="ctr"/>
          <a:lstStyle/>
          <a:p>
            <a:pPr algn="ctr" indent="0" marL="0">
              <a:buNone/>
            </a:pPr>
            <a:r>
              <a:rPr lang="en-US" sz="1300" i="1" dirty="0">
                <a:solidFill>
                  <a:srgbClr val="5B6E6B"/>
                </a:solidFill>
                <a:latin typeface="Calibri" pitchFamily="34" charset="0"/>
                <a:ea typeface="Calibri" pitchFamily="34" charset="-122"/>
                <a:cs typeface="Calibri" pitchFamily="34" charset="-120"/>
              </a:rPr>
              <a:t>You don't need to memorise these — the point is a deliberate, non-negotiable structure, not a pile of features.</a:t>
            </a:r>
            <a:endParaRPr lang="en-US" sz="1300" dirty="0"/>
          </a:p>
        </p:txBody>
      </p:sp>
      <p:sp>
        <p:nvSpPr>
          <p:cNvPr id="47" name="Text 38"/>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48" name="Text 39"/>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8"/>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0D8577"/>
                </a:solidFill>
                <a:latin typeface="Calibri" pitchFamily="34" charset="0"/>
                <a:ea typeface="Calibri" pitchFamily="34" charset="-122"/>
                <a:cs typeface="Calibri" pitchFamily="34" charset="-120"/>
              </a:rPr>
              <a:t>TRUST-FIRST BY DESIGN</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Privacy and consent are enforced — not assumed</a:t>
            </a:r>
            <a:endParaRPr lang="en-US" sz="3300" dirty="0"/>
          </a:p>
        </p:txBody>
      </p:sp>
      <p:sp>
        <p:nvSpPr>
          <p:cNvPr id="4" name="Shape 2"/>
          <p:cNvSpPr/>
          <p:nvPr/>
        </p:nvSpPr>
        <p:spPr>
          <a:xfrm>
            <a:off x="640080" y="2377440"/>
            <a:ext cx="3200400" cy="1371600"/>
          </a:xfrm>
          <a:prstGeom prst="roundRect">
            <a:avLst>
              <a:gd name="adj" fmla="val 6667"/>
            </a:avLst>
          </a:prstGeom>
          <a:solidFill>
            <a:srgbClr val="5B6E6B"/>
          </a:solidFill>
          <a:ln/>
          <a:effectLst>
            <a:outerShdw sx="100000" sy="100000" kx="0" ky="0" algn="bl" rotWithShape="0" blurRad="114300" dist="38100" dir="5400000">
              <a:srgbClr val="0A3B37">
                <a:alpha val="13000"/>
              </a:srgbClr>
            </a:outerShdw>
          </a:effectLst>
        </p:spPr>
      </p:sp>
      <p:sp>
        <p:nvSpPr>
          <p:cNvPr id="5" name="Shape 3"/>
          <p:cNvSpPr/>
          <p:nvPr/>
        </p:nvSpPr>
        <p:spPr>
          <a:xfrm>
            <a:off x="896112" y="2670048"/>
            <a:ext cx="777240" cy="7772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113739" y="2887675"/>
            <a:ext cx="341986" cy="341986"/>
          </a:xfrm>
          <a:prstGeom prst="rect">
            <a:avLst/>
          </a:prstGeom>
        </p:spPr>
      </p:pic>
      <p:sp>
        <p:nvSpPr>
          <p:cNvPr id="7" name="Text 4"/>
          <p:cNvSpPr/>
          <p:nvPr/>
        </p:nvSpPr>
        <p:spPr>
          <a:xfrm>
            <a:off x="1783080" y="2670048"/>
            <a:ext cx="19202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Any request</a:t>
            </a:r>
            <a:endParaRPr lang="en-US" sz="1500" dirty="0"/>
          </a:p>
        </p:txBody>
      </p:sp>
      <p:sp>
        <p:nvSpPr>
          <p:cNvPr id="8" name="Text 5"/>
          <p:cNvSpPr/>
          <p:nvPr/>
        </p:nvSpPr>
        <p:spPr>
          <a:xfrm>
            <a:off x="1783080" y="3063240"/>
            <a:ext cx="1920240" cy="502920"/>
          </a:xfrm>
          <a:prstGeom prst="rect">
            <a:avLst/>
          </a:prstGeom>
          <a:noFill/>
          <a:ln/>
        </p:spPr>
        <p:txBody>
          <a:bodyPr wrap="square" lIns="0" tIns="0" rIns="0" bIns="0" rtlCol="0" anchor="ctr"/>
          <a:lstStyle/>
          <a:p>
            <a:pPr indent="0" marL="0">
              <a:lnSpc>
                <a:spcPts val="1200"/>
              </a:lnSpc>
              <a:buNone/>
            </a:pPr>
            <a:r>
              <a:rPr lang="en-US" sz="1050" dirty="0">
                <a:solidFill>
                  <a:srgbClr val="E6F5F1"/>
                </a:solidFill>
                <a:latin typeface="Calibri" pitchFamily="34" charset="0"/>
                <a:ea typeface="Calibri" pitchFamily="34" charset="-122"/>
                <a:cs typeface="Calibri" pitchFamily="34" charset="-120"/>
              </a:rPr>
              <a:t>A user or service asks to act</a:t>
            </a:r>
            <a:endParaRPr lang="en-US" sz="1050" dirty="0"/>
          </a:p>
        </p:txBody>
      </p:sp>
      <p:sp>
        <p:nvSpPr>
          <p:cNvPr id="9" name="Shape 6"/>
          <p:cNvSpPr/>
          <p:nvPr/>
        </p:nvSpPr>
        <p:spPr>
          <a:xfrm>
            <a:off x="4343400" y="2377440"/>
            <a:ext cx="3566160" cy="1371600"/>
          </a:xfrm>
          <a:prstGeom prst="roundRect">
            <a:avLst>
              <a:gd name="adj" fmla="val 6667"/>
            </a:avLst>
          </a:prstGeom>
          <a:solidFill>
            <a:srgbClr val="0D8577"/>
          </a:solidFill>
          <a:ln/>
          <a:effectLst>
            <a:outerShdw sx="100000" sy="100000" kx="0" ky="0" algn="bl" rotWithShape="0" blurRad="114300" dist="38100" dir="5400000">
              <a:srgbClr val="0A3B37">
                <a:alpha val="13000"/>
              </a:srgbClr>
            </a:outerShdw>
          </a:effectLst>
        </p:spPr>
      </p:sp>
      <p:sp>
        <p:nvSpPr>
          <p:cNvPr id="10" name="Shape 7"/>
          <p:cNvSpPr/>
          <p:nvPr/>
        </p:nvSpPr>
        <p:spPr>
          <a:xfrm>
            <a:off x="4599432" y="2670048"/>
            <a:ext cx="777240" cy="77724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4817059" y="2887675"/>
            <a:ext cx="341986" cy="341986"/>
          </a:xfrm>
          <a:prstGeom prst="rect">
            <a:avLst/>
          </a:prstGeom>
        </p:spPr>
      </p:pic>
      <p:sp>
        <p:nvSpPr>
          <p:cNvPr id="12" name="Text 8"/>
          <p:cNvSpPr/>
          <p:nvPr/>
        </p:nvSpPr>
        <p:spPr>
          <a:xfrm>
            <a:off x="5486400" y="2670048"/>
            <a:ext cx="22860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Trust plane check</a:t>
            </a:r>
            <a:endParaRPr lang="en-US" sz="1500" dirty="0"/>
          </a:p>
        </p:txBody>
      </p:sp>
      <p:sp>
        <p:nvSpPr>
          <p:cNvPr id="13" name="Text 9"/>
          <p:cNvSpPr/>
          <p:nvPr/>
        </p:nvSpPr>
        <p:spPr>
          <a:xfrm>
            <a:off x="5486400" y="3063240"/>
            <a:ext cx="2286000" cy="502920"/>
          </a:xfrm>
          <a:prstGeom prst="rect">
            <a:avLst/>
          </a:prstGeom>
          <a:noFill/>
          <a:ln/>
        </p:spPr>
        <p:txBody>
          <a:bodyPr wrap="square" lIns="0" tIns="0" rIns="0" bIns="0" rtlCol="0" anchor="ctr"/>
          <a:lstStyle/>
          <a:p>
            <a:pPr indent="0" marL="0">
              <a:lnSpc>
                <a:spcPts val="1200"/>
              </a:lnSpc>
              <a:buNone/>
            </a:pPr>
            <a:r>
              <a:rPr lang="en-US" sz="1050" dirty="0">
                <a:solidFill>
                  <a:srgbClr val="E6F5F1"/>
                </a:solidFill>
                <a:latin typeface="Calibri" pitchFamily="34" charset="0"/>
                <a:ea typeface="Calibri" pitchFamily="34" charset="-122"/>
                <a:cs typeface="Calibri" pitchFamily="34" charset="-120"/>
              </a:rPr>
              <a:t>Weighs 10 dimensions before anything happens</a:t>
            </a:r>
            <a:endParaRPr lang="en-US" sz="1050" dirty="0"/>
          </a:p>
        </p:txBody>
      </p:sp>
      <p:sp>
        <p:nvSpPr>
          <p:cNvPr id="14" name="Shape 10"/>
          <p:cNvSpPr/>
          <p:nvPr/>
        </p:nvSpPr>
        <p:spPr>
          <a:xfrm>
            <a:off x="8412480" y="2377440"/>
            <a:ext cx="3108960" cy="1371600"/>
          </a:xfrm>
          <a:prstGeom prst="roundRect">
            <a:avLst>
              <a:gd name="adj" fmla="val 6667"/>
            </a:avLst>
          </a:prstGeom>
          <a:solidFill>
            <a:srgbClr val="0B6B60"/>
          </a:solidFill>
          <a:ln/>
          <a:effectLst>
            <a:outerShdw sx="100000" sy="100000" kx="0" ky="0" algn="bl" rotWithShape="0" blurRad="114300" dist="38100" dir="5400000">
              <a:srgbClr val="0A3B37">
                <a:alpha val="13000"/>
              </a:srgbClr>
            </a:outerShdw>
          </a:effectLst>
        </p:spPr>
      </p:sp>
      <p:sp>
        <p:nvSpPr>
          <p:cNvPr id="15" name="Shape 11"/>
          <p:cNvSpPr/>
          <p:nvPr/>
        </p:nvSpPr>
        <p:spPr>
          <a:xfrm>
            <a:off x="8668512" y="2670048"/>
            <a:ext cx="777240" cy="77724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886139" y="2887675"/>
            <a:ext cx="341986" cy="341986"/>
          </a:xfrm>
          <a:prstGeom prst="rect">
            <a:avLst/>
          </a:prstGeom>
        </p:spPr>
      </p:pic>
      <p:sp>
        <p:nvSpPr>
          <p:cNvPr id="17" name="Text 12"/>
          <p:cNvSpPr/>
          <p:nvPr/>
        </p:nvSpPr>
        <p:spPr>
          <a:xfrm>
            <a:off x="9555480" y="2670048"/>
            <a:ext cx="18288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Service acts</a:t>
            </a:r>
            <a:endParaRPr lang="en-US" sz="1500" dirty="0"/>
          </a:p>
        </p:txBody>
      </p:sp>
      <p:sp>
        <p:nvSpPr>
          <p:cNvPr id="18" name="Text 13"/>
          <p:cNvSpPr/>
          <p:nvPr/>
        </p:nvSpPr>
        <p:spPr>
          <a:xfrm>
            <a:off x="9555480" y="3063240"/>
            <a:ext cx="1828800" cy="502920"/>
          </a:xfrm>
          <a:prstGeom prst="rect">
            <a:avLst/>
          </a:prstGeom>
          <a:noFill/>
          <a:ln/>
        </p:spPr>
        <p:txBody>
          <a:bodyPr wrap="square" lIns="0" tIns="0" rIns="0" bIns="0" rtlCol="0" anchor="ctr"/>
          <a:lstStyle/>
          <a:p>
            <a:pPr indent="0" marL="0">
              <a:lnSpc>
                <a:spcPts val="1200"/>
              </a:lnSpc>
              <a:buNone/>
            </a:pPr>
            <a:r>
              <a:rPr lang="en-US" sz="1050" dirty="0">
                <a:solidFill>
                  <a:srgbClr val="E6F5F1"/>
                </a:solidFill>
                <a:latin typeface="Calibri" pitchFamily="34" charset="0"/>
                <a:ea typeface="Calibri" pitchFamily="34" charset="-122"/>
                <a:cs typeface="Calibri" pitchFamily="34" charset="-120"/>
              </a:rPr>
              <a:t>Only if allowed — and it's logged</a:t>
            </a:r>
            <a:endParaRPr lang="en-US" sz="1050" dirty="0"/>
          </a:p>
        </p:txBody>
      </p:sp>
      <p:pic>
        <p:nvPicPr>
          <p:cNvPr id="19" name="Image 3" descr="preencoded.png">    </p:cNvPr>
          <p:cNvPicPr>
            <a:picLocks noChangeAspect="1"/>
          </p:cNvPicPr>
          <p:nvPr/>
        </p:nvPicPr>
        <p:blipFill>
          <a:blip r:embed="rId4"/>
          <a:stretch>
            <a:fillRect/>
          </a:stretch>
        </p:blipFill>
        <p:spPr>
          <a:xfrm>
            <a:off x="3931920" y="2880360"/>
            <a:ext cx="365760" cy="365760"/>
          </a:xfrm>
          <a:prstGeom prst="rect">
            <a:avLst/>
          </a:prstGeom>
        </p:spPr>
      </p:pic>
      <p:pic>
        <p:nvPicPr>
          <p:cNvPr id="20" name="Image 4" descr="preencoded.png">    </p:cNvPr>
          <p:cNvPicPr>
            <a:picLocks noChangeAspect="1"/>
          </p:cNvPicPr>
          <p:nvPr/>
        </p:nvPicPr>
        <p:blipFill>
          <a:blip r:embed="rId5"/>
          <a:stretch>
            <a:fillRect/>
          </a:stretch>
        </p:blipFill>
        <p:spPr>
          <a:xfrm>
            <a:off x="8001000" y="2880360"/>
            <a:ext cx="365760" cy="365760"/>
          </a:xfrm>
          <a:prstGeom prst="rect">
            <a:avLst/>
          </a:prstGeom>
        </p:spPr>
      </p:pic>
      <p:sp>
        <p:nvSpPr>
          <p:cNvPr id="21" name="Shape 14"/>
          <p:cNvSpPr/>
          <p:nvPr/>
        </p:nvSpPr>
        <p:spPr>
          <a:xfrm>
            <a:off x="640080" y="4160520"/>
            <a:ext cx="3392424" cy="1600200"/>
          </a:xfrm>
          <a:prstGeom prst="roundRect">
            <a:avLst>
              <a:gd name="adj" fmla="val 5714"/>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22" name="Shape 15"/>
          <p:cNvSpPr/>
          <p:nvPr/>
        </p:nvSpPr>
        <p:spPr>
          <a:xfrm>
            <a:off x="914400" y="4389120"/>
            <a:ext cx="658368" cy="658368"/>
          </a:xfrm>
          <a:prstGeom prst="ellipse">
            <a:avLst/>
          </a:prstGeom>
          <a:solidFill>
            <a:srgbClr val="EAF4F2"/>
          </a:solidFill>
          <a:ln/>
        </p:spPr>
      </p:sp>
      <p:pic>
        <p:nvPicPr>
          <p:cNvPr id="23" name="Image 5" descr="preencoded.png">    </p:cNvPr>
          <p:cNvPicPr>
            <a:picLocks noChangeAspect="1"/>
          </p:cNvPicPr>
          <p:nvPr/>
        </p:nvPicPr>
        <p:blipFill>
          <a:blip r:embed="rId6"/>
          <a:stretch>
            <a:fillRect/>
          </a:stretch>
        </p:blipFill>
        <p:spPr>
          <a:xfrm>
            <a:off x="1098743" y="4573463"/>
            <a:ext cx="289682" cy="289682"/>
          </a:xfrm>
          <a:prstGeom prst="rect">
            <a:avLst/>
          </a:prstGeom>
        </p:spPr>
      </p:pic>
      <p:sp>
        <p:nvSpPr>
          <p:cNvPr id="24" name="Text 16"/>
          <p:cNvSpPr/>
          <p:nvPr/>
        </p:nvSpPr>
        <p:spPr>
          <a:xfrm>
            <a:off x="1645920" y="4434840"/>
            <a:ext cx="2203704" cy="548640"/>
          </a:xfrm>
          <a:prstGeom prst="rect">
            <a:avLst/>
          </a:prstGeom>
          <a:noFill/>
          <a:ln/>
        </p:spPr>
        <p:txBody>
          <a:bodyPr wrap="square" lIns="0" tIns="0" rIns="0" bIns="0" rtlCol="0" anchor="ctr"/>
          <a:lstStyle/>
          <a:p>
            <a:pPr indent="0" marL="0">
              <a:buNone/>
            </a:pPr>
            <a:r>
              <a:rPr lang="en-US" sz="1350" b="1" dirty="0">
                <a:solidFill>
                  <a:srgbClr val="12312E"/>
                </a:solidFill>
                <a:latin typeface="Cambria" pitchFamily="34" charset="0"/>
                <a:ea typeface="Cambria" pitchFamily="34" charset="-122"/>
                <a:cs typeface="Cambria" pitchFamily="34" charset="-120"/>
              </a:rPr>
              <a:t>10 access dimensions</a:t>
            </a:r>
            <a:endParaRPr lang="en-US" sz="1350" dirty="0"/>
          </a:p>
        </p:txBody>
      </p:sp>
      <p:sp>
        <p:nvSpPr>
          <p:cNvPr id="25" name="Text 17"/>
          <p:cNvSpPr/>
          <p:nvPr/>
        </p:nvSpPr>
        <p:spPr>
          <a:xfrm>
            <a:off x="914400" y="5074920"/>
            <a:ext cx="2889504" cy="594360"/>
          </a:xfrm>
          <a:prstGeom prst="rect">
            <a:avLst/>
          </a:prstGeom>
          <a:noFill/>
          <a:ln/>
        </p:spPr>
        <p:txBody>
          <a:bodyPr wrap="square" lIns="0" tIns="0" rIns="0" bIns="0" rtlCol="0" anchor="ctr"/>
          <a:lstStyle/>
          <a:p>
            <a:pPr indent="0" marL="0">
              <a:lnSpc>
                <a:spcPts val="1250"/>
              </a:lnSpc>
              <a:buNone/>
            </a:pPr>
            <a:r>
              <a:rPr lang="en-US" sz="1050" dirty="0">
                <a:solidFill>
                  <a:srgbClr val="5B6E6B"/>
                </a:solidFill>
                <a:latin typeface="Calibri" pitchFamily="34" charset="0"/>
                <a:ea typeface="Calibri" pitchFamily="34" charset="-122"/>
                <a:cs typeface="Calibri" pitchFamily="34" charset="-120"/>
              </a:rPr>
              <a:t>identity, role, org, consent, purpose, context, assurance, workflow…</a:t>
            </a:r>
            <a:endParaRPr lang="en-US" sz="1050" dirty="0"/>
          </a:p>
        </p:txBody>
      </p:sp>
      <p:sp>
        <p:nvSpPr>
          <p:cNvPr id="26" name="Shape 18"/>
          <p:cNvSpPr/>
          <p:nvPr/>
        </p:nvSpPr>
        <p:spPr>
          <a:xfrm>
            <a:off x="4398264" y="4160520"/>
            <a:ext cx="3392424" cy="1600200"/>
          </a:xfrm>
          <a:prstGeom prst="roundRect">
            <a:avLst>
              <a:gd name="adj" fmla="val 5714"/>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27" name="Shape 19"/>
          <p:cNvSpPr/>
          <p:nvPr/>
        </p:nvSpPr>
        <p:spPr>
          <a:xfrm>
            <a:off x="4672584" y="4389120"/>
            <a:ext cx="658368" cy="658368"/>
          </a:xfrm>
          <a:prstGeom prst="ellipse">
            <a:avLst/>
          </a:prstGeom>
          <a:solidFill>
            <a:srgbClr val="EAF4F2"/>
          </a:solidFill>
          <a:ln/>
        </p:spPr>
      </p:sp>
      <p:pic>
        <p:nvPicPr>
          <p:cNvPr id="28" name="Image 6" descr="preencoded.png">    </p:cNvPr>
          <p:cNvPicPr>
            <a:picLocks noChangeAspect="1"/>
          </p:cNvPicPr>
          <p:nvPr/>
        </p:nvPicPr>
        <p:blipFill>
          <a:blip r:embed="rId7"/>
          <a:stretch>
            <a:fillRect/>
          </a:stretch>
        </p:blipFill>
        <p:spPr>
          <a:xfrm>
            <a:off x="4856927" y="4573463"/>
            <a:ext cx="289682" cy="289682"/>
          </a:xfrm>
          <a:prstGeom prst="rect">
            <a:avLst/>
          </a:prstGeom>
        </p:spPr>
      </p:pic>
      <p:sp>
        <p:nvSpPr>
          <p:cNvPr id="29" name="Text 20"/>
          <p:cNvSpPr/>
          <p:nvPr/>
        </p:nvSpPr>
        <p:spPr>
          <a:xfrm>
            <a:off x="5404104" y="4434840"/>
            <a:ext cx="2203704" cy="548640"/>
          </a:xfrm>
          <a:prstGeom prst="rect">
            <a:avLst/>
          </a:prstGeom>
          <a:noFill/>
          <a:ln/>
        </p:spPr>
        <p:txBody>
          <a:bodyPr wrap="square" lIns="0" tIns="0" rIns="0" bIns="0" rtlCol="0" anchor="ctr"/>
          <a:lstStyle/>
          <a:p>
            <a:pPr indent="0" marL="0">
              <a:buNone/>
            </a:pPr>
            <a:r>
              <a:rPr lang="en-US" sz="1350" b="1" dirty="0">
                <a:solidFill>
                  <a:srgbClr val="12312E"/>
                </a:solidFill>
                <a:latin typeface="Cambria" pitchFamily="34" charset="0"/>
                <a:ea typeface="Cambria" pitchFamily="34" charset="-122"/>
                <a:cs typeface="Cambria" pitchFamily="34" charset="-120"/>
              </a:rPr>
              <a:t>No PII in the shared record</a:t>
            </a:r>
            <a:endParaRPr lang="en-US" sz="1350" dirty="0"/>
          </a:p>
        </p:txBody>
      </p:sp>
      <p:sp>
        <p:nvSpPr>
          <p:cNvPr id="30" name="Text 21"/>
          <p:cNvSpPr/>
          <p:nvPr/>
        </p:nvSpPr>
        <p:spPr>
          <a:xfrm>
            <a:off x="4672584" y="5074920"/>
            <a:ext cx="2889504" cy="594360"/>
          </a:xfrm>
          <a:prstGeom prst="rect">
            <a:avLst/>
          </a:prstGeom>
          <a:noFill/>
          <a:ln/>
        </p:spPr>
        <p:txBody>
          <a:bodyPr wrap="square" lIns="0" tIns="0" rIns="0" bIns="0" rtlCol="0" anchor="ctr"/>
          <a:lstStyle/>
          <a:p>
            <a:pPr indent="0" marL="0">
              <a:lnSpc>
                <a:spcPts val="1250"/>
              </a:lnSpc>
              <a:buNone/>
            </a:pPr>
            <a:r>
              <a:rPr lang="en-US" sz="1050" dirty="0">
                <a:solidFill>
                  <a:srgbClr val="5B6E6B"/>
                </a:solidFill>
                <a:latin typeface="Calibri" pitchFamily="34" charset="0"/>
                <a:ea typeface="Calibri" pitchFamily="34" charset="-122"/>
                <a:cs typeface="Calibri" pitchFamily="34" charset="-120"/>
              </a:rPr>
              <a:t>The clinical store uses a coded person ID; names stay behind a stricter gate.</a:t>
            </a:r>
            <a:endParaRPr lang="en-US" sz="1050" dirty="0"/>
          </a:p>
        </p:txBody>
      </p:sp>
      <p:sp>
        <p:nvSpPr>
          <p:cNvPr id="31" name="Shape 22"/>
          <p:cNvSpPr/>
          <p:nvPr/>
        </p:nvSpPr>
        <p:spPr>
          <a:xfrm>
            <a:off x="8156448" y="4160520"/>
            <a:ext cx="3392424" cy="1600200"/>
          </a:xfrm>
          <a:prstGeom prst="roundRect">
            <a:avLst>
              <a:gd name="adj" fmla="val 5714"/>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32" name="Shape 23"/>
          <p:cNvSpPr/>
          <p:nvPr/>
        </p:nvSpPr>
        <p:spPr>
          <a:xfrm>
            <a:off x="8430768" y="4389120"/>
            <a:ext cx="658368" cy="658368"/>
          </a:xfrm>
          <a:prstGeom prst="ellipse">
            <a:avLst/>
          </a:prstGeom>
          <a:solidFill>
            <a:srgbClr val="EAF4F2"/>
          </a:solidFill>
          <a:ln/>
        </p:spPr>
      </p:sp>
      <p:pic>
        <p:nvPicPr>
          <p:cNvPr id="33" name="Image 7" descr="preencoded.png">    </p:cNvPr>
          <p:cNvPicPr>
            <a:picLocks noChangeAspect="1"/>
          </p:cNvPicPr>
          <p:nvPr/>
        </p:nvPicPr>
        <p:blipFill>
          <a:blip r:embed="rId8"/>
          <a:stretch>
            <a:fillRect/>
          </a:stretch>
        </p:blipFill>
        <p:spPr>
          <a:xfrm>
            <a:off x="8615111" y="4573463"/>
            <a:ext cx="289682" cy="289682"/>
          </a:xfrm>
          <a:prstGeom prst="rect">
            <a:avLst/>
          </a:prstGeom>
        </p:spPr>
      </p:pic>
      <p:sp>
        <p:nvSpPr>
          <p:cNvPr id="34" name="Text 24"/>
          <p:cNvSpPr/>
          <p:nvPr/>
        </p:nvSpPr>
        <p:spPr>
          <a:xfrm>
            <a:off x="9162288" y="4434840"/>
            <a:ext cx="2203704" cy="548640"/>
          </a:xfrm>
          <a:prstGeom prst="rect">
            <a:avLst/>
          </a:prstGeom>
          <a:noFill/>
          <a:ln/>
        </p:spPr>
        <p:txBody>
          <a:bodyPr wrap="square" lIns="0" tIns="0" rIns="0" bIns="0" rtlCol="0" anchor="ctr"/>
          <a:lstStyle/>
          <a:p>
            <a:pPr indent="0" marL="0">
              <a:buNone/>
            </a:pPr>
            <a:r>
              <a:rPr lang="en-US" sz="1350" b="1" dirty="0">
                <a:solidFill>
                  <a:srgbClr val="12312E"/>
                </a:solidFill>
                <a:latin typeface="Cambria" pitchFamily="34" charset="0"/>
                <a:ea typeface="Cambria" pitchFamily="34" charset="-122"/>
                <a:cs typeface="Cambria" pitchFamily="34" charset="-120"/>
              </a:rPr>
              <a:t>Everything is audited</a:t>
            </a:r>
            <a:endParaRPr lang="en-US" sz="1350" dirty="0"/>
          </a:p>
        </p:txBody>
      </p:sp>
      <p:sp>
        <p:nvSpPr>
          <p:cNvPr id="35" name="Text 25"/>
          <p:cNvSpPr/>
          <p:nvPr/>
        </p:nvSpPr>
        <p:spPr>
          <a:xfrm>
            <a:off x="8430768" y="5074920"/>
            <a:ext cx="2889504" cy="594360"/>
          </a:xfrm>
          <a:prstGeom prst="rect">
            <a:avLst/>
          </a:prstGeom>
          <a:noFill/>
          <a:ln/>
        </p:spPr>
        <p:txBody>
          <a:bodyPr wrap="square" lIns="0" tIns="0" rIns="0" bIns="0" rtlCol="0" anchor="ctr"/>
          <a:lstStyle/>
          <a:p>
            <a:pPr indent="0" marL="0">
              <a:lnSpc>
                <a:spcPts val="1250"/>
              </a:lnSpc>
              <a:buNone/>
            </a:pPr>
            <a:r>
              <a:rPr lang="en-US" sz="1050" dirty="0">
                <a:solidFill>
                  <a:srgbClr val="5B6E6B"/>
                </a:solidFill>
                <a:latin typeface="Calibri" pitchFamily="34" charset="0"/>
                <a:ea typeface="Calibri" pitchFamily="34" charset="-122"/>
                <a:cs typeface="Calibri" pitchFamily="34" charset="-120"/>
              </a:rPr>
              <a:t>Every meaningful action leaves a traceable trail.</a:t>
            </a:r>
            <a:endParaRPr lang="en-US" sz="1050" dirty="0"/>
          </a:p>
        </p:txBody>
      </p:sp>
      <p:sp>
        <p:nvSpPr>
          <p:cNvPr id="36" name="Text 26"/>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37" name="Text 27"/>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8"/>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0D8577"/>
                </a:solidFill>
                <a:latin typeface="Calibri" pitchFamily="34" charset="0"/>
                <a:ea typeface="Calibri" pitchFamily="34" charset="-122"/>
                <a:cs typeface="Calibri" pitchFamily="34" charset="-120"/>
              </a:rPr>
              <a:t>THE UNIFIED EXPERIENCE SHELL</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One experience — adapted to your role and context</a:t>
            </a:r>
            <a:endParaRPr lang="en-US" sz="3300" dirty="0"/>
          </a:p>
        </p:txBody>
      </p:sp>
      <p:sp>
        <p:nvSpPr>
          <p:cNvPr id="4" name="Shape 2"/>
          <p:cNvSpPr/>
          <p:nvPr/>
        </p:nvSpPr>
        <p:spPr>
          <a:xfrm>
            <a:off x="640080" y="2103120"/>
            <a:ext cx="4023360" cy="3566160"/>
          </a:xfrm>
          <a:prstGeom prst="roundRect">
            <a:avLst>
              <a:gd name="adj" fmla="val 2564"/>
            </a:avLst>
          </a:prstGeom>
          <a:solidFill>
            <a:srgbClr val="0A3B37"/>
          </a:solidFill>
          <a:ln/>
          <a:effectLst>
            <a:outerShdw sx="100000" sy="100000" kx="0" ky="0" algn="bl" rotWithShape="0" blurRad="114300" dist="38100" dir="5400000">
              <a:srgbClr val="0A3B37">
                <a:alpha val="13000"/>
              </a:srgbClr>
            </a:outerShdw>
          </a:effectLst>
        </p:spPr>
      </p:sp>
      <p:sp>
        <p:nvSpPr>
          <p:cNvPr id="5" name="Shape 3"/>
          <p:cNvSpPr/>
          <p:nvPr/>
        </p:nvSpPr>
        <p:spPr>
          <a:xfrm>
            <a:off x="1005840" y="2468880"/>
            <a:ext cx="914400" cy="914400"/>
          </a:xfrm>
          <a:prstGeom prst="ellipse">
            <a:avLst/>
          </a:prstGeom>
          <a:solidFill>
            <a:srgbClr val="E1A21A"/>
          </a:solidFill>
          <a:ln/>
        </p:spPr>
      </p:sp>
      <p:pic>
        <p:nvPicPr>
          <p:cNvPr id="6" name="Image 0" descr="preencoded.png">    </p:cNvPr>
          <p:cNvPicPr>
            <a:picLocks noChangeAspect="1"/>
          </p:cNvPicPr>
          <p:nvPr/>
        </p:nvPicPr>
        <p:blipFill>
          <a:blip r:embed="rId1"/>
          <a:stretch>
            <a:fillRect/>
          </a:stretch>
        </p:blipFill>
        <p:spPr>
          <a:xfrm>
            <a:off x="1261872" y="2724912"/>
            <a:ext cx="402336" cy="402336"/>
          </a:xfrm>
          <a:prstGeom prst="rect">
            <a:avLst/>
          </a:prstGeom>
        </p:spPr>
      </p:pic>
      <p:sp>
        <p:nvSpPr>
          <p:cNvPr id="7" name="Text 4"/>
          <p:cNvSpPr/>
          <p:nvPr/>
        </p:nvSpPr>
        <p:spPr>
          <a:xfrm>
            <a:off x="1005840" y="3520440"/>
            <a:ext cx="329184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One coherent shell</a:t>
            </a:r>
            <a:endParaRPr lang="en-US" sz="2000" dirty="0"/>
          </a:p>
        </p:txBody>
      </p:sp>
      <p:sp>
        <p:nvSpPr>
          <p:cNvPr id="8" name="Text 5"/>
          <p:cNvSpPr/>
          <p:nvPr/>
        </p:nvSpPr>
        <p:spPr>
          <a:xfrm>
            <a:off x="1005840" y="4023360"/>
            <a:ext cx="3337560" cy="1097280"/>
          </a:xfrm>
          <a:prstGeom prst="rect">
            <a:avLst/>
          </a:prstGeom>
          <a:noFill/>
          <a:ln/>
        </p:spPr>
        <p:txBody>
          <a:bodyPr wrap="square" lIns="0" tIns="0" rIns="0" bIns="0" rtlCol="0" anchor="ctr"/>
          <a:lstStyle/>
          <a:p>
            <a:pPr indent="0" marL="0">
              <a:lnSpc>
                <a:spcPts val="1700"/>
              </a:lnSpc>
              <a:buNone/>
            </a:pPr>
            <a:r>
              <a:rPr lang="en-US" sz="1300" dirty="0">
                <a:solidFill>
                  <a:srgbClr val="D7ECE7"/>
                </a:solidFill>
                <a:latin typeface="Calibri" pitchFamily="34" charset="0"/>
                <a:ea typeface="Calibri" pitchFamily="34" charset="-122"/>
                <a:cs typeface="Calibri" pitchFamily="34" charset="-120"/>
              </a:rPr>
              <a:t>Not a different portal for every programme. One learnable experience, one governed trust model underneath.</a:t>
            </a:r>
            <a:endParaRPr lang="en-US" sz="1300" dirty="0"/>
          </a:p>
        </p:txBody>
      </p:sp>
      <p:sp>
        <p:nvSpPr>
          <p:cNvPr id="9" name="Text 6"/>
          <p:cNvSpPr/>
          <p:nvPr/>
        </p:nvSpPr>
        <p:spPr>
          <a:xfrm>
            <a:off x="1005840" y="5166360"/>
            <a:ext cx="3291840" cy="365760"/>
          </a:xfrm>
          <a:prstGeom prst="rect">
            <a:avLst/>
          </a:prstGeom>
          <a:noFill/>
          <a:ln/>
        </p:spPr>
        <p:txBody>
          <a:bodyPr wrap="square" lIns="0" tIns="0" rIns="0" bIns="0" rtlCol="0" anchor="ctr"/>
          <a:lstStyle/>
          <a:p>
            <a:pPr indent="0" marL="0">
              <a:buNone/>
            </a:pPr>
            <a:r>
              <a:rPr lang="en-US" sz="1300" b="1" i="1" dirty="0">
                <a:solidFill>
                  <a:srgbClr val="5EEAD4"/>
                </a:solidFill>
                <a:latin typeface="Calibri" pitchFamily="34" charset="0"/>
                <a:ea typeface="Calibri" pitchFamily="34" charset="-122"/>
                <a:cs typeface="Calibri" pitchFamily="34" charset="-120"/>
              </a:rPr>
              <a:t>“Unified” ≠ identical</a:t>
            </a:r>
            <a:endParaRPr lang="en-US" sz="1300" dirty="0"/>
          </a:p>
        </p:txBody>
      </p:sp>
      <p:sp>
        <p:nvSpPr>
          <p:cNvPr id="10" name="Shape 7"/>
          <p:cNvSpPr/>
          <p:nvPr/>
        </p:nvSpPr>
        <p:spPr>
          <a:xfrm>
            <a:off x="4709160" y="2148840"/>
            <a:ext cx="6839712" cy="1097280"/>
          </a:xfrm>
          <a:prstGeom prst="roundRect">
            <a:avLst>
              <a:gd name="adj" fmla="val 7500"/>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1" name="Shape 8"/>
          <p:cNvSpPr/>
          <p:nvPr/>
        </p:nvSpPr>
        <p:spPr>
          <a:xfrm>
            <a:off x="4983480" y="2423160"/>
            <a:ext cx="566928" cy="566928"/>
          </a:xfrm>
          <a:prstGeom prst="ellipse">
            <a:avLst/>
          </a:prstGeom>
          <a:solidFill>
            <a:srgbClr val="EAF4F2"/>
          </a:solidFill>
          <a:ln/>
        </p:spPr>
      </p:sp>
      <p:pic>
        <p:nvPicPr>
          <p:cNvPr id="12" name="Image 1" descr="preencoded.png">    </p:cNvPr>
          <p:cNvPicPr>
            <a:picLocks noChangeAspect="1"/>
          </p:cNvPicPr>
          <p:nvPr/>
        </p:nvPicPr>
        <p:blipFill>
          <a:blip r:embed="rId2"/>
          <a:stretch>
            <a:fillRect/>
          </a:stretch>
        </p:blipFill>
        <p:spPr>
          <a:xfrm>
            <a:off x="5142220" y="2581900"/>
            <a:ext cx="249448" cy="249448"/>
          </a:xfrm>
          <a:prstGeom prst="rect">
            <a:avLst/>
          </a:prstGeom>
        </p:spPr>
      </p:pic>
      <p:sp>
        <p:nvSpPr>
          <p:cNvPr id="13" name="Text 9"/>
          <p:cNvSpPr/>
          <p:nvPr/>
        </p:nvSpPr>
        <p:spPr>
          <a:xfrm>
            <a:off x="5760720" y="2148840"/>
            <a:ext cx="5623560" cy="1097280"/>
          </a:xfrm>
          <a:prstGeom prst="rect">
            <a:avLst/>
          </a:prstGeom>
          <a:noFill/>
          <a:ln/>
        </p:spPr>
        <p:txBody>
          <a:bodyPr wrap="square" lIns="0" tIns="0" rIns="0" bIns="0" rtlCol="0" anchor="ctr"/>
          <a:lstStyle/>
          <a:p>
            <a:pPr indent="0" marL="0">
              <a:buNone/>
            </a:pPr>
            <a:r>
              <a:rPr lang="en-US" sz="1500" b="1" dirty="0">
                <a:solidFill>
                  <a:srgbClr val="12312E"/>
                </a:solidFill>
                <a:latin typeface="Calibri" pitchFamily="34" charset="0"/>
                <a:ea typeface="Calibri" pitchFamily="34" charset="-122"/>
                <a:cs typeface="Calibri" pitchFamily="34" charset="-120"/>
              </a:rPr>
              <a:t>A facility nurse  </a:t>
            </a:r>
            <a:pPr indent="0" marL="0">
              <a:buNone/>
            </a:pPr>
            <a:r>
              <a:rPr lang="en-US" sz="1500" dirty="0">
                <a:solidFill>
                  <a:srgbClr val="5B6E6B"/>
                </a:solidFill>
                <a:latin typeface="Calibri" pitchFamily="34" charset="0"/>
                <a:ea typeface="Calibri" pitchFamily="34" charset="-122"/>
                <a:cs typeface="Calibri" pitchFamily="34" charset="-120"/>
              </a:rPr>
              <a:t>sees her patients and her tasks</a:t>
            </a:r>
            <a:endParaRPr lang="en-US" sz="1500" dirty="0"/>
          </a:p>
        </p:txBody>
      </p:sp>
      <p:sp>
        <p:nvSpPr>
          <p:cNvPr id="14" name="Shape 10"/>
          <p:cNvSpPr/>
          <p:nvPr/>
        </p:nvSpPr>
        <p:spPr>
          <a:xfrm>
            <a:off x="4709160" y="3392424"/>
            <a:ext cx="6839712" cy="1097280"/>
          </a:xfrm>
          <a:prstGeom prst="roundRect">
            <a:avLst>
              <a:gd name="adj" fmla="val 7500"/>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5" name="Shape 11"/>
          <p:cNvSpPr/>
          <p:nvPr/>
        </p:nvSpPr>
        <p:spPr>
          <a:xfrm>
            <a:off x="4983480" y="3666744"/>
            <a:ext cx="566928" cy="566928"/>
          </a:xfrm>
          <a:prstGeom prst="ellipse">
            <a:avLst/>
          </a:prstGeom>
          <a:solidFill>
            <a:srgbClr val="EAF4F2"/>
          </a:solidFill>
          <a:ln/>
        </p:spPr>
      </p:sp>
      <p:pic>
        <p:nvPicPr>
          <p:cNvPr id="16" name="Image 2" descr="preencoded.png">    </p:cNvPr>
          <p:cNvPicPr>
            <a:picLocks noChangeAspect="1"/>
          </p:cNvPicPr>
          <p:nvPr/>
        </p:nvPicPr>
        <p:blipFill>
          <a:blip r:embed="rId3"/>
          <a:stretch>
            <a:fillRect/>
          </a:stretch>
        </p:blipFill>
        <p:spPr>
          <a:xfrm>
            <a:off x="5142220" y="3825484"/>
            <a:ext cx="249448" cy="249448"/>
          </a:xfrm>
          <a:prstGeom prst="rect">
            <a:avLst/>
          </a:prstGeom>
        </p:spPr>
      </p:pic>
      <p:sp>
        <p:nvSpPr>
          <p:cNvPr id="17" name="Text 12"/>
          <p:cNvSpPr/>
          <p:nvPr/>
        </p:nvSpPr>
        <p:spPr>
          <a:xfrm>
            <a:off x="5760720" y="3392424"/>
            <a:ext cx="5623560" cy="1097280"/>
          </a:xfrm>
          <a:prstGeom prst="rect">
            <a:avLst/>
          </a:prstGeom>
          <a:noFill/>
          <a:ln/>
        </p:spPr>
        <p:txBody>
          <a:bodyPr wrap="square" lIns="0" tIns="0" rIns="0" bIns="0" rtlCol="0" anchor="ctr"/>
          <a:lstStyle/>
          <a:p>
            <a:pPr indent="0" marL="0">
              <a:buNone/>
            </a:pPr>
            <a:r>
              <a:rPr lang="en-US" sz="1500" b="1" dirty="0">
                <a:solidFill>
                  <a:srgbClr val="12312E"/>
                </a:solidFill>
                <a:latin typeface="Calibri" pitchFamily="34" charset="0"/>
                <a:ea typeface="Calibri" pitchFamily="34" charset="-122"/>
                <a:cs typeface="Calibri" pitchFamily="34" charset="-120"/>
              </a:rPr>
              <a:t>A district manager  </a:t>
            </a:r>
            <a:pPr indent="0" marL="0">
              <a:buNone/>
            </a:pPr>
            <a:r>
              <a:rPr lang="en-US" sz="1500" dirty="0">
                <a:solidFill>
                  <a:srgbClr val="5B6E6B"/>
                </a:solidFill>
                <a:latin typeface="Calibri" pitchFamily="34" charset="0"/>
                <a:ea typeface="Calibri" pitchFamily="34" charset="-122"/>
                <a:cs typeface="Calibri" pitchFamily="34" charset="-120"/>
              </a:rPr>
              <a:t>sees her facilities and indicators</a:t>
            </a:r>
            <a:endParaRPr lang="en-US" sz="1500" dirty="0"/>
          </a:p>
        </p:txBody>
      </p:sp>
      <p:sp>
        <p:nvSpPr>
          <p:cNvPr id="18" name="Shape 13"/>
          <p:cNvSpPr/>
          <p:nvPr/>
        </p:nvSpPr>
        <p:spPr>
          <a:xfrm>
            <a:off x="4709160" y="4636008"/>
            <a:ext cx="6839712" cy="1097280"/>
          </a:xfrm>
          <a:prstGeom prst="roundRect">
            <a:avLst>
              <a:gd name="adj" fmla="val 7500"/>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9" name="Shape 14"/>
          <p:cNvSpPr/>
          <p:nvPr/>
        </p:nvSpPr>
        <p:spPr>
          <a:xfrm>
            <a:off x="4983480" y="4910328"/>
            <a:ext cx="566928" cy="566928"/>
          </a:xfrm>
          <a:prstGeom prst="ellipse">
            <a:avLst/>
          </a:prstGeom>
          <a:solidFill>
            <a:srgbClr val="EAF4F2"/>
          </a:solidFill>
          <a:ln/>
        </p:spPr>
      </p:sp>
      <p:pic>
        <p:nvPicPr>
          <p:cNvPr id="20" name="Image 3" descr="preencoded.png">    </p:cNvPr>
          <p:cNvPicPr>
            <a:picLocks noChangeAspect="1"/>
          </p:cNvPicPr>
          <p:nvPr/>
        </p:nvPicPr>
        <p:blipFill>
          <a:blip r:embed="rId4"/>
          <a:stretch>
            <a:fillRect/>
          </a:stretch>
        </p:blipFill>
        <p:spPr>
          <a:xfrm>
            <a:off x="5142220" y="5069068"/>
            <a:ext cx="249448" cy="249448"/>
          </a:xfrm>
          <a:prstGeom prst="rect">
            <a:avLst/>
          </a:prstGeom>
        </p:spPr>
      </p:pic>
      <p:sp>
        <p:nvSpPr>
          <p:cNvPr id="21" name="Text 15"/>
          <p:cNvSpPr/>
          <p:nvPr/>
        </p:nvSpPr>
        <p:spPr>
          <a:xfrm>
            <a:off x="5760720" y="4636008"/>
            <a:ext cx="5623560" cy="1097280"/>
          </a:xfrm>
          <a:prstGeom prst="rect">
            <a:avLst/>
          </a:prstGeom>
          <a:noFill/>
          <a:ln/>
        </p:spPr>
        <p:txBody>
          <a:bodyPr wrap="square" lIns="0" tIns="0" rIns="0" bIns="0" rtlCol="0" anchor="ctr"/>
          <a:lstStyle/>
          <a:p>
            <a:pPr indent="0" marL="0">
              <a:buNone/>
            </a:pPr>
            <a:r>
              <a:rPr lang="en-US" sz="1500" b="1" dirty="0">
                <a:solidFill>
                  <a:srgbClr val="12312E"/>
                </a:solidFill>
                <a:latin typeface="Calibri" pitchFamily="34" charset="0"/>
                <a:ea typeface="Calibri" pitchFamily="34" charset="-122"/>
                <a:cs typeface="Calibri" pitchFamily="34" charset="-120"/>
              </a:rPr>
              <a:t>A partner  </a:t>
            </a:r>
            <a:pPr indent="0" marL="0">
              <a:buNone/>
            </a:pPr>
            <a:r>
              <a:rPr lang="en-US" sz="1500" dirty="0">
                <a:solidFill>
                  <a:srgbClr val="5B6E6B"/>
                </a:solidFill>
                <a:latin typeface="Calibri" pitchFamily="34" charset="0"/>
                <a:ea typeface="Calibri" pitchFamily="34" charset="-122"/>
                <a:cs typeface="Calibri" pitchFamily="34" charset="-120"/>
              </a:rPr>
              <a:t>sees only the slice they're authorised for</a:t>
            </a:r>
            <a:endParaRPr lang="en-US" sz="1500" dirty="0"/>
          </a:p>
        </p:txBody>
      </p:sp>
      <p:sp>
        <p:nvSpPr>
          <p:cNvPr id="22" name="Text 16"/>
          <p:cNvSpPr/>
          <p:nvPr/>
        </p:nvSpPr>
        <p:spPr>
          <a:xfrm>
            <a:off x="4709160" y="5870448"/>
            <a:ext cx="6839712" cy="365760"/>
          </a:xfrm>
          <a:prstGeom prst="rect">
            <a:avLst/>
          </a:prstGeom>
          <a:noFill/>
          <a:ln/>
        </p:spPr>
        <p:txBody>
          <a:bodyPr wrap="square" lIns="0" tIns="0" rIns="0" bIns="0" rtlCol="0" anchor="ctr"/>
          <a:lstStyle/>
          <a:p>
            <a:pPr indent="0" marL="0">
              <a:buNone/>
            </a:pPr>
            <a:r>
              <a:rPr lang="en-US" sz="1200" i="1" dirty="0">
                <a:solidFill>
                  <a:srgbClr val="5B6E6B"/>
                </a:solidFill>
                <a:latin typeface="Calibri" pitchFamily="34" charset="0"/>
                <a:ea typeface="Calibri" pitchFamily="34" charset="-122"/>
                <a:cs typeface="Calibri" pitchFamily="34" charset="-120"/>
              </a:rPr>
              <a:t>Same foundation, same rules, tailored view — so training is easier and moving between roles doesn't mean a new system.</a:t>
            </a:r>
            <a:endParaRPr lang="en-US" sz="1200" dirty="0"/>
          </a:p>
        </p:txBody>
      </p:sp>
      <p:sp>
        <p:nvSpPr>
          <p:cNvPr id="23" name="Text 17"/>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24" name="Text 18"/>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DB5A34"/>
                </a:solidFill>
                <a:latin typeface="Calibri" pitchFamily="34" charset="0"/>
                <a:ea typeface="Calibri" pitchFamily="34" charset="-122"/>
                <a:cs typeface="Calibri" pitchFamily="34" charset="-120"/>
              </a:rPr>
              <a:t>MORE THAN CLINICAL</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A consumer-grade wellness layer — with the right rigour</a:t>
            </a:r>
            <a:endParaRPr lang="en-US" sz="3300" dirty="0"/>
          </a:p>
        </p:txBody>
      </p:sp>
      <p:sp>
        <p:nvSpPr>
          <p:cNvPr id="4" name="Shape 2"/>
          <p:cNvSpPr/>
          <p:nvPr/>
        </p:nvSpPr>
        <p:spPr>
          <a:xfrm>
            <a:off x="640080" y="2057400"/>
            <a:ext cx="2452878" cy="1234440"/>
          </a:xfrm>
          <a:prstGeom prst="roundRect">
            <a:avLst>
              <a:gd name="adj" fmla="val 7407"/>
            </a:avLst>
          </a:prstGeom>
          <a:solidFill>
            <a:srgbClr val="FFFFFF"/>
          </a:solidFill>
          <a:ln w="12700">
            <a:solidFill>
              <a:srgbClr val="EAD9B8"/>
            </a:solidFill>
            <a:prstDash val="solid"/>
          </a:ln>
          <a:effectLst>
            <a:outerShdw sx="100000" sy="100000" kx="0" ky="0" algn="bl" rotWithShape="0" blurRad="114300" dist="38100" dir="5400000">
              <a:srgbClr val="0A3B37">
                <a:alpha val="13000"/>
              </a:srgbClr>
            </a:outerShdw>
          </a:effectLst>
        </p:spPr>
      </p:sp>
      <p:sp>
        <p:nvSpPr>
          <p:cNvPr id="5" name="Shape 3"/>
          <p:cNvSpPr/>
          <p:nvPr/>
        </p:nvSpPr>
        <p:spPr>
          <a:xfrm>
            <a:off x="1500759" y="2240280"/>
            <a:ext cx="731520" cy="731520"/>
          </a:xfrm>
          <a:prstGeom prst="ellipse">
            <a:avLst/>
          </a:prstGeom>
          <a:solidFill>
            <a:srgbClr val="FCEFD6"/>
          </a:solidFill>
          <a:ln/>
        </p:spPr>
      </p:sp>
      <p:pic>
        <p:nvPicPr>
          <p:cNvPr id="6" name="Image 0" descr="preencoded.png">    </p:cNvPr>
          <p:cNvPicPr>
            <a:picLocks noChangeAspect="1"/>
          </p:cNvPicPr>
          <p:nvPr/>
        </p:nvPicPr>
        <p:blipFill>
          <a:blip r:embed="rId1"/>
          <a:stretch>
            <a:fillRect/>
          </a:stretch>
        </p:blipFill>
        <p:spPr>
          <a:xfrm>
            <a:off x="1705585" y="2445106"/>
            <a:ext cx="321869" cy="321869"/>
          </a:xfrm>
          <a:prstGeom prst="rect">
            <a:avLst/>
          </a:prstGeom>
        </p:spPr>
      </p:pic>
      <p:sp>
        <p:nvSpPr>
          <p:cNvPr id="7" name="Text 4"/>
          <p:cNvSpPr/>
          <p:nvPr/>
        </p:nvSpPr>
        <p:spPr>
          <a:xfrm>
            <a:off x="640080" y="2999232"/>
            <a:ext cx="2452878" cy="274320"/>
          </a:xfrm>
          <a:prstGeom prst="rect">
            <a:avLst/>
          </a:prstGeom>
          <a:noFill/>
          <a:ln/>
        </p:spPr>
        <p:txBody>
          <a:bodyPr wrap="square" lIns="0" tIns="0" rIns="0" bIns="0" rtlCol="0" anchor="ctr"/>
          <a:lstStyle/>
          <a:p>
            <a:pPr algn="ctr" indent="0" marL="0">
              <a:buNone/>
            </a:pPr>
            <a:r>
              <a:rPr lang="en-US" sz="1350" b="1" dirty="0">
                <a:solidFill>
                  <a:srgbClr val="12312E"/>
                </a:solidFill>
                <a:latin typeface="Cambria" pitchFamily="34" charset="0"/>
                <a:ea typeface="Cambria" pitchFamily="34" charset="-122"/>
                <a:cs typeface="Cambria" pitchFamily="34" charset="-120"/>
              </a:rPr>
              <a:t>Diet</a:t>
            </a:r>
            <a:endParaRPr lang="en-US" sz="1350" dirty="0"/>
          </a:p>
        </p:txBody>
      </p:sp>
      <p:sp>
        <p:nvSpPr>
          <p:cNvPr id="8" name="Shape 5"/>
          <p:cNvSpPr/>
          <p:nvPr/>
        </p:nvSpPr>
        <p:spPr>
          <a:xfrm>
            <a:off x="3458718" y="2057400"/>
            <a:ext cx="2452878" cy="1234440"/>
          </a:xfrm>
          <a:prstGeom prst="roundRect">
            <a:avLst>
              <a:gd name="adj" fmla="val 7407"/>
            </a:avLst>
          </a:prstGeom>
          <a:solidFill>
            <a:srgbClr val="FFFFFF"/>
          </a:solidFill>
          <a:ln w="12700">
            <a:solidFill>
              <a:srgbClr val="EAD9B8"/>
            </a:solidFill>
            <a:prstDash val="solid"/>
          </a:ln>
          <a:effectLst>
            <a:outerShdw sx="100000" sy="100000" kx="0" ky="0" algn="bl" rotWithShape="0" blurRad="114300" dist="38100" dir="5400000">
              <a:srgbClr val="0A3B37">
                <a:alpha val="13000"/>
              </a:srgbClr>
            </a:outerShdw>
          </a:effectLst>
        </p:spPr>
      </p:sp>
      <p:sp>
        <p:nvSpPr>
          <p:cNvPr id="9" name="Shape 6"/>
          <p:cNvSpPr/>
          <p:nvPr/>
        </p:nvSpPr>
        <p:spPr>
          <a:xfrm>
            <a:off x="4319397" y="2240280"/>
            <a:ext cx="731520" cy="731520"/>
          </a:xfrm>
          <a:prstGeom prst="ellipse">
            <a:avLst/>
          </a:prstGeom>
          <a:solidFill>
            <a:srgbClr val="FCEFD6"/>
          </a:solidFill>
          <a:ln/>
        </p:spPr>
      </p:sp>
      <p:pic>
        <p:nvPicPr>
          <p:cNvPr id="10" name="Image 1" descr="preencoded.png">    </p:cNvPr>
          <p:cNvPicPr>
            <a:picLocks noChangeAspect="1"/>
          </p:cNvPicPr>
          <p:nvPr/>
        </p:nvPicPr>
        <p:blipFill>
          <a:blip r:embed="rId2"/>
          <a:stretch>
            <a:fillRect/>
          </a:stretch>
        </p:blipFill>
        <p:spPr>
          <a:xfrm>
            <a:off x="4524223" y="2445106"/>
            <a:ext cx="321869" cy="321869"/>
          </a:xfrm>
          <a:prstGeom prst="rect">
            <a:avLst/>
          </a:prstGeom>
        </p:spPr>
      </p:pic>
      <p:sp>
        <p:nvSpPr>
          <p:cNvPr id="11" name="Text 7"/>
          <p:cNvSpPr/>
          <p:nvPr/>
        </p:nvSpPr>
        <p:spPr>
          <a:xfrm>
            <a:off x="3458718" y="2999232"/>
            <a:ext cx="2452878" cy="274320"/>
          </a:xfrm>
          <a:prstGeom prst="rect">
            <a:avLst/>
          </a:prstGeom>
          <a:noFill/>
          <a:ln/>
        </p:spPr>
        <p:txBody>
          <a:bodyPr wrap="square" lIns="0" tIns="0" rIns="0" bIns="0" rtlCol="0" anchor="ctr"/>
          <a:lstStyle/>
          <a:p>
            <a:pPr algn="ctr" indent="0" marL="0">
              <a:buNone/>
            </a:pPr>
            <a:r>
              <a:rPr lang="en-US" sz="1350" b="1" dirty="0">
                <a:solidFill>
                  <a:srgbClr val="12312E"/>
                </a:solidFill>
                <a:latin typeface="Cambria" pitchFamily="34" charset="0"/>
                <a:ea typeface="Cambria" pitchFamily="34" charset="-122"/>
                <a:cs typeface="Cambria" pitchFamily="34" charset="-120"/>
              </a:rPr>
              <a:t>Sleep</a:t>
            </a:r>
            <a:endParaRPr lang="en-US" sz="1350" dirty="0"/>
          </a:p>
        </p:txBody>
      </p:sp>
      <p:sp>
        <p:nvSpPr>
          <p:cNvPr id="12" name="Shape 8"/>
          <p:cNvSpPr/>
          <p:nvPr/>
        </p:nvSpPr>
        <p:spPr>
          <a:xfrm>
            <a:off x="6277356" y="2057400"/>
            <a:ext cx="2452878" cy="1234440"/>
          </a:xfrm>
          <a:prstGeom prst="roundRect">
            <a:avLst>
              <a:gd name="adj" fmla="val 7407"/>
            </a:avLst>
          </a:prstGeom>
          <a:solidFill>
            <a:srgbClr val="FFFFFF"/>
          </a:solidFill>
          <a:ln w="12700">
            <a:solidFill>
              <a:srgbClr val="EAD9B8"/>
            </a:solidFill>
            <a:prstDash val="solid"/>
          </a:ln>
          <a:effectLst>
            <a:outerShdw sx="100000" sy="100000" kx="0" ky="0" algn="bl" rotWithShape="0" blurRad="114300" dist="38100" dir="5400000">
              <a:srgbClr val="0A3B37">
                <a:alpha val="13000"/>
              </a:srgbClr>
            </a:outerShdw>
          </a:effectLst>
        </p:spPr>
      </p:sp>
      <p:sp>
        <p:nvSpPr>
          <p:cNvPr id="13" name="Shape 9"/>
          <p:cNvSpPr/>
          <p:nvPr/>
        </p:nvSpPr>
        <p:spPr>
          <a:xfrm>
            <a:off x="7138035" y="2240280"/>
            <a:ext cx="731520" cy="731520"/>
          </a:xfrm>
          <a:prstGeom prst="ellipse">
            <a:avLst/>
          </a:prstGeom>
          <a:solidFill>
            <a:srgbClr val="FCEFD6"/>
          </a:solidFill>
          <a:ln/>
        </p:spPr>
      </p:sp>
      <p:pic>
        <p:nvPicPr>
          <p:cNvPr id="14" name="Image 2" descr="preencoded.png">    </p:cNvPr>
          <p:cNvPicPr>
            <a:picLocks noChangeAspect="1"/>
          </p:cNvPicPr>
          <p:nvPr/>
        </p:nvPicPr>
        <p:blipFill>
          <a:blip r:embed="rId3"/>
          <a:stretch>
            <a:fillRect/>
          </a:stretch>
        </p:blipFill>
        <p:spPr>
          <a:xfrm>
            <a:off x="7342861" y="2445106"/>
            <a:ext cx="321869" cy="321869"/>
          </a:xfrm>
          <a:prstGeom prst="rect">
            <a:avLst/>
          </a:prstGeom>
        </p:spPr>
      </p:pic>
      <p:sp>
        <p:nvSpPr>
          <p:cNvPr id="15" name="Text 10"/>
          <p:cNvSpPr/>
          <p:nvPr/>
        </p:nvSpPr>
        <p:spPr>
          <a:xfrm>
            <a:off x="6277356" y="2999232"/>
            <a:ext cx="2452878" cy="274320"/>
          </a:xfrm>
          <a:prstGeom prst="rect">
            <a:avLst/>
          </a:prstGeom>
          <a:noFill/>
          <a:ln/>
        </p:spPr>
        <p:txBody>
          <a:bodyPr wrap="square" lIns="0" tIns="0" rIns="0" bIns="0" rtlCol="0" anchor="ctr"/>
          <a:lstStyle/>
          <a:p>
            <a:pPr algn="ctr" indent="0" marL="0">
              <a:buNone/>
            </a:pPr>
            <a:r>
              <a:rPr lang="en-US" sz="1350" b="1" dirty="0">
                <a:solidFill>
                  <a:srgbClr val="12312E"/>
                </a:solidFill>
                <a:latin typeface="Cambria" pitchFamily="34" charset="0"/>
                <a:ea typeface="Cambria" pitchFamily="34" charset="-122"/>
                <a:cs typeface="Cambria" pitchFamily="34" charset="-120"/>
              </a:rPr>
              <a:t>Fitness</a:t>
            </a:r>
            <a:endParaRPr lang="en-US" sz="1350" dirty="0"/>
          </a:p>
        </p:txBody>
      </p:sp>
      <p:sp>
        <p:nvSpPr>
          <p:cNvPr id="16" name="Shape 11"/>
          <p:cNvSpPr/>
          <p:nvPr/>
        </p:nvSpPr>
        <p:spPr>
          <a:xfrm>
            <a:off x="9095994" y="2057400"/>
            <a:ext cx="2452878" cy="1234440"/>
          </a:xfrm>
          <a:prstGeom prst="roundRect">
            <a:avLst>
              <a:gd name="adj" fmla="val 7407"/>
            </a:avLst>
          </a:prstGeom>
          <a:solidFill>
            <a:srgbClr val="FFFFFF"/>
          </a:solidFill>
          <a:ln w="12700">
            <a:solidFill>
              <a:srgbClr val="EAD9B8"/>
            </a:solidFill>
            <a:prstDash val="solid"/>
          </a:ln>
          <a:effectLst>
            <a:outerShdw sx="100000" sy="100000" kx="0" ky="0" algn="bl" rotWithShape="0" blurRad="114300" dist="38100" dir="5400000">
              <a:srgbClr val="0A3B37">
                <a:alpha val="13000"/>
              </a:srgbClr>
            </a:outerShdw>
          </a:effectLst>
        </p:spPr>
      </p:sp>
      <p:sp>
        <p:nvSpPr>
          <p:cNvPr id="17" name="Shape 12"/>
          <p:cNvSpPr/>
          <p:nvPr/>
        </p:nvSpPr>
        <p:spPr>
          <a:xfrm>
            <a:off x="9956673" y="2240280"/>
            <a:ext cx="731520" cy="731520"/>
          </a:xfrm>
          <a:prstGeom prst="ellipse">
            <a:avLst/>
          </a:prstGeom>
          <a:solidFill>
            <a:srgbClr val="FCEFD6"/>
          </a:solidFill>
          <a:ln/>
        </p:spPr>
      </p:sp>
      <p:pic>
        <p:nvPicPr>
          <p:cNvPr id="18" name="Image 3" descr="preencoded.png">    </p:cNvPr>
          <p:cNvPicPr>
            <a:picLocks noChangeAspect="1"/>
          </p:cNvPicPr>
          <p:nvPr/>
        </p:nvPicPr>
        <p:blipFill>
          <a:blip r:embed="rId4"/>
          <a:stretch>
            <a:fillRect/>
          </a:stretch>
        </p:blipFill>
        <p:spPr>
          <a:xfrm>
            <a:off x="10161499" y="2445106"/>
            <a:ext cx="321869" cy="321869"/>
          </a:xfrm>
          <a:prstGeom prst="rect">
            <a:avLst/>
          </a:prstGeom>
        </p:spPr>
      </p:pic>
      <p:sp>
        <p:nvSpPr>
          <p:cNvPr id="19" name="Text 13"/>
          <p:cNvSpPr/>
          <p:nvPr/>
        </p:nvSpPr>
        <p:spPr>
          <a:xfrm>
            <a:off x="9095994" y="2999232"/>
            <a:ext cx="2452878" cy="274320"/>
          </a:xfrm>
          <a:prstGeom prst="rect">
            <a:avLst/>
          </a:prstGeom>
          <a:noFill/>
          <a:ln/>
        </p:spPr>
        <p:txBody>
          <a:bodyPr wrap="square" lIns="0" tIns="0" rIns="0" bIns="0" rtlCol="0" anchor="ctr"/>
          <a:lstStyle/>
          <a:p>
            <a:pPr algn="ctr" indent="0" marL="0">
              <a:buNone/>
            </a:pPr>
            <a:r>
              <a:rPr lang="en-US" sz="1350" b="1" dirty="0">
                <a:solidFill>
                  <a:srgbClr val="12312E"/>
                </a:solidFill>
                <a:latin typeface="Cambria" pitchFamily="34" charset="0"/>
                <a:ea typeface="Cambria" pitchFamily="34" charset="-122"/>
                <a:cs typeface="Cambria" pitchFamily="34" charset="-120"/>
              </a:rPr>
              <a:t>Clubs &amp; coaching</a:t>
            </a:r>
            <a:endParaRPr lang="en-US" sz="1350" dirty="0"/>
          </a:p>
        </p:txBody>
      </p:sp>
      <p:sp>
        <p:nvSpPr>
          <p:cNvPr id="20" name="Text 14"/>
          <p:cNvSpPr/>
          <p:nvPr/>
        </p:nvSpPr>
        <p:spPr>
          <a:xfrm>
            <a:off x="640080" y="3611880"/>
            <a:ext cx="5486400" cy="320040"/>
          </a:xfrm>
          <a:prstGeom prst="rect">
            <a:avLst/>
          </a:prstGeom>
          <a:noFill/>
          <a:ln/>
        </p:spPr>
        <p:txBody>
          <a:bodyPr wrap="square" lIns="0" tIns="0" rIns="0" bIns="0" rtlCol="0" anchor="ctr"/>
          <a:lstStyle/>
          <a:p>
            <a:pPr indent="0" marL="0">
              <a:buNone/>
            </a:pPr>
            <a:r>
              <a:rPr lang="en-US" sz="1250" b="1" spc="200" kern="0" dirty="0">
                <a:solidFill>
                  <a:srgbClr val="DB5A34"/>
                </a:solidFill>
                <a:latin typeface="Calibri" pitchFamily="34" charset="0"/>
                <a:ea typeface="Calibri" pitchFamily="34" charset="-122"/>
                <a:cs typeface="Calibri" pitchFamily="34" charset="-120"/>
              </a:rPr>
              <a:t>GRADUATED FRICTION</a:t>
            </a:r>
            <a:endParaRPr lang="en-US" sz="1250" dirty="0"/>
          </a:p>
        </p:txBody>
      </p:sp>
      <p:sp>
        <p:nvSpPr>
          <p:cNvPr id="21" name="Shape 15"/>
          <p:cNvSpPr/>
          <p:nvPr/>
        </p:nvSpPr>
        <p:spPr>
          <a:xfrm>
            <a:off x="640080" y="4069080"/>
            <a:ext cx="1836420" cy="548640"/>
          </a:xfrm>
          <a:prstGeom prst="rect">
            <a:avLst/>
          </a:prstGeom>
          <a:solidFill>
            <a:srgbClr val="14B8A6"/>
          </a:solidFill>
          <a:ln/>
        </p:spPr>
      </p:sp>
      <p:sp>
        <p:nvSpPr>
          <p:cNvPr id="22" name="Shape 16"/>
          <p:cNvSpPr/>
          <p:nvPr/>
        </p:nvSpPr>
        <p:spPr>
          <a:xfrm>
            <a:off x="2458212" y="4069080"/>
            <a:ext cx="1836420" cy="548640"/>
          </a:xfrm>
          <a:prstGeom prst="rect">
            <a:avLst/>
          </a:prstGeom>
          <a:solidFill>
            <a:srgbClr val="3FB09A"/>
          </a:solidFill>
          <a:ln/>
        </p:spPr>
      </p:sp>
      <p:sp>
        <p:nvSpPr>
          <p:cNvPr id="23" name="Shape 17"/>
          <p:cNvSpPr/>
          <p:nvPr/>
        </p:nvSpPr>
        <p:spPr>
          <a:xfrm>
            <a:off x="4276344" y="4069080"/>
            <a:ext cx="1836420" cy="548640"/>
          </a:xfrm>
          <a:prstGeom prst="rect">
            <a:avLst/>
          </a:prstGeom>
          <a:solidFill>
            <a:srgbClr val="6BA97E"/>
          </a:solidFill>
          <a:ln/>
        </p:spPr>
      </p:sp>
      <p:sp>
        <p:nvSpPr>
          <p:cNvPr id="24" name="Shape 18"/>
          <p:cNvSpPr/>
          <p:nvPr/>
        </p:nvSpPr>
        <p:spPr>
          <a:xfrm>
            <a:off x="6094476" y="4069080"/>
            <a:ext cx="1836420" cy="548640"/>
          </a:xfrm>
          <a:prstGeom prst="rect">
            <a:avLst/>
          </a:prstGeom>
          <a:solidFill>
            <a:srgbClr val="C79A3E"/>
          </a:solidFill>
          <a:ln/>
        </p:spPr>
      </p:sp>
      <p:sp>
        <p:nvSpPr>
          <p:cNvPr id="25" name="Shape 19"/>
          <p:cNvSpPr/>
          <p:nvPr/>
        </p:nvSpPr>
        <p:spPr>
          <a:xfrm>
            <a:off x="7912608" y="4069080"/>
            <a:ext cx="1836420" cy="548640"/>
          </a:xfrm>
          <a:prstGeom prst="rect">
            <a:avLst/>
          </a:prstGeom>
          <a:solidFill>
            <a:srgbClr val="D97A34"/>
          </a:solidFill>
          <a:ln/>
        </p:spPr>
      </p:sp>
      <p:sp>
        <p:nvSpPr>
          <p:cNvPr id="26" name="Shape 20"/>
          <p:cNvSpPr/>
          <p:nvPr/>
        </p:nvSpPr>
        <p:spPr>
          <a:xfrm>
            <a:off x="9730740" y="4069080"/>
            <a:ext cx="1836420" cy="548640"/>
          </a:xfrm>
          <a:prstGeom prst="rect">
            <a:avLst/>
          </a:prstGeom>
          <a:solidFill>
            <a:srgbClr val="DB5A34"/>
          </a:solidFill>
          <a:ln/>
        </p:spPr>
      </p:sp>
      <p:sp>
        <p:nvSpPr>
          <p:cNvPr id="27" name="Text 21"/>
          <p:cNvSpPr/>
          <p:nvPr/>
        </p:nvSpPr>
        <p:spPr>
          <a:xfrm>
            <a:off x="777240" y="4178808"/>
            <a:ext cx="1828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MINIMAL</a:t>
            </a:r>
            <a:endParaRPr lang="en-US" sz="1200" dirty="0"/>
          </a:p>
        </p:txBody>
      </p:sp>
      <p:sp>
        <p:nvSpPr>
          <p:cNvPr id="28" name="Text 22"/>
          <p:cNvSpPr/>
          <p:nvPr/>
        </p:nvSpPr>
        <p:spPr>
          <a:xfrm>
            <a:off x="9582912" y="4178808"/>
            <a:ext cx="1828800" cy="329184"/>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MAXIMUM</a:t>
            </a:r>
            <a:endParaRPr lang="en-US" sz="1200" dirty="0"/>
          </a:p>
        </p:txBody>
      </p:sp>
      <p:sp>
        <p:nvSpPr>
          <p:cNvPr id="29" name="Shape 23"/>
          <p:cNvSpPr/>
          <p:nvPr/>
        </p:nvSpPr>
        <p:spPr>
          <a:xfrm>
            <a:off x="640080" y="4892040"/>
            <a:ext cx="2743200" cy="868680"/>
          </a:xfrm>
          <a:prstGeom prst="roundRect">
            <a:avLst>
              <a:gd name="adj" fmla="val 10526"/>
            </a:avLst>
          </a:prstGeom>
          <a:solidFill>
            <a:srgbClr val="FFFFFF"/>
          </a:solidFill>
          <a:ln w="19050">
            <a:solidFill>
              <a:srgbClr val="14B8A6"/>
            </a:solidFill>
            <a:prstDash val="solid"/>
          </a:ln>
          <a:effectLst>
            <a:outerShdw sx="100000" sy="100000" kx="0" ky="0" algn="bl" rotWithShape="0" blurRad="114300" dist="38100" dir="5400000">
              <a:srgbClr val="0A3B37">
                <a:alpha val="13000"/>
              </a:srgbClr>
            </a:outerShdw>
          </a:effectLst>
        </p:spPr>
      </p:sp>
      <p:sp>
        <p:nvSpPr>
          <p:cNvPr id="30" name="Text 24"/>
          <p:cNvSpPr/>
          <p:nvPr/>
        </p:nvSpPr>
        <p:spPr>
          <a:xfrm>
            <a:off x="822960" y="4983480"/>
            <a:ext cx="2423160" cy="320040"/>
          </a:xfrm>
          <a:prstGeom prst="rect">
            <a:avLst/>
          </a:prstGeom>
          <a:noFill/>
          <a:ln/>
        </p:spPr>
        <p:txBody>
          <a:bodyPr wrap="square" lIns="0" tIns="0" rIns="0" bIns="0" rtlCol="0" anchor="ctr"/>
          <a:lstStyle/>
          <a:p>
            <a:pPr indent="0" marL="0">
              <a:buNone/>
            </a:pPr>
            <a:r>
              <a:rPr lang="en-US" sz="1250" b="1" dirty="0">
                <a:solidFill>
                  <a:srgbClr val="12312E"/>
                </a:solidFill>
                <a:latin typeface="Cambria" pitchFamily="34" charset="0"/>
                <a:ea typeface="Cambria" pitchFamily="34" charset="-122"/>
                <a:cs typeface="Cambria" pitchFamily="34" charset="-120"/>
              </a:rPr>
              <a:t>Wellness &amp; search</a:t>
            </a:r>
            <a:endParaRPr lang="en-US" sz="1250" dirty="0"/>
          </a:p>
        </p:txBody>
      </p:sp>
      <p:sp>
        <p:nvSpPr>
          <p:cNvPr id="31" name="Text 25"/>
          <p:cNvSpPr/>
          <p:nvPr/>
        </p:nvSpPr>
        <p:spPr>
          <a:xfrm>
            <a:off x="822960" y="5303520"/>
            <a:ext cx="2423160" cy="365760"/>
          </a:xfrm>
          <a:prstGeom prst="rect">
            <a:avLst/>
          </a:prstGeom>
          <a:noFill/>
          <a:ln/>
        </p:spPr>
        <p:txBody>
          <a:bodyPr wrap="square" lIns="0" tIns="0" rIns="0" bIns="0" rtlCol="0" anchor="ctr"/>
          <a:lstStyle/>
          <a:p>
            <a:pPr indent="0" marL="0">
              <a:buNone/>
            </a:pPr>
            <a:r>
              <a:rPr lang="en-US" sz="1050" i="1" dirty="0">
                <a:solidFill>
                  <a:srgbClr val="14B8A6"/>
                </a:solidFill>
                <a:latin typeface="Calibri" pitchFamily="34" charset="0"/>
                <a:ea typeface="Calibri" pitchFamily="34" charset="-122"/>
                <a:cs typeface="Calibri" pitchFamily="34" charset="-120"/>
              </a:rPr>
              <a:t>light-touch, effortless</a:t>
            </a:r>
            <a:endParaRPr lang="en-US" sz="1050" dirty="0"/>
          </a:p>
        </p:txBody>
      </p:sp>
      <p:sp>
        <p:nvSpPr>
          <p:cNvPr id="32" name="Shape 26"/>
          <p:cNvSpPr/>
          <p:nvPr/>
        </p:nvSpPr>
        <p:spPr>
          <a:xfrm>
            <a:off x="4722876" y="4892040"/>
            <a:ext cx="2743200" cy="868680"/>
          </a:xfrm>
          <a:prstGeom prst="roundRect">
            <a:avLst>
              <a:gd name="adj" fmla="val 10526"/>
            </a:avLst>
          </a:prstGeom>
          <a:solidFill>
            <a:srgbClr val="FFFFFF"/>
          </a:solidFill>
          <a:ln w="19050">
            <a:solidFill>
              <a:srgbClr val="E1A21A"/>
            </a:solidFill>
            <a:prstDash val="solid"/>
          </a:ln>
          <a:effectLst>
            <a:outerShdw sx="100000" sy="100000" kx="0" ky="0" algn="bl" rotWithShape="0" blurRad="114300" dist="38100" dir="5400000">
              <a:srgbClr val="0A3B37">
                <a:alpha val="13000"/>
              </a:srgbClr>
            </a:outerShdw>
          </a:effectLst>
        </p:spPr>
      </p:sp>
      <p:sp>
        <p:nvSpPr>
          <p:cNvPr id="33" name="Text 27"/>
          <p:cNvSpPr/>
          <p:nvPr/>
        </p:nvSpPr>
        <p:spPr>
          <a:xfrm>
            <a:off x="4905756" y="4983480"/>
            <a:ext cx="2423160" cy="320040"/>
          </a:xfrm>
          <a:prstGeom prst="rect">
            <a:avLst/>
          </a:prstGeom>
          <a:noFill/>
          <a:ln/>
        </p:spPr>
        <p:txBody>
          <a:bodyPr wrap="square" lIns="0" tIns="0" rIns="0" bIns="0" rtlCol="0" anchor="ctr"/>
          <a:lstStyle/>
          <a:p>
            <a:pPr indent="0" marL="0">
              <a:buNone/>
            </a:pPr>
            <a:r>
              <a:rPr lang="en-US" sz="1250" b="1" dirty="0">
                <a:solidFill>
                  <a:srgbClr val="12312E"/>
                </a:solidFill>
                <a:latin typeface="Cambria" pitchFamily="34" charset="0"/>
                <a:ea typeface="Cambria" pitchFamily="34" charset="-122"/>
                <a:cs typeface="Cambria" pitchFamily="34" charset="-120"/>
              </a:rPr>
              <a:t>Booking &amp; records</a:t>
            </a:r>
            <a:endParaRPr lang="en-US" sz="1250" dirty="0"/>
          </a:p>
        </p:txBody>
      </p:sp>
      <p:sp>
        <p:nvSpPr>
          <p:cNvPr id="34" name="Text 28"/>
          <p:cNvSpPr/>
          <p:nvPr/>
        </p:nvSpPr>
        <p:spPr>
          <a:xfrm>
            <a:off x="4905756" y="5303520"/>
            <a:ext cx="2423160" cy="365760"/>
          </a:xfrm>
          <a:prstGeom prst="rect">
            <a:avLst/>
          </a:prstGeom>
          <a:noFill/>
          <a:ln/>
        </p:spPr>
        <p:txBody>
          <a:bodyPr wrap="square" lIns="0" tIns="0" rIns="0" bIns="0" rtlCol="0" anchor="ctr"/>
          <a:lstStyle/>
          <a:p>
            <a:pPr indent="0" marL="0">
              <a:buNone/>
            </a:pPr>
            <a:r>
              <a:rPr lang="en-US" sz="1050" i="1" dirty="0">
                <a:solidFill>
                  <a:srgbClr val="E1A21A"/>
                </a:solidFill>
                <a:latin typeface="Calibri" pitchFamily="34" charset="0"/>
                <a:ea typeface="Calibri" pitchFamily="34" charset="-122"/>
                <a:cs typeface="Calibri" pitchFamily="34" charset="-120"/>
              </a:rPr>
              <a:t>moderate checks</a:t>
            </a:r>
            <a:endParaRPr lang="en-US" sz="1050" dirty="0"/>
          </a:p>
        </p:txBody>
      </p:sp>
      <p:sp>
        <p:nvSpPr>
          <p:cNvPr id="35" name="Shape 29"/>
          <p:cNvSpPr/>
          <p:nvPr/>
        </p:nvSpPr>
        <p:spPr>
          <a:xfrm>
            <a:off x="8805672" y="4892040"/>
            <a:ext cx="2743200" cy="868680"/>
          </a:xfrm>
          <a:prstGeom prst="roundRect">
            <a:avLst>
              <a:gd name="adj" fmla="val 10526"/>
            </a:avLst>
          </a:prstGeom>
          <a:solidFill>
            <a:srgbClr val="FFFFFF"/>
          </a:solidFill>
          <a:ln w="19050">
            <a:solidFill>
              <a:srgbClr val="DB5A34"/>
            </a:solidFill>
            <a:prstDash val="solid"/>
          </a:ln>
          <a:effectLst>
            <a:outerShdw sx="100000" sy="100000" kx="0" ky="0" algn="bl" rotWithShape="0" blurRad="114300" dist="38100" dir="5400000">
              <a:srgbClr val="0A3B37">
                <a:alpha val="13000"/>
              </a:srgbClr>
            </a:outerShdw>
          </a:effectLst>
        </p:spPr>
      </p:sp>
      <p:sp>
        <p:nvSpPr>
          <p:cNvPr id="36" name="Text 30"/>
          <p:cNvSpPr/>
          <p:nvPr/>
        </p:nvSpPr>
        <p:spPr>
          <a:xfrm>
            <a:off x="8988552" y="4983480"/>
            <a:ext cx="2423160" cy="320040"/>
          </a:xfrm>
          <a:prstGeom prst="rect">
            <a:avLst/>
          </a:prstGeom>
          <a:noFill/>
          <a:ln/>
        </p:spPr>
        <p:txBody>
          <a:bodyPr wrap="square" lIns="0" tIns="0" rIns="0" bIns="0" rtlCol="0" anchor="ctr"/>
          <a:lstStyle/>
          <a:p>
            <a:pPr indent="0" marL="0">
              <a:buNone/>
            </a:pPr>
            <a:r>
              <a:rPr lang="en-US" sz="1250" b="1" dirty="0">
                <a:solidFill>
                  <a:srgbClr val="12312E"/>
                </a:solidFill>
                <a:latin typeface="Cambria" pitchFamily="34" charset="0"/>
                <a:ea typeface="Cambria" pitchFamily="34" charset="-122"/>
                <a:cs typeface="Cambria" pitchFamily="34" charset="-120"/>
              </a:rPr>
              <a:t>Prescribing &amp; claims</a:t>
            </a:r>
            <a:endParaRPr lang="en-US" sz="1250" dirty="0"/>
          </a:p>
        </p:txBody>
      </p:sp>
      <p:sp>
        <p:nvSpPr>
          <p:cNvPr id="37" name="Text 31"/>
          <p:cNvSpPr/>
          <p:nvPr/>
        </p:nvSpPr>
        <p:spPr>
          <a:xfrm>
            <a:off x="8988552" y="5303520"/>
            <a:ext cx="2423160" cy="365760"/>
          </a:xfrm>
          <a:prstGeom prst="rect">
            <a:avLst/>
          </a:prstGeom>
          <a:noFill/>
          <a:ln/>
        </p:spPr>
        <p:txBody>
          <a:bodyPr wrap="square" lIns="0" tIns="0" rIns="0" bIns="0" rtlCol="0" anchor="ctr"/>
          <a:lstStyle/>
          <a:p>
            <a:pPr indent="0" marL="0">
              <a:buNone/>
            </a:pPr>
            <a:r>
              <a:rPr lang="en-US" sz="1050" i="1" dirty="0">
                <a:solidFill>
                  <a:srgbClr val="DB5A34"/>
                </a:solidFill>
                <a:latin typeface="Calibri" pitchFamily="34" charset="0"/>
                <a:ea typeface="Calibri" pitchFamily="34" charset="-122"/>
                <a:cs typeface="Calibri" pitchFamily="34" charset="-120"/>
              </a:rPr>
              <a:t>maximum rigour</a:t>
            </a:r>
            <a:endParaRPr lang="en-US" sz="1050" dirty="0"/>
          </a:p>
        </p:txBody>
      </p:sp>
      <p:sp>
        <p:nvSpPr>
          <p:cNvPr id="38" name="Text 32"/>
          <p:cNvSpPr/>
          <p:nvPr/>
        </p:nvSpPr>
        <p:spPr>
          <a:xfrm>
            <a:off x="640080" y="5989320"/>
            <a:ext cx="10908792" cy="365760"/>
          </a:xfrm>
          <a:prstGeom prst="rect">
            <a:avLst/>
          </a:prstGeom>
          <a:noFill/>
          <a:ln/>
        </p:spPr>
        <p:txBody>
          <a:bodyPr wrap="square" rtlCol="0" anchor="ctr"/>
          <a:lstStyle/>
          <a:p>
            <a:pPr algn="ctr" indent="0" marL="0">
              <a:buNone/>
            </a:pPr>
            <a:r>
              <a:rPr lang="en-US" sz="1250" i="1" dirty="0">
                <a:solidFill>
                  <a:srgbClr val="5B6E6B"/>
                </a:solidFill>
                <a:latin typeface="Calibri" pitchFamily="34" charset="0"/>
                <a:ea typeface="Calibri" pitchFamily="34" charset="-122"/>
                <a:cs typeface="Calibri" pitchFamily="34" charset="-120"/>
              </a:rPr>
              <a:t>Browsing wellness should feel effortless; prescribing a controlled medicine should be deliberate. Same system — appropriate rigour for the moment.</a:t>
            </a:r>
            <a:endParaRPr lang="en-US" sz="1250" dirty="0"/>
          </a:p>
        </p:txBody>
      </p:sp>
      <p:sp>
        <p:nvSpPr>
          <p:cNvPr id="39" name="Text 33"/>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40" name="Text 34"/>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9F8"/>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0D8577"/>
                </a:solidFill>
                <a:latin typeface="Calibri" pitchFamily="34" charset="0"/>
                <a:ea typeface="Calibri" pitchFamily="34" charset="-122"/>
                <a:cs typeface="Calibri" pitchFamily="34" charset="-120"/>
              </a:rPr>
              <a:t>WHAT IT MEANS FOR YOU</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One platform — a distinct win for every seat in the room</a:t>
            </a:r>
            <a:endParaRPr lang="en-US" sz="3300" dirty="0"/>
          </a:p>
        </p:txBody>
      </p:sp>
      <p:sp>
        <p:nvSpPr>
          <p:cNvPr id="4" name="Shape 2"/>
          <p:cNvSpPr/>
          <p:nvPr/>
        </p:nvSpPr>
        <p:spPr>
          <a:xfrm>
            <a:off x="640080" y="2011680"/>
            <a:ext cx="5271516" cy="1965960"/>
          </a:xfrm>
          <a:prstGeom prst="roundRect">
            <a:avLst>
              <a:gd name="adj" fmla="val 4651"/>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5" name="Shape 3"/>
          <p:cNvSpPr/>
          <p:nvPr/>
        </p:nvSpPr>
        <p:spPr>
          <a:xfrm>
            <a:off x="932688" y="2304288"/>
            <a:ext cx="868680" cy="868680"/>
          </a:xfrm>
          <a:prstGeom prst="ellipse">
            <a:avLst/>
          </a:prstGeom>
          <a:solidFill>
            <a:srgbClr val="0D8577"/>
          </a:solidFill>
          <a:ln/>
        </p:spPr>
      </p:sp>
      <p:pic>
        <p:nvPicPr>
          <p:cNvPr id="6" name="Image 0" descr="preencoded.png">    </p:cNvPr>
          <p:cNvPicPr>
            <a:picLocks noChangeAspect="1"/>
          </p:cNvPicPr>
          <p:nvPr/>
        </p:nvPicPr>
        <p:blipFill>
          <a:blip r:embed="rId1"/>
          <a:stretch>
            <a:fillRect/>
          </a:stretch>
        </p:blipFill>
        <p:spPr>
          <a:xfrm>
            <a:off x="1175918" y="2547518"/>
            <a:ext cx="382219" cy="382219"/>
          </a:xfrm>
          <a:prstGeom prst="rect">
            <a:avLst/>
          </a:prstGeom>
        </p:spPr>
      </p:pic>
      <p:sp>
        <p:nvSpPr>
          <p:cNvPr id="7" name="Text 4"/>
          <p:cNvSpPr/>
          <p:nvPr/>
        </p:nvSpPr>
        <p:spPr>
          <a:xfrm>
            <a:off x="1965960" y="2286000"/>
            <a:ext cx="3762756" cy="365760"/>
          </a:xfrm>
          <a:prstGeom prst="rect">
            <a:avLst/>
          </a:prstGeom>
          <a:noFill/>
          <a:ln/>
        </p:spPr>
        <p:txBody>
          <a:bodyPr wrap="square" lIns="0" tIns="0" rIns="0" bIns="0" rtlCol="0" anchor="ctr"/>
          <a:lstStyle/>
          <a:p>
            <a:pPr indent="0" marL="0">
              <a:buNone/>
            </a:pPr>
            <a:r>
              <a:rPr lang="en-US" sz="1700" b="1" dirty="0">
                <a:solidFill>
                  <a:srgbClr val="12312E"/>
                </a:solidFill>
                <a:latin typeface="Cambria" pitchFamily="34" charset="0"/>
                <a:ea typeface="Cambria" pitchFamily="34" charset="-122"/>
                <a:cs typeface="Cambria" pitchFamily="34" charset="-120"/>
              </a:rPr>
              <a:t>Facility teams</a:t>
            </a:r>
            <a:endParaRPr lang="en-US" sz="1700" dirty="0"/>
          </a:p>
        </p:txBody>
      </p:sp>
      <p:sp>
        <p:nvSpPr>
          <p:cNvPr id="8" name="Text 5"/>
          <p:cNvSpPr/>
          <p:nvPr/>
        </p:nvSpPr>
        <p:spPr>
          <a:xfrm>
            <a:off x="1965960" y="2670048"/>
            <a:ext cx="3762756" cy="320040"/>
          </a:xfrm>
          <a:prstGeom prst="rect">
            <a:avLst/>
          </a:prstGeom>
          <a:noFill/>
          <a:ln/>
        </p:spPr>
        <p:txBody>
          <a:bodyPr wrap="square" lIns="0" tIns="0" rIns="0" bIns="0" rtlCol="0" anchor="ctr"/>
          <a:lstStyle/>
          <a:p>
            <a:pPr indent="0" marL="0">
              <a:buNone/>
            </a:pPr>
            <a:r>
              <a:rPr lang="en-US" sz="1200" i="1" dirty="0">
                <a:solidFill>
                  <a:srgbClr val="0D8577"/>
                </a:solidFill>
                <a:latin typeface="Calibri" pitchFamily="34" charset="0"/>
                <a:ea typeface="Calibri" pitchFamily="34" charset="-122"/>
                <a:cs typeface="Calibri" pitchFamily="34" charset="-120"/>
              </a:rPr>
              <a:t>Less re-typing, more care</a:t>
            </a:r>
            <a:endParaRPr lang="en-US" sz="1200" dirty="0"/>
          </a:p>
        </p:txBody>
      </p:sp>
      <p:sp>
        <p:nvSpPr>
          <p:cNvPr id="9" name="Text 6"/>
          <p:cNvSpPr/>
          <p:nvPr/>
        </p:nvSpPr>
        <p:spPr>
          <a:xfrm>
            <a:off x="960120" y="3182112"/>
            <a:ext cx="4722876" cy="731520"/>
          </a:xfrm>
          <a:prstGeom prst="rect">
            <a:avLst/>
          </a:prstGeom>
          <a:noFill/>
          <a:ln/>
        </p:spPr>
        <p:txBody>
          <a:bodyPr wrap="square" lIns="0" tIns="0" rIns="0" bIns="0" rtlCol="0" anchor="ctr"/>
          <a:lstStyle/>
          <a:p>
            <a:pPr marL="152400" indent="-152400">
              <a:spcAft>
                <a:spcPts val="300"/>
              </a:spcAft>
              <a:buSzPct val="100000"/>
              <a:buChar char="•"/>
            </a:pPr>
            <a:r>
              <a:rPr lang="en-US" sz="1100" dirty="0">
                <a:solidFill>
                  <a:srgbClr val="5B6E6B"/>
                </a:solidFill>
                <a:latin typeface="Calibri" pitchFamily="34" charset="0"/>
                <a:ea typeface="Calibri" pitchFamily="34" charset="-122"/>
                <a:cs typeface="Calibri" pitchFamily="34" charset="-120"/>
              </a:rPr>
              <a:t>Register once, find instantly</a:t>
            </a:r>
            <a:endParaRPr lang="en-US" sz="1100" dirty="0"/>
          </a:p>
          <a:p>
            <a:pPr marL="152400" indent="-152400">
              <a:spcAft>
                <a:spcPts val="300"/>
              </a:spcAft>
              <a:buSzPct val="100000"/>
              <a:buChar char="•"/>
            </a:pPr>
            <a:r>
              <a:rPr lang="en-US" sz="1100" dirty="0">
                <a:solidFill>
                  <a:srgbClr val="5B6E6B"/>
                </a:solidFill>
                <a:latin typeface="Calibri" pitchFamily="34" charset="0"/>
                <a:ea typeface="Calibri" pitchFamily="34" charset="-122"/>
                <a:cs typeface="Calibri" pitchFamily="34" charset="-120"/>
              </a:rPr>
              <a:t>Guided workflows with safety checks</a:t>
            </a:r>
            <a:endParaRPr lang="en-US" sz="1100" dirty="0"/>
          </a:p>
          <a:p>
            <a:pPr marL="152400" indent="-152400">
              <a:spcAft>
                <a:spcPts val="300"/>
              </a:spcAft>
              <a:buSzPct val="100000"/>
              <a:buChar char="•"/>
            </a:pPr>
            <a:r>
              <a:rPr lang="en-US" sz="1100" dirty="0">
                <a:solidFill>
                  <a:srgbClr val="5B6E6B"/>
                </a:solidFill>
                <a:latin typeface="Calibri" pitchFamily="34" charset="0"/>
                <a:ea typeface="Calibri" pitchFamily="34" charset="-122"/>
                <a:cs typeface="Calibri" pitchFamily="34" charset="-120"/>
              </a:rPr>
              <a:t>Built for offline / weak connectivity</a:t>
            </a:r>
            <a:endParaRPr lang="en-US" sz="1100" dirty="0"/>
          </a:p>
        </p:txBody>
      </p:sp>
      <p:sp>
        <p:nvSpPr>
          <p:cNvPr id="10" name="Shape 7"/>
          <p:cNvSpPr/>
          <p:nvPr/>
        </p:nvSpPr>
        <p:spPr>
          <a:xfrm>
            <a:off x="6277356" y="2011680"/>
            <a:ext cx="5271516" cy="1965960"/>
          </a:xfrm>
          <a:prstGeom prst="roundRect">
            <a:avLst>
              <a:gd name="adj" fmla="val 4651"/>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1" name="Shape 8"/>
          <p:cNvSpPr/>
          <p:nvPr/>
        </p:nvSpPr>
        <p:spPr>
          <a:xfrm>
            <a:off x="6569964" y="2304288"/>
            <a:ext cx="868680" cy="868680"/>
          </a:xfrm>
          <a:prstGeom prst="ellipse">
            <a:avLst/>
          </a:prstGeom>
          <a:solidFill>
            <a:srgbClr val="0B6B60"/>
          </a:solidFill>
          <a:ln/>
        </p:spPr>
      </p:sp>
      <p:pic>
        <p:nvPicPr>
          <p:cNvPr id="12" name="Image 1" descr="preencoded.png">    </p:cNvPr>
          <p:cNvPicPr>
            <a:picLocks noChangeAspect="1"/>
          </p:cNvPicPr>
          <p:nvPr/>
        </p:nvPicPr>
        <p:blipFill>
          <a:blip r:embed="rId2"/>
          <a:stretch>
            <a:fillRect/>
          </a:stretch>
        </p:blipFill>
        <p:spPr>
          <a:xfrm>
            <a:off x="6813194" y="2547518"/>
            <a:ext cx="382219" cy="382219"/>
          </a:xfrm>
          <a:prstGeom prst="rect">
            <a:avLst/>
          </a:prstGeom>
        </p:spPr>
      </p:pic>
      <p:sp>
        <p:nvSpPr>
          <p:cNvPr id="13" name="Text 9"/>
          <p:cNvSpPr/>
          <p:nvPr/>
        </p:nvSpPr>
        <p:spPr>
          <a:xfrm>
            <a:off x="7603236" y="2286000"/>
            <a:ext cx="3762756" cy="365760"/>
          </a:xfrm>
          <a:prstGeom prst="rect">
            <a:avLst/>
          </a:prstGeom>
          <a:noFill/>
          <a:ln/>
        </p:spPr>
        <p:txBody>
          <a:bodyPr wrap="square" lIns="0" tIns="0" rIns="0" bIns="0" rtlCol="0" anchor="ctr"/>
          <a:lstStyle/>
          <a:p>
            <a:pPr indent="0" marL="0">
              <a:buNone/>
            </a:pPr>
            <a:r>
              <a:rPr lang="en-US" sz="1700" b="1" dirty="0">
                <a:solidFill>
                  <a:srgbClr val="12312E"/>
                </a:solidFill>
                <a:latin typeface="Cambria" pitchFamily="34" charset="0"/>
                <a:ea typeface="Cambria" pitchFamily="34" charset="-122"/>
                <a:cs typeface="Cambria" pitchFamily="34" charset="-120"/>
              </a:rPr>
              <a:t>District &amp; provincial</a:t>
            </a:r>
            <a:endParaRPr lang="en-US" sz="1700" dirty="0"/>
          </a:p>
        </p:txBody>
      </p:sp>
      <p:sp>
        <p:nvSpPr>
          <p:cNvPr id="14" name="Text 10"/>
          <p:cNvSpPr/>
          <p:nvPr/>
        </p:nvSpPr>
        <p:spPr>
          <a:xfrm>
            <a:off x="7603236" y="2670048"/>
            <a:ext cx="3762756" cy="320040"/>
          </a:xfrm>
          <a:prstGeom prst="rect">
            <a:avLst/>
          </a:prstGeom>
          <a:noFill/>
          <a:ln/>
        </p:spPr>
        <p:txBody>
          <a:bodyPr wrap="square" lIns="0" tIns="0" rIns="0" bIns="0" rtlCol="0" anchor="ctr"/>
          <a:lstStyle/>
          <a:p>
            <a:pPr indent="0" marL="0">
              <a:buNone/>
            </a:pPr>
            <a:r>
              <a:rPr lang="en-US" sz="1200" i="1" dirty="0">
                <a:solidFill>
                  <a:srgbClr val="0B6B60"/>
                </a:solidFill>
                <a:latin typeface="Calibri" pitchFamily="34" charset="0"/>
                <a:ea typeface="Calibri" pitchFamily="34" charset="-122"/>
                <a:cs typeface="Calibri" pitchFamily="34" charset="-120"/>
              </a:rPr>
              <a:t>Trusted numbers, near real-time</a:t>
            </a:r>
            <a:endParaRPr lang="en-US" sz="1200" dirty="0"/>
          </a:p>
        </p:txBody>
      </p:sp>
      <p:sp>
        <p:nvSpPr>
          <p:cNvPr id="15" name="Text 11"/>
          <p:cNvSpPr/>
          <p:nvPr/>
        </p:nvSpPr>
        <p:spPr>
          <a:xfrm>
            <a:off x="6597396" y="3182112"/>
            <a:ext cx="4722876" cy="731520"/>
          </a:xfrm>
          <a:prstGeom prst="rect">
            <a:avLst/>
          </a:prstGeom>
          <a:noFill/>
          <a:ln/>
        </p:spPr>
        <p:txBody>
          <a:bodyPr wrap="square" lIns="0" tIns="0" rIns="0" bIns="0" rtlCol="0" anchor="ctr"/>
          <a:lstStyle/>
          <a:p>
            <a:pPr marL="152400" indent="-152400">
              <a:spcAft>
                <a:spcPts val="300"/>
              </a:spcAft>
              <a:buSzPct val="100000"/>
              <a:buChar char="•"/>
            </a:pPr>
            <a:r>
              <a:rPr lang="en-US" sz="1100" dirty="0">
                <a:solidFill>
                  <a:srgbClr val="5B6E6B"/>
                </a:solidFill>
                <a:latin typeface="Calibri" pitchFamily="34" charset="0"/>
                <a:ea typeface="Calibri" pitchFamily="34" charset="-122"/>
                <a:cs typeface="Calibri" pitchFamily="34" charset="-120"/>
              </a:rPr>
              <a:t>Indicators roll up from real transactions</a:t>
            </a:r>
            <a:endParaRPr lang="en-US" sz="1100" dirty="0"/>
          </a:p>
          <a:p>
            <a:pPr marL="152400" indent="-152400">
              <a:spcAft>
                <a:spcPts val="300"/>
              </a:spcAft>
              <a:buSzPct val="100000"/>
              <a:buChar char="•"/>
            </a:pPr>
            <a:r>
              <a:rPr lang="en-US" sz="1100" dirty="0">
                <a:solidFill>
                  <a:srgbClr val="5B6E6B"/>
                </a:solidFill>
                <a:latin typeface="Calibri" pitchFamily="34" charset="0"/>
                <a:ea typeface="Calibri" pitchFamily="34" charset="-122"/>
                <a:cs typeface="Calibri" pitchFamily="34" charset="-120"/>
              </a:rPr>
              <a:t>See your facilities &amp; gaps in one place</a:t>
            </a:r>
            <a:endParaRPr lang="en-US" sz="1100" dirty="0"/>
          </a:p>
          <a:p>
            <a:pPr marL="152400" indent="-152400">
              <a:spcAft>
                <a:spcPts val="300"/>
              </a:spcAft>
              <a:buSzPct val="100000"/>
              <a:buChar char="•"/>
            </a:pPr>
            <a:r>
              <a:rPr lang="en-US" sz="1100" dirty="0">
                <a:solidFill>
                  <a:srgbClr val="5B6E6B"/>
                </a:solidFill>
                <a:latin typeface="Calibri" pitchFamily="34" charset="0"/>
                <a:ea typeface="Calibri" pitchFamily="34" charset="-122"/>
                <a:cs typeface="Calibri" pitchFamily="34" charset="-120"/>
              </a:rPr>
              <a:t>One version of the truth — traceable</a:t>
            </a:r>
            <a:endParaRPr lang="en-US" sz="1100" dirty="0"/>
          </a:p>
        </p:txBody>
      </p:sp>
      <p:sp>
        <p:nvSpPr>
          <p:cNvPr id="16" name="Shape 12"/>
          <p:cNvSpPr/>
          <p:nvPr/>
        </p:nvSpPr>
        <p:spPr>
          <a:xfrm>
            <a:off x="640080" y="4251960"/>
            <a:ext cx="5271516" cy="1965960"/>
          </a:xfrm>
          <a:prstGeom prst="roundRect">
            <a:avLst>
              <a:gd name="adj" fmla="val 4651"/>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7" name="Shape 13"/>
          <p:cNvSpPr/>
          <p:nvPr/>
        </p:nvSpPr>
        <p:spPr>
          <a:xfrm>
            <a:off x="932688" y="4544568"/>
            <a:ext cx="868680" cy="868680"/>
          </a:xfrm>
          <a:prstGeom prst="ellipse">
            <a:avLst/>
          </a:prstGeom>
          <a:solidFill>
            <a:srgbClr val="14B8A6"/>
          </a:solidFill>
          <a:ln/>
        </p:spPr>
      </p:sp>
      <p:pic>
        <p:nvPicPr>
          <p:cNvPr id="18" name="Image 2" descr="preencoded.png">    </p:cNvPr>
          <p:cNvPicPr>
            <a:picLocks noChangeAspect="1"/>
          </p:cNvPicPr>
          <p:nvPr/>
        </p:nvPicPr>
        <p:blipFill>
          <a:blip r:embed="rId3"/>
          <a:stretch>
            <a:fillRect/>
          </a:stretch>
        </p:blipFill>
        <p:spPr>
          <a:xfrm>
            <a:off x="1175918" y="4787798"/>
            <a:ext cx="382219" cy="382219"/>
          </a:xfrm>
          <a:prstGeom prst="rect">
            <a:avLst/>
          </a:prstGeom>
        </p:spPr>
      </p:pic>
      <p:sp>
        <p:nvSpPr>
          <p:cNvPr id="19" name="Text 14"/>
          <p:cNvSpPr/>
          <p:nvPr/>
        </p:nvSpPr>
        <p:spPr>
          <a:xfrm>
            <a:off x="1965960" y="4526280"/>
            <a:ext cx="3762756" cy="365760"/>
          </a:xfrm>
          <a:prstGeom prst="rect">
            <a:avLst/>
          </a:prstGeom>
          <a:noFill/>
          <a:ln/>
        </p:spPr>
        <p:txBody>
          <a:bodyPr wrap="square" lIns="0" tIns="0" rIns="0" bIns="0" rtlCol="0" anchor="ctr"/>
          <a:lstStyle/>
          <a:p>
            <a:pPr indent="0" marL="0">
              <a:buNone/>
            </a:pPr>
            <a:r>
              <a:rPr lang="en-US" sz="1700" b="1" dirty="0">
                <a:solidFill>
                  <a:srgbClr val="12312E"/>
                </a:solidFill>
                <a:latin typeface="Cambria" pitchFamily="34" charset="0"/>
                <a:ea typeface="Cambria" pitchFamily="34" charset="-122"/>
                <a:cs typeface="Cambria" pitchFamily="34" charset="-120"/>
              </a:rPr>
              <a:t>HQ &amp; national leadership</a:t>
            </a:r>
            <a:endParaRPr lang="en-US" sz="1700" dirty="0"/>
          </a:p>
        </p:txBody>
      </p:sp>
      <p:sp>
        <p:nvSpPr>
          <p:cNvPr id="20" name="Text 15"/>
          <p:cNvSpPr/>
          <p:nvPr/>
        </p:nvSpPr>
        <p:spPr>
          <a:xfrm>
            <a:off x="1965960" y="4910328"/>
            <a:ext cx="3762756" cy="320040"/>
          </a:xfrm>
          <a:prstGeom prst="rect">
            <a:avLst/>
          </a:prstGeom>
          <a:noFill/>
          <a:ln/>
        </p:spPr>
        <p:txBody>
          <a:bodyPr wrap="square" lIns="0" tIns="0" rIns="0" bIns="0"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Strategic, governed infrastructure</a:t>
            </a:r>
            <a:endParaRPr lang="en-US" sz="1200" dirty="0"/>
          </a:p>
        </p:txBody>
      </p:sp>
      <p:sp>
        <p:nvSpPr>
          <p:cNvPr id="21" name="Text 16"/>
          <p:cNvSpPr/>
          <p:nvPr/>
        </p:nvSpPr>
        <p:spPr>
          <a:xfrm>
            <a:off x="960120" y="5422392"/>
            <a:ext cx="4722876" cy="731520"/>
          </a:xfrm>
          <a:prstGeom prst="rect">
            <a:avLst/>
          </a:prstGeom>
          <a:noFill/>
          <a:ln/>
        </p:spPr>
        <p:txBody>
          <a:bodyPr wrap="square" lIns="0" tIns="0" rIns="0" bIns="0" rtlCol="0" anchor="ctr"/>
          <a:lstStyle/>
          <a:p>
            <a:pPr marL="152400" indent="-152400">
              <a:spcAft>
                <a:spcPts val="300"/>
              </a:spcAft>
              <a:buSzPct val="100000"/>
              <a:buChar char="•"/>
            </a:pPr>
            <a:r>
              <a:rPr lang="en-US" sz="1100" dirty="0">
                <a:solidFill>
                  <a:srgbClr val="5B6E6B"/>
                </a:solidFill>
                <a:latin typeface="Calibri" pitchFamily="34" charset="0"/>
                <a:ea typeface="Calibri" pitchFamily="34" charset="-122"/>
                <a:cs typeface="Calibri" pitchFamily="34" charset="-120"/>
              </a:rPr>
              <a:t>National identity, registries, data</a:t>
            </a:r>
            <a:endParaRPr lang="en-US" sz="1100" dirty="0"/>
          </a:p>
          <a:p>
            <a:pPr marL="152400" indent="-152400">
              <a:spcAft>
                <a:spcPts val="300"/>
              </a:spcAft>
              <a:buSzPct val="100000"/>
              <a:buChar char="•"/>
            </a:pPr>
            <a:r>
              <a:rPr lang="en-US" sz="1100" dirty="0">
                <a:solidFill>
                  <a:srgbClr val="5B6E6B"/>
                </a:solidFill>
                <a:latin typeface="Calibri" pitchFamily="34" charset="0"/>
                <a:ea typeface="Calibri" pitchFamily="34" charset="-122"/>
                <a:cs typeface="Calibri" pitchFamily="34" charset="-120"/>
              </a:rPr>
              <a:t>Governance &amp; security built in</a:t>
            </a:r>
            <a:endParaRPr lang="en-US" sz="1100" dirty="0"/>
          </a:p>
          <a:p>
            <a:pPr marL="152400" indent="-152400">
              <a:spcAft>
                <a:spcPts val="300"/>
              </a:spcAft>
              <a:buSzPct val="100000"/>
              <a:buChar char="•"/>
            </a:pPr>
            <a:r>
              <a:rPr lang="en-US" sz="1100" dirty="0">
                <a:solidFill>
                  <a:srgbClr val="5B6E6B"/>
                </a:solidFill>
                <a:latin typeface="Calibri" pitchFamily="34" charset="0"/>
                <a:ea typeface="Calibri" pitchFamily="34" charset="-122"/>
                <a:cs typeface="Calibri" pitchFamily="34" charset="-120"/>
              </a:rPr>
              <a:t>New programmes are modules, not silos</a:t>
            </a:r>
            <a:endParaRPr lang="en-US" sz="1100" dirty="0"/>
          </a:p>
        </p:txBody>
      </p:sp>
      <p:sp>
        <p:nvSpPr>
          <p:cNvPr id="22" name="Shape 17"/>
          <p:cNvSpPr/>
          <p:nvPr/>
        </p:nvSpPr>
        <p:spPr>
          <a:xfrm>
            <a:off x="6277356" y="4251960"/>
            <a:ext cx="5271516" cy="1965960"/>
          </a:xfrm>
          <a:prstGeom prst="roundRect">
            <a:avLst>
              <a:gd name="adj" fmla="val 4651"/>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23" name="Shape 18"/>
          <p:cNvSpPr/>
          <p:nvPr/>
        </p:nvSpPr>
        <p:spPr>
          <a:xfrm>
            <a:off x="6569964" y="4544568"/>
            <a:ext cx="868680" cy="868680"/>
          </a:xfrm>
          <a:prstGeom prst="ellipse">
            <a:avLst/>
          </a:prstGeom>
          <a:solidFill>
            <a:srgbClr val="E1A21A"/>
          </a:solidFill>
          <a:ln/>
        </p:spPr>
      </p:sp>
      <p:pic>
        <p:nvPicPr>
          <p:cNvPr id="24" name="Image 3" descr="preencoded.png">    </p:cNvPr>
          <p:cNvPicPr>
            <a:picLocks noChangeAspect="1"/>
          </p:cNvPicPr>
          <p:nvPr/>
        </p:nvPicPr>
        <p:blipFill>
          <a:blip r:embed="rId4"/>
          <a:stretch>
            <a:fillRect/>
          </a:stretch>
        </p:blipFill>
        <p:spPr>
          <a:xfrm>
            <a:off x="6813194" y="4787798"/>
            <a:ext cx="382219" cy="382219"/>
          </a:xfrm>
          <a:prstGeom prst="rect">
            <a:avLst/>
          </a:prstGeom>
        </p:spPr>
      </p:pic>
      <p:sp>
        <p:nvSpPr>
          <p:cNvPr id="25" name="Text 19"/>
          <p:cNvSpPr/>
          <p:nvPr/>
        </p:nvSpPr>
        <p:spPr>
          <a:xfrm>
            <a:off x="7603236" y="4526280"/>
            <a:ext cx="3762756" cy="365760"/>
          </a:xfrm>
          <a:prstGeom prst="rect">
            <a:avLst/>
          </a:prstGeom>
          <a:noFill/>
          <a:ln/>
        </p:spPr>
        <p:txBody>
          <a:bodyPr wrap="square" lIns="0" tIns="0" rIns="0" bIns="0" rtlCol="0" anchor="ctr"/>
          <a:lstStyle/>
          <a:p>
            <a:pPr indent="0" marL="0">
              <a:buNone/>
            </a:pPr>
            <a:r>
              <a:rPr lang="en-US" sz="1700" b="1" dirty="0">
                <a:solidFill>
                  <a:srgbClr val="12312E"/>
                </a:solidFill>
                <a:latin typeface="Cambria" pitchFamily="34" charset="0"/>
                <a:ea typeface="Cambria" pitchFamily="34" charset="-122"/>
                <a:cs typeface="Cambria" pitchFamily="34" charset="-120"/>
              </a:rPr>
              <a:t>Partners</a:t>
            </a:r>
            <a:endParaRPr lang="en-US" sz="1700" dirty="0"/>
          </a:p>
        </p:txBody>
      </p:sp>
      <p:sp>
        <p:nvSpPr>
          <p:cNvPr id="26" name="Text 20"/>
          <p:cNvSpPr/>
          <p:nvPr/>
        </p:nvSpPr>
        <p:spPr>
          <a:xfrm>
            <a:off x="7603236" y="4910328"/>
            <a:ext cx="3762756" cy="320040"/>
          </a:xfrm>
          <a:prstGeom prst="rect">
            <a:avLst/>
          </a:prstGeom>
          <a:noFill/>
          <a:ln/>
        </p:spPr>
        <p:txBody>
          <a:bodyPr wrap="square" lIns="0" tIns="0" rIns="0" bIns="0" rtlCol="0" anchor="ctr"/>
          <a:lstStyle/>
          <a:p>
            <a:pPr indent="0" marL="0">
              <a:buNone/>
            </a:pPr>
            <a:r>
              <a:rPr lang="en-US" sz="1200" i="1" dirty="0">
                <a:solidFill>
                  <a:srgbClr val="E1A21A"/>
                </a:solidFill>
                <a:latin typeface="Calibri" pitchFamily="34" charset="0"/>
                <a:ea typeface="Calibri" pitchFamily="34" charset="-122"/>
                <a:cs typeface="Calibri" pitchFamily="34" charset="-120"/>
              </a:rPr>
              <a:t>Build on it — don't rebuild it</a:t>
            </a:r>
            <a:endParaRPr lang="en-US" sz="1200" dirty="0"/>
          </a:p>
        </p:txBody>
      </p:sp>
      <p:sp>
        <p:nvSpPr>
          <p:cNvPr id="27" name="Text 21"/>
          <p:cNvSpPr/>
          <p:nvPr/>
        </p:nvSpPr>
        <p:spPr>
          <a:xfrm>
            <a:off x="6597396" y="5422392"/>
            <a:ext cx="4722876" cy="731520"/>
          </a:xfrm>
          <a:prstGeom prst="rect">
            <a:avLst/>
          </a:prstGeom>
          <a:noFill/>
          <a:ln/>
        </p:spPr>
        <p:txBody>
          <a:bodyPr wrap="square" lIns="0" tIns="0" rIns="0" bIns="0" rtlCol="0" anchor="ctr"/>
          <a:lstStyle/>
          <a:p>
            <a:pPr marL="152400" indent="-152400">
              <a:spcAft>
                <a:spcPts val="300"/>
              </a:spcAft>
              <a:buSzPct val="100000"/>
              <a:buChar char="•"/>
            </a:pPr>
            <a:r>
              <a:rPr lang="en-US" sz="1100" dirty="0">
                <a:solidFill>
                  <a:srgbClr val="5B6E6B"/>
                </a:solidFill>
                <a:latin typeface="Calibri" pitchFamily="34" charset="0"/>
                <a:ea typeface="Calibri" pitchFamily="34" charset="-122"/>
                <a:cs typeface="Calibri" pitchFamily="34" charset="-120"/>
              </a:rPr>
              <a:t>Standard FHIR integration points</a:t>
            </a:r>
            <a:endParaRPr lang="en-US" sz="1100" dirty="0"/>
          </a:p>
          <a:p>
            <a:pPr marL="152400" indent="-152400">
              <a:spcAft>
                <a:spcPts val="300"/>
              </a:spcAft>
              <a:buSzPct val="100000"/>
              <a:buChar char="•"/>
            </a:pPr>
            <a:r>
              <a:rPr lang="en-US" sz="1100" dirty="0">
                <a:solidFill>
                  <a:srgbClr val="5B6E6B"/>
                </a:solidFill>
                <a:latin typeface="Calibri" pitchFamily="34" charset="0"/>
                <a:ea typeface="Calibri" pitchFamily="34" charset="-122"/>
                <a:cs typeface="Calibri" pitchFamily="34" charset="-120"/>
              </a:rPr>
              <a:t>Inherit identity, consent &amp; audit</a:t>
            </a:r>
            <a:endParaRPr lang="en-US" sz="1100" dirty="0"/>
          </a:p>
          <a:p>
            <a:pPr marL="152400" indent="-152400">
              <a:spcAft>
                <a:spcPts val="300"/>
              </a:spcAft>
              <a:buSzPct val="100000"/>
              <a:buChar char="•"/>
            </a:pPr>
            <a:r>
              <a:rPr lang="en-US" sz="1100" dirty="0">
                <a:solidFill>
                  <a:srgbClr val="5B6E6B"/>
                </a:solidFill>
                <a:latin typeface="Calibri" pitchFamily="34" charset="0"/>
                <a:ea typeface="Calibri" pitchFamily="34" charset="-122"/>
                <a:cs typeface="Calibri" pitchFamily="34" charset="-120"/>
              </a:rPr>
              <a:t>Extend without creating an island</a:t>
            </a:r>
            <a:endParaRPr lang="en-US" sz="1100" dirty="0"/>
          </a:p>
        </p:txBody>
      </p:sp>
      <p:sp>
        <p:nvSpPr>
          <p:cNvPr id="28" name="Text 22"/>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29" name="Text 23"/>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9F8"/>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0D8577"/>
                </a:solidFill>
                <a:latin typeface="Calibri" pitchFamily="34" charset="0"/>
                <a:ea typeface="Calibri" pitchFamily="34" charset="-122"/>
                <a:cs typeface="Calibri" pitchFamily="34" charset="-120"/>
              </a:rPr>
              <a:t>GOVERNANCE &amp; SAFETY GUARDRAILS</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Coherence by design — rules the platform enforces on itself</a:t>
            </a:r>
            <a:endParaRPr lang="en-US" sz="3300" dirty="0"/>
          </a:p>
        </p:txBody>
      </p:sp>
      <p:sp>
        <p:nvSpPr>
          <p:cNvPr id="4" name="Shape 2"/>
          <p:cNvSpPr/>
          <p:nvPr/>
        </p:nvSpPr>
        <p:spPr>
          <a:xfrm>
            <a:off x="640080" y="2148840"/>
            <a:ext cx="5225796" cy="1463040"/>
          </a:xfrm>
          <a:prstGeom prst="roundRect">
            <a:avLst>
              <a:gd name="adj" fmla="val 6250"/>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5" name="Shape 3"/>
          <p:cNvSpPr/>
          <p:nvPr/>
        </p:nvSpPr>
        <p:spPr>
          <a:xfrm>
            <a:off x="932688" y="2468880"/>
            <a:ext cx="841248" cy="841248"/>
          </a:xfrm>
          <a:prstGeom prst="ellipse">
            <a:avLst/>
          </a:prstGeom>
          <a:solidFill>
            <a:srgbClr val="EAF4F2"/>
          </a:solidFill>
          <a:ln/>
        </p:spPr>
      </p:sp>
      <p:pic>
        <p:nvPicPr>
          <p:cNvPr id="6" name="Image 0" descr="preencoded.png">    </p:cNvPr>
          <p:cNvPicPr>
            <a:picLocks noChangeAspect="1"/>
          </p:cNvPicPr>
          <p:nvPr/>
        </p:nvPicPr>
        <p:blipFill>
          <a:blip r:embed="rId1"/>
          <a:stretch>
            <a:fillRect/>
          </a:stretch>
        </p:blipFill>
        <p:spPr>
          <a:xfrm>
            <a:off x="1168237" y="2704429"/>
            <a:ext cx="370149" cy="370149"/>
          </a:xfrm>
          <a:prstGeom prst="rect">
            <a:avLst/>
          </a:prstGeom>
        </p:spPr>
      </p:pic>
      <p:sp>
        <p:nvSpPr>
          <p:cNvPr id="7" name="Text 4"/>
          <p:cNvSpPr/>
          <p:nvPr/>
        </p:nvSpPr>
        <p:spPr>
          <a:xfrm>
            <a:off x="1965960" y="2404872"/>
            <a:ext cx="3717036" cy="640080"/>
          </a:xfrm>
          <a:prstGeom prst="rect">
            <a:avLst/>
          </a:prstGeom>
          <a:noFill/>
          <a:ln/>
        </p:spPr>
        <p:txBody>
          <a:bodyPr wrap="square" lIns="0" tIns="0" rIns="0" bIns="0" rtlCol="0" anchor="t"/>
          <a:lstStyle/>
          <a:p>
            <a:pPr indent="0" marL="0">
              <a:lnSpc>
                <a:spcPts val="1700"/>
              </a:lnSpc>
              <a:buNone/>
            </a:pPr>
            <a:r>
              <a:rPr lang="en-US" sz="1550" b="1" dirty="0">
                <a:solidFill>
                  <a:srgbClr val="12312E"/>
                </a:solidFill>
                <a:latin typeface="Cambria" pitchFamily="34" charset="0"/>
                <a:ea typeface="Cambria" pitchFamily="34" charset="-122"/>
                <a:cs typeface="Cambria" pitchFamily="34" charset="-120"/>
              </a:rPr>
              <a:t>Single source of truth</a:t>
            </a:r>
            <a:endParaRPr lang="en-US" sz="1550" dirty="0"/>
          </a:p>
        </p:txBody>
      </p:sp>
      <p:sp>
        <p:nvSpPr>
          <p:cNvPr id="8" name="Text 5"/>
          <p:cNvSpPr/>
          <p:nvPr/>
        </p:nvSpPr>
        <p:spPr>
          <a:xfrm>
            <a:off x="1965960" y="2971800"/>
            <a:ext cx="3671316" cy="548640"/>
          </a:xfrm>
          <a:prstGeom prst="rect">
            <a:avLst/>
          </a:prstGeom>
          <a:noFill/>
          <a:ln/>
        </p:spPr>
        <p:txBody>
          <a:bodyPr wrap="square" lIns="0" tIns="0" rIns="0" bIns="0" rtlCol="0" anchor="ctr"/>
          <a:lstStyle/>
          <a:p>
            <a:pPr indent="0" marL="0">
              <a:lnSpc>
                <a:spcPts val="1350"/>
              </a:lnSpc>
              <a:buNone/>
            </a:pPr>
            <a:r>
              <a:rPr lang="en-US" sz="1150" dirty="0">
                <a:solidFill>
                  <a:srgbClr val="5B6E6B"/>
                </a:solidFill>
                <a:latin typeface="Calibri" pitchFamily="34" charset="0"/>
                <a:ea typeface="Calibri" pitchFamily="34" charset="-122"/>
                <a:cs typeface="Calibri" pitchFamily="34" charset="-120"/>
              </a:rPr>
              <a:t>One patient, provider and facility model — no duplicates allowed to creep in.</a:t>
            </a:r>
            <a:endParaRPr lang="en-US" sz="1150" dirty="0"/>
          </a:p>
        </p:txBody>
      </p:sp>
      <p:sp>
        <p:nvSpPr>
          <p:cNvPr id="9" name="Shape 6"/>
          <p:cNvSpPr/>
          <p:nvPr/>
        </p:nvSpPr>
        <p:spPr>
          <a:xfrm>
            <a:off x="6323076" y="2148840"/>
            <a:ext cx="5225796" cy="1463040"/>
          </a:xfrm>
          <a:prstGeom prst="roundRect">
            <a:avLst>
              <a:gd name="adj" fmla="val 6250"/>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0" name="Shape 7"/>
          <p:cNvSpPr/>
          <p:nvPr/>
        </p:nvSpPr>
        <p:spPr>
          <a:xfrm>
            <a:off x="6615684" y="2468880"/>
            <a:ext cx="841248" cy="841248"/>
          </a:xfrm>
          <a:prstGeom prst="ellipse">
            <a:avLst/>
          </a:prstGeom>
          <a:solidFill>
            <a:srgbClr val="EAF4F2"/>
          </a:solidFill>
          <a:ln/>
        </p:spPr>
      </p:sp>
      <p:pic>
        <p:nvPicPr>
          <p:cNvPr id="11" name="Image 1" descr="preencoded.png">    </p:cNvPr>
          <p:cNvPicPr>
            <a:picLocks noChangeAspect="1"/>
          </p:cNvPicPr>
          <p:nvPr/>
        </p:nvPicPr>
        <p:blipFill>
          <a:blip r:embed="rId2"/>
          <a:stretch>
            <a:fillRect/>
          </a:stretch>
        </p:blipFill>
        <p:spPr>
          <a:xfrm>
            <a:off x="6851233" y="2704429"/>
            <a:ext cx="370149" cy="370149"/>
          </a:xfrm>
          <a:prstGeom prst="rect">
            <a:avLst/>
          </a:prstGeom>
        </p:spPr>
      </p:pic>
      <p:sp>
        <p:nvSpPr>
          <p:cNvPr id="12" name="Text 8"/>
          <p:cNvSpPr/>
          <p:nvPr/>
        </p:nvSpPr>
        <p:spPr>
          <a:xfrm>
            <a:off x="7648956" y="2404872"/>
            <a:ext cx="3717036" cy="640080"/>
          </a:xfrm>
          <a:prstGeom prst="rect">
            <a:avLst/>
          </a:prstGeom>
          <a:noFill/>
          <a:ln/>
        </p:spPr>
        <p:txBody>
          <a:bodyPr wrap="square" lIns="0" tIns="0" rIns="0" bIns="0" rtlCol="0" anchor="t"/>
          <a:lstStyle/>
          <a:p>
            <a:pPr indent="0" marL="0">
              <a:lnSpc>
                <a:spcPts val="1700"/>
              </a:lnSpc>
              <a:buNone/>
            </a:pPr>
            <a:r>
              <a:rPr lang="en-US" sz="1550" b="1" dirty="0">
                <a:solidFill>
                  <a:srgbClr val="12312E"/>
                </a:solidFill>
                <a:latin typeface="Cambria" pitchFamily="34" charset="0"/>
                <a:ea typeface="Cambria" pitchFamily="34" charset="-122"/>
                <a:cs typeface="Cambria" pitchFamily="34" charset="-120"/>
              </a:rPr>
              <a:t>Production-grade or it doesn't ship</a:t>
            </a:r>
            <a:endParaRPr lang="en-US" sz="1550" dirty="0"/>
          </a:p>
        </p:txBody>
      </p:sp>
      <p:sp>
        <p:nvSpPr>
          <p:cNvPr id="13" name="Text 9"/>
          <p:cNvSpPr/>
          <p:nvPr/>
        </p:nvSpPr>
        <p:spPr>
          <a:xfrm>
            <a:off x="7648956" y="2971800"/>
            <a:ext cx="3671316" cy="548640"/>
          </a:xfrm>
          <a:prstGeom prst="rect">
            <a:avLst/>
          </a:prstGeom>
          <a:noFill/>
          <a:ln/>
        </p:spPr>
        <p:txBody>
          <a:bodyPr wrap="square" lIns="0" tIns="0" rIns="0" bIns="0" rtlCol="0" anchor="ctr"/>
          <a:lstStyle/>
          <a:p>
            <a:pPr indent="0" marL="0">
              <a:lnSpc>
                <a:spcPts val="1350"/>
              </a:lnSpc>
              <a:buNone/>
            </a:pPr>
            <a:r>
              <a:rPr lang="en-US" sz="1150" dirty="0">
                <a:solidFill>
                  <a:srgbClr val="5B6E6B"/>
                </a:solidFill>
                <a:latin typeface="Calibri" pitchFamily="34" charset="0"/>
                <a:ea typeface="Calibri" pitchFamily="34" charset="-122"/>
                <a:cs typeface="Calibri" pitchFamily="34" charset="-120"/>
              </a:rPr>
              <a:t>Every capability: authorised, audited, observable, tested.</a:t>
            </a:r>
            <a:endParaRPr lang="en-US" sz="1150" dirty="0"/>
          </a:p>
        </p:txBody>
      </p:sp>
      <p:sp>
        <p:nvSpPr>
          <p:cNvPr id="14" name="Shape 10"/>
          <p:cNvSpPr/>
          <p:nvPr/>
        </p:nvSpPr>
        <p:spPr>
          <a:xfrm>
            <a:off x="640080" y="3840480"/>
            <a:ext cx="5225796" cy="1463040"/>
          </a:xfrm>
          <a:prstGeom prst="roundRect">
            <a:avLst>
              <a:gd name="adj" fmla="val 6250"/>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5" name="Shape 11"/>
          <p:cNvSpPr/>
          <p:nvPr/>
        </p:nvSpPr>
        <p:spPr>
          <a:xfrm>
            <a:off x="932688" y="4160520"/>
            <a:ext cx="841248" cy="841248"/>
          </a:xfrm>
          <a:prstGeom prst="ellipse">
            <a:avLst/>
          </a:prstGeom>
          <a:solidFill>
            <a:srgbClr val="EAF4F2"/>
          </a:solidFill>
          <a:ln/>
        </p:spPr>
      </p:sp>
      <p:pic>
        <p:nvPicPr>
          <p:cNvPr id="16" name="Image 2" descr="preencoded.png">    </p:cNvPr>
          <p:cNvPicPr>
            <a:picLocks noChangeAspect="1"/>
          </p:cNvPicPr>
          <p:nvPr/>
        </p:nvPicPr>
        <p:blipFill>
          <a:blip r:embed="rId3"/>
          <a:stretch>
            <a:fillRect/>
          </a:stretch>
        </p:blipFill>
        <p:spPr>
          <a:xfrm>
            <a:off x="1168237" y="4396069"/>
            <a:ext cx="370149" cy="370149"/>
          </a:xfrm>
          <a:prstGeom prst="rect">
            <a:avLst/>
          </a:prstGeom>
        </p:spPr>
      </p:pic>
      <p:sp>
        <p:nvSpPr>
          <p:cNvPr id="17" name="Text 12"/>
          <p:cNvSpPr/>
          <p:nvPr/>
        </p:nvSpPr>
        <p:spPr>
          <a:xfrm>
            <a:off x="1965960" y="4096512"/>
            <a:ext cx="3717036" cy="640080"/>
          </a:xfrm>
          <a:prstGeom prst="rect">
            <a:avLst/>
          </a:prstGeom>
          <a:noFill/>
          <a:ln/>
        </p:spPr>
        <p:txBody>
          <a:bodyPr wrap="square" lIns="0" tIns="0" rIns="0" bIns="0" rtlCol="0" anchor="t"/>
          <a:lstStyle/>
          <a:p>
            <a:pPr indent="0" marL="0">
              <a:lnSpc>
                <a:spcPts val="1700"/>
              </a:lnSpc>
              <a:buNone/>
            </a:pPr>
            <a:r>
              <a:rPr lang="en-US" sz="1550" b="1" dirty="0">
                <a:solidFill>
                  <a:srgbClr val="12312E"/>
                </a:solidFill>
                <a:latin typeface="Cambria" pitchFamily="34" charset="0"/>
                <a:ea typeface="Cambria" pitchFamily="34" charset="-122"/>
                <a:cs typeface="Cambria" pitchFamily="34" charset="-120"/>
              </a:rPr>
              <a:t>Guidance supports, never replaces</a:t>
            </a:r>
            <a:endParaRPr lang="en-US" sz="1550" dirty="0"/>
          </a:p>
        </p:txBody>
      </p:sp>
      <p:sp>
        <p:nvSpPr>
          <p:cNvPr id="18" name="Text 13"/>
          <p:cNvSpPr/>
          <p:nvPr/>
        </p:nvSpPr>
        <p:spPr>
          <a:xfrm>
            <a:off x="1965960" y="4663440"/>
            <a:ext cx="3671316" cy="548640"/>
          </a:xfrm>
          <a:prstGeom prst="rect">
            <a:avLst/>
          </a:prstGeom>
          <a:noFill/>
          <a:ln/>
        </p:spPr>
        <p:txBody>
          <a:bodyPr wrap="square" lIns="0" tIns="0" rIns="0" bIns="0" rtlCol="0" anchor="ctr"/>
          <a:lstStyle/>
          <a:p>
            <a:pPr indent="0" marL="0">
              <a:lnSpc>
                <a:spcPts val="1350"/>
              </a:lnSpc>
              <a:buNone/>
            </a:pPr>
            <a:r>
              <a:rPr lang="en-US" sz="1150" dirty="0">
                <a:solidFill>
                  <a:srgbClr val="5B6E6B"/>
                </a:solidFill>
                <a:latin typeface="Calibri" pitchFamily="34" charset="0"/>
                <a:ea typeface="Calibri" pitchFamily="34" charset="-122"/>
                <a:cs typeface="Calibri" pitchFamily="34" charset="-120"/>
              </a:rPr>
              <a:t>Nompilo advice is advisory and always auditable — professionals stay accountable.</a:t>
            </a:r>
            <a:endParaRPr lang="en-US" sz="1150" dirty="0"/>
          </a:p>
        </p:txBody>
      </p:sp>
      <p:sp>
        <p:nvSpPr>
          <p:cNvPr id="19" name="Shape 14"/>
          <p:cNvSpPr/>
          <p:nvPr/>
        </p:nvSpPr>
        <p:spPr>
          <a:xfrm>
            <a:off x="6323076" y="3840480"/>
            <a:ext cx="5225796" cy="1463040"/>
          </a:xfrm>
          <a:prstGeom prst="roundRect">
            <a:avLst>
              <a:gd name="adj" fmla="val 6250"/>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20" name="Shape 15"/>
          <p:cNvSpPr/>
          <p:nvPr/>
        </p:nvSpPr>
        <p:spPr>
          <a:xfrm>
            <a:off x="6615684" y="4160520"/>
            <a:ext cx="841248" cy="841248"/>
          </a:xfrm>
          <a:prstGeom prst="ellipse">
            <a:avLst/>
          </a:prstGeom>
          <a:solidFill>
            <a:srgbClr val="EAF4F2"/>
          </a:solidFill>
          <a:ln/>
        </p:spPr>
      </p:sp>
      <p:pic>
        <p:nvPicPr>
          <p:cNvPr id="21" name="Image 3" descr="preencoded.png">    </p:cNvPr>
          <p:cNvPicPr>
            <a:picLocks noChangeAspect="1"/>
          </p:cNvPicPr>
          <p:nvPr/>
        </p:nvPicPr>
        <p:blipFill>
          <a:blip r:embed="rId4"/>
          <a:stretch>
            <a:fillRect/>
          </a:stretch>
        </p:blipFill>
        <p:spPr>
          <a:xfrm>
            <a:off x="6851233" y="4396069"/>
            <a:ext cx="370149" cy="370149"/>
          </a:xfrm>
          <a:prstGeom prst="rect">
            <a:avLst/>
          </a:prstGeom>
        </p:spPr>
      </p:pic>
      <p:sp>
        <p:nvSpPr>
          <p:cNvPr id="22" name="Text 16"/>
          <p:cNvSpPr/>
          <p:nvPr/>
        </p:nvSpPr>
        <p:spPr>
          <a:xfrm>
            <a:off x="7648956" y="4096512"/>
            <a:ext cx="3717036" cy="640080"/>
          </a:xfrm>
          <a:prstGeom prst="rect">
            <a:avLst/>
          </a:prstGeom>
          <a:noFill/>
          <a:ln/>
        </p:spPr>
        <p:txBody>
          <a:bodyPr wrap="square" lIns="0" tIns="0" rIns="0" bIns="0" rtlCol="0" anchor="t"/>
          <a:lstStyle/>
          <a:p>
            <a:pPr indent="0" marL="0">
              <a:lnSpc>
                <a:spcPts val="1700"/>
              </a:lnSpc>
              <a:buNone/>
            </a:pPr>
            <a:r>
              <a:rPr lang="en-US" sz="1550" b="1" dirty="0">
                <a:solidFill>
                  <a:srgbClr val="12312E"/>
                </a:solidFill>
                <a:latin typeface="Cambria" pitchFamily="34" charset="0"/>
                <a:ea typeface="Cambria" pitchFamily="34" charset="-122"/>
                <a:cs typeface="Cambria" pitchFamily="34" charset="-120"/>
              </a:rPr>
              <a:t>Person &amp; consent first</a:t>
            </a:r>
            <a:endParaRPr lang="en-US" sz="1550" dirty="0"/>
          </a:p>
        </p:txBody>
      </p:sp>
      <p:sp>
        <p:nvSpPr>
          <p:cNvPr id="23" name="Text 17"/>
          <p:cNvSpPr/>
          <p:nvPr/>
        </p:nvSpPr>
        <p:spPr>
          <a:xfrm>
            <a:off x="7648956" y="4663440"/>
            <a:ext cx="3671316" cy="548640"/>
          </a:xfrm>
          <a:prstGeom prst="rect">
            <a:avLst/>
          </a:prstGeom>
          <a:noFill/>
          <a:ln/>
        </p:spPr>
        <p:txBody>
          <a:bodyPr wrap="square" lIns="0" tIns="0" rIns="0" bIns="0" rtlCol="0" anchor="ctr"/>
          <a:lstStyle/>
          <a:p>
            <a:pPr indent="0" marL="0">
              <a:lnSpc>
                <a:spcPts val="1350"/>
              </a:lnSpc>
              <a:buNone/>
            </a:pPr>
            <a:r>
              <a:rPr lang="en-US" sz="1150" dirty="0">
                <a:solidFill>
                  <a:srgbClr val="5B6E6B"/>
                </a:solidFill>
                <a:latin typeface="Calibri" pitchFamily="34" charset="0"/>
                <a:ea typeface="Calibri" pitchFamily="34" charset="-122"/>
                <a:cs typeface="Calibri" pitchFamily="34" charset="-120"/>
              </a:rPr>
              <a:t>Person-centred and consent-driven at every layer.</a:t>
            </a:r>
            <a:endParaRPr lang="en-US" sz="1150" dirty="0"/>
          </a:p>
        </p:txBody>
      </p:sp>
      <p:sp>
        <p:nvSpPr>
          <p:cNvPr id="24" name="Text 18"/>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25" name="Text 19"/>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9F8"/>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0D8577"/>
                </a:solidFill>
                <a:latin typeface="Calibri" pitchFamily="34" charset="0"/>
                <a:ea typeface="Calibri" pitchFamily="34" charset="-122"/>
                <a:cs typeface="Calibri" pitchFamily="34" charset="-120"/>
              </a:rPr>
              <a:t>WHERE WE ARE TODAY</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From doctrine to a working system</a:t>
            </a:r>
            <a:endParaRPr lang="en-US" sz="3300" dirty="0"/>
          </a:p>
        </p:txBody>
      </p:sp>
      <p:sp>
        <p:nvSpPr>
          <p:cNvPr id="4" name="Shape 2"/>
          <p:cNvSpPr/>
          <p:nvPr/>
        </p:nvSpPr>
        <p:spPr>
          <a:xfrm>
            <a:off x="640080" y="2148840"/>
            <a:ext cx="3392424" cy="1828800"/>
          </a:xfrm>
          <a:prstGeom prst="roundRect">
            <a:avLst>
              <a:gd name="adj" fmla="val 5000"/>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5" name="Text 3"/>
          <p:cNvSpPr/>
          <p:nvPr/>
        </p:nvSpPr>
        <p:spPr>
          <a:xfrm>
            <a:off x="914400" y="2286000"/>
            <a:ext cx="2843784" cy="868680"/>
          </a:xfrm>
          <a:prstGeom prst="rect">
            <a:avLst/>
          </a:prstGeom>
          <a:noFill/>
          <a:ln/>
        </p:spPr>
        <p:txBody>
          <a:bodyPr wrap="square" lIns="0" tIns="0" rIns="0" bIns="0" rtlCol="0" anchor="ctr"/>
          <a:lstStyle/>
          <a:p>
            <a:pPr indent="0" marL="0">
              <a:buNone/>
            </a:pPr>
            <a:r>
              <a:rPr lang="en-US" sz="5200" b="1" dirty="0">
                <a:solidFill>
                  <a:srgbClr val="0D8577"/>
                </a:solidFill>
                <a:latin typeface="Cambria" pitchFamily="34" charset="0"/>
                <a:ea typeface="Cambria" pitchFamily="34" charset="-122"/>
                <a:cs typeface="Cambria" pitchFamily="34" charset="-120"/>
              </a:rPr>
              <a:t>7</a:t>
            </a:r>
            <a:endParaRPr lang="en-US" sz="5200" dirty="0"/>
          </a:p>
        </p:txBody>
      </p:sp>
      <p:sp>
        <p:nvSpPr>
          <p:cNvPr id="6" name="Text 4"/>
          <p:cNvSpPr/>
          <p:nvPr/>
        </p:nvSpPr>
        <p:spPr>
          <a:xfrm>
            <a:off x="932688" y="3127248"/>
            <a:ext cx="2843784" cy="320040"/>
          </a:xfrm>
          <a:prstGeom prst="rect">
            <a:avLst/>
          </a:prstGeom>
          <a:noFill/>
          <a:ln/>
        </p:spPr>
        <p:txBody>
          <a:bodyPr wrap="square" lIns="0" tIns="0" rIns="0" bIns="0" rtlCol="0" anchor="ctr"/>
          <a:lstStyle/>
          <a:p>
            <a:pPr indent="0" marL="0">
              <a:buNone/>
            </a:pPr>
            <a:r>
              <a:rPr lang="en-US" sz="1500" b="1" dirty="0">
                <a:solidFill>
                  <a:srgbClr val="12312E"/>
                </a:solidFill>
                <a:latin typeface="Cambria" pitchFamily="34" charset="0"/>
                <a:ea typeface="Cambria" pitchFamily="34" charset="-122"/>
                <a:cs typeface="Cambria" pitchFamily="34" charset="-120"/>
              </a:rPr>
              <a:t>planes</a:t>
            </a:r>
            <a:endParaRPr lang="en-US" sz="1500" dirty="0"/>
          </a:p>
        </p:txBody>
      </p:sp>
      <p:sp>
        <p:nvSpPr>
          <p:cNvPr id="7" name="Text 5"/>
          <p:cNvSpPr/>
          <p:nvPr/>
        </p:nvSpPr>
        <p:spPr>
          <a:xfrm>
            <a:off x="932688" y="3456432"/>
            <a:ext cx="2889504" cy="457200"/>
          </a:xfrm>
          <a:prstGeom prst="rect">
            <a:avLst/>
          </a:prstGeom>
          <a:noFill/>
          <a:ln/>
        </p:spPr>
        <p:txBody>
          <a:bodyPr wrap="square" lIns="0" tIns="0" rIns="0" bIns="0" rtlCol="0" anchor="ctr"/>
          <a:lstStyle/>
          <a:p>
            <a:pPr indent="0" marL="0">
              <a:lnSpc>
                <a:spcPts val="1300"/>
              </a:lnSpc>
              <a:buNone/>
            </a:pPr>
            <a:r>
              <a:rPr lang="en-US" sz="1150" dirty="0">
                <a:solidFill>
                  <a:srgbClr val="5B6E6B"/>
                </a:solidFill>
                <a:latin typeface="Calibri" pitchFamily="34" charset="0"/>
                <a:ea typeface="Calibri" pitchFamily="34" charset="-122"/>
                <a:cs typeface="Calibri" pitchFamily="34" charset="-120"/>
              </a:rPr>
              <a:t>built &amp; running in preview</a:t>
            </a:r>
            <a:endParaRPr lang="en-US" sz="1150" dirty="0"/>
          </a:p>
        </p:txBody>
      </p:sp>
      <p:sp>
        <p:nvSpPr>
          <p:cNvPr id="8" name="Shape 6"/>
          <p:cNvSpPr/>
          <p:nvPr/>
        </p:nvSpPr>
        <p:spPr>
          <a:xfrm>
            <a:off x="4398264" y="2148840"/>
            <a:ext cx="3392424" cy="1828800"/>
          </a:xfrm>
          <a:prstGeom prst="roundRect">
            <a:avLst>
              <a:gd name="adj" fmla="val 5000"/>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9" name="Text 7"/>
          <p:cNvSpPr/>
          <p:nvPr/>
        </p:nvSpPr>
        <p:spPr>
          <a:xfrm>
            <a:off x="4672584" y="2286000"/>
            <a:ext cx="2843784" cy="868680"/>
          </a:xfrm>
          <a:prstGeom prst="rect">
            <a:avLst/>
          </a:prstGeom>
          <a:noFill/>
          <a:ln/>
        </p:spPr>
        <p:txBody>
          <a:bodyPr wrap="square" lIns="0" tIns="0" rIns="0" bIns="0" rtlCol="0" anchor="ctr"/>
          <a:lstStyle/>
          <a:p>
            <a:pPr indent="0" marL="0">
              <a:buNone/>
            </a:pPr>
            <a:r>
              <a:rPr lang="en-US" sz="5200" b="1" dirty="0">
                <a:solidFill>
                  <a:srgbClr val="0B6B60"/>
                </a:solidFill>
                <a:latin typeface="Cambria" pitchFamily="34" charset="0"/>
                <a:ea typeface="Cambria" pitchFamily="34" charset="-122"/>
                <a:cs typeface="Cambria" pitchFamily="34" charset="-120"/>
              </a:rPr>
              <a:t>1</a:t>
            </a:r>
            <a:endParaRPr lang="en-US" sz="5200" dirty="0"/>
          </a:p>
        </p:txBody>
      </p:sp>
      <p:sp>
        <p:nvSpPr>
          <p:cNvPr id="10" name="Text 8"/>
          <p:cNvSpPr/>
          <p:nvPr/>
        </p:nvSpPr>
        <p:spPr>
          <a:xfrm>
            <a:off x="4690872" y="3127248"/>
            <a:ext cx="2843784" cy="320040"/>
          </a:xfrm>
          <a:prstGeom prst="rect">
            <a:avLst/>
          </a:prstGeom>
          <a:noFill/>
          <a:ln/>
        </p:spPr>
        <p:txBody>
          <a:bodyPr wrap="square" lIns="0" tIns="0" rIns="0" bIns="0" rtlCol="0" anchor="ctr"/>
          <a:lstStyle/>
          <a:p>
            <a:pPr indent="0" marL="0">
              <a:buNone/>
            </a:pPr>
            <a:r>
              <a:rPr lang="en-US" sz="1500" b="1" dirty="0">
                <a:solidFill>
                  <a:srgbClr val="12312E"/>
                </a:solidFill>
                <a:latin typeface="Cambria" pitchFamily="34" charset="0"/>
                <a:ea typeface="Cambria" pitchFamily="34" charset="-122"/>
                <a:cs typeface="Cambria" pitchFamily="34" charset="-120"/>
              </a:rPr>
              <a:t>person anchor</a:t>
            </a:r>
            <a:endParaRPr lang="en-US" sz="1500" dirty="0"/>
          </a:p>
        </p:txBody>
      </p:sp>
      <p:sp>
        <p:nvSpPr>
          <p:cNvPr id="11" name="Text 9"/>
          <p:cNvSpPr/>
          <p:nvPr/>
        </p:nvSpPr>
        <p:spPr>
          <a:xfrm>
            <a:off x="4690872" y="3456432"/>
            <a:ext cx="2889504" cy="457200"/>
          </a:xfrm>
          <a:prstGeom prst="rect">
            <a:avLst/>
          </a:prstGeom>
          <a:noFill/>
          <a:ln/>
        </p:spPr>
        <p:txBody>
          <a:bodyPr wrap="square" lIns="0" tIns="0" rIns="0" bIns="0" rtlCol="0" anchor="ctr"/>
          <a:lstStyle/>
          <a:p>
            <a:pPr indent="0" marL="0">
              <a:lnSpc>
                <a:spcPts val="1300"/>
              </a:lnSpc>
              <a:buNone/>
            </a:pPr>
            <a:r>
              <a:rPr lang="en-US" sz="1150" dirty="0">
                <a:solidFill>
                  <a:srgbClr val="5B6E6B"/>
                </a:solidFill>
                <a:latin typeface="Calibri" pitchFamily="34" charset="0"/>
                <a:ea typeface="Calibri" pitchFamily="34" charset="-122"/>
                <a:cs typeface="Calibri" pitchFamily="34" charset="-120"/>
              </a:rPr>
              <a:t>identity + trust live end-to-end</a:t>
            </a:r>
            <a:endParaRPr lang="en-US" sz="1150" dirty="0"/>
          </a:p>
        </p:txBody>
      </p:sp>
      <p:sp>
        <p:nvSpPr>
          <p:cNvPr id="12" name="Shape 10"/>
          <p:cNvSpPr/>
          <p:nvPr/>
        </p:nvSpPr>
        <p:spPr>
          <a:xfrm>
            <a:off x="8156448" y="2148840"/>
            <a:ext cx="3392424" cy="1828800"/>
          </a:xfrm>
          <a:prstGeom prst="roundRect">
            <a:avLst>
              <a:gd name="adj" fmla="val 5000"/>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3" name="Text 11"/>
          <p:cNvSpPr/>
          <p:nvPr/>
        </p:nvSpPr>
        <p:spPr>
          <a:xfrm>
            <a:off x="8430768" y="2286000"/>
            <a:ext cx="2843784" cy="868680"/>
          </a:xfrm>
          <a:prstGeom prst="rect">
            <a:avLst/>
          </a:prstGeom>
          <a:noFill/>
          <a:ln/>
        </p:spPr>
        <p:txBody>
          <a:bodyPr wrap="square" lIns="0" tIns="0" rIns="0" bIns="0" rtlCol="0" anchor="ctr"/>
          <a:lstStyle/>
          <a:p>
            <a:pPr indent="0" marL="0">
              <a:buNone/>
            </a:pPr>
            <a:r>
              <a:rPr lang="en-US" sz="5200" b="1" dirty="0">
                <a:solidFill>
                  <a:srgbClr val="E1A21A"/>
                </a:solidFill>
                <a:latin typeface="Cambria" pitchFamily="34" charset="0"/>
                <a:ea typeface="Cambria" pitchFamily="34" charset="-122"/>
                <a:cs typeface="Cambria" pitchFamily="34" charset="-120"/>
              </a:rPr>
              <a:t>Live</a:t>
            </a:r>
            <a:endParaRPr lang="en-US" sz="5200" dirty="0"/>
          </a:p>
        </p:txBody>
      </p:sp>
      <p:sp>
        <p:nvSpPr>
          <p:cNvPr id="14" name="Text 12"/>
          <p:cNvSpPr/>
          <p:nvPr/>
        </p:nvSpPr>
        <p:spPr>
          <a:xfrm>
            <a:off x="8449056" y="3127248"/>
            <a:ext cx="2843784" cy="320040"/>
          </a:xfrm>
          <a:prstGeom prst="rect">
            <a:avLst/>
          </a:prstGeom>
          <a:noFill/>
          <a:ln/>
        </p:spPr>
        <p:txBody>
          <a:bodyPr wrap="square" lIns="0" tIns="0" rIns="0" bIns="0" rtlCol="0" anchor="ctr"/>
          <a:lstStyle/>
          <a:p>
            <a:pPr indent="0" marL="0">
              <a:buNone/>
            </a:pPr>
            <a:r>
              <a:rPr lang="en-US" sz="1500" b="1" dirty="0">
                <a:solidFill>
                  <a:srgbClr val="12312E"/>
                </a:solidFill>
                <a:latin typeface="Cambria" pitchFamily="34" charset="0"/>
                <a:ea typeface="Cambria" pitchFamily="34" charset="-122"/>
                <a:cs typeface="Cambria" pitchFamily="34" charset="-120"/>
              </a:rPr>
              <a:t>wellness</a:t>
            </a:r>
            <a:endParaRPr lang="en-US" sz="1500" dirty="0"/>
          </a:p>
        </p:txBody>
      </p:sp>
      <p:sp>
        <p:nvSpPr>
          <p:cNvPr id="15" name="Text 13"/>
          <p:cNvSpPr/>
          <p:nvPr/>
        </p:nvSpPr>
        <p:spPr>
          <a:xfrm>
            <a:off x="8449056" y="3456432"/>
            <a:ext cx="2889504" cy="457200"/>
          </a:xfrm>
          <a:prstGeom prst="rect">
            <a:avLst/>
          </a:prstGeom>
          <a:noFill/>
          <a:ln/>
        </p:spPr>
        <p:txBody>
          <a:bodyPr wrap="square" lIns="0" tIns="0" rIns="0" bIns="0" rtlCol="0" anchor="ctr"/>
          <a:lstStyle/>
          <a:p>
            <a:pPr indent="0" marL="0">
              <a:lnSpc>
                <a:spcPts val="1300"/>
              </a:lnSpc>
              <a:buNone/>
            </a:pPr>
            <a:r>
              <a:rPr lang="en-US" sz="1150" dirty="0">
                <a:solidFill>
                  <a:srgbClr val="5B6E6B"/>
                </a:solidFill>
                <a:latin typeface="Calibri" pitchFamily="34" charset="0"/>
                <a:ea typeface="Calibri" pitchFamily="34" charset="-122"/>
                <a:cs typeface="Calibri" pitchFamily="34" charset="-120"/>
              </a:rPr>
              <a:t>citizen &amp; care surfaces in preview</a:t>
            </a:r>
            <a:endParaRPr lang="en-US" sz="1150" dirty="0"/>
          </a:p>
        </p:txBody>
      </p:sp>
      <p:sp>
        <p:nvSpPr>
          <p:cNvPr id="16" name="Shape 14"/>
          <p:cNvSpPr/>
          <p:nvPr/>
        </p:nvSpPr>
        <p:spPr>
          <a:xfrm>
            <a:off x="640080" y="4251960"/>
            <a:ext cx="10908792" cy="1234440"/>
          </a:xfrm>
          <a:prstGeom prst="roundRect">
            <a:avLst>
              <a:gd name="adj" fmla="val 7407"/>
            </a:avLst>
          </a:prstGeom>
          <a:solidFill>
            <a:srgbClr val="0A3B37"/>
          </a:solidFill>
          <a:ln/>
          <a:effectLst>
            <a:outerShdw sx="100000" sy="100000" kx="0" ky="0" algn="bl" rotWithShape="0" blurRad="114300" dist="38100" dir="5400000">
              <a:srgbClr val="0A3B37">
                <a:alpha val="13000"/>
              </a:srgbClr>
            </a:outerShdw>
          </a:effectLst>
        </p:spPr>
      </p:sp>
      <p:sp>
        <p:nvSpPr>
          <p:cNvPr id="17" name="Shape 15"/>
          <p:cNvSpPr/>
          <p:nvPr/>
        </p:nvSpPr>
        <p:spPr>
          <a:xfrm>
            <a:off x="1005840" y="4526280"/>
            <a:ext cx="731520" cy="731520"/>
          </a:xfrm>
          <a:prstGeom prst="ellipse">
            <a:avLst/>
          </a:prstGeom>
          <a:solidFill>
            <a:srgbClr val="E1A21A"/>
          </a:solidFill>
          <a:ln/>
        </p:spPr>
      </p:sp>
      <p:pic>
        <p:nvPicPr>
          <p:cNvPr id="18" name="Image 0" descr="preencoded.png">    </p:cNvPr>
          <p:cNvPicPr>
            <a:picLocks noChangeAspect="1"/>
          </p:cNvPicPr>
          <p:nvPr/>
        </p:nvPicPr>
        <p:blipFill>
          <a:blip r:embed="rId1"/>
          <a:stretch>
            <a:fillRect/>
          </a:stretch>
        </p:blipFill>
        <p:spPr>
          <a:xfrm>
            <a:off x="1210666" y="4731106"/>
            <a:ext cx="321869" cy="321869"/>
          </a:xfrm>
          <a:prstGeom prst="rect">
            <a:avLst/>
          </a:prstGeom>
        </p:spPr>
      </p:pic>
      <p:sp>
        <p:nvSpPr>
          <p:cNvPr id="19" name="Text 16"/>
          <p:cNvSpPr/>
          <p:nvPr/>
        </p:nvSpPr>
        <p:spPr>
          <a:xfrm>
            <a:off x="2011680" y="4251960"/>
            <a:ext cx="9262872" cy="12344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Delivered in small, verified increments  </a:t>
            </a:r>
            <a:pPr indent="0" marL="0">
              <a:buNone/>
            </a:pPr>
            <a:r>
              <a:rPr lang="en-US" sz="1700" dirty="0">
                <a:solidFill>
                  <a:srgbClr val="5EEAD4"/>
                </a:solidFill>
                <a:latin typeface="Calibri" pitchFamily="34" charset="0"/>
                <a:ea typeface="Calibri" pitchFamily="34" charset="-122"/>
                <a:cs typeface="Calibri" pitchFamily="34" charset="-120"/>
              </a:rPr>
              <a:t>— every step safe, auditable, and reversible.</a:t>
            </a:r>
            <a:endParaRPr lang="en-US" sz="1700" dirty="0"/>
          </a:p>
        </p:txBody>
      </p:sp>
      <p:sp>
        <p:nvSpPr>
          <p:cNvPr id="20" name="Text 17"/>
          <p:cNvSpPr/>
          <p:nvPr/>
        </p:nvSpPr>
        <p:spPr>
          <a:xfrm>
            <a:off x="640080" y="5715000"/>
            <a:ext cx="10908792" cy="365760"/>
          </a:xfrm>
          <a:prstGeom prst="rect">
            <a:avLst/>
          </a:prstGeom>
          <a:noFill/>
          <a:ln/>
        </p:spPr>
        <p:txBody>
          <a:bodyPr wrap="square" rtlCol="0" anchor="ctr"/>
          <a:lstStyle/>
          <a:p>
            <a:pPr algn="ctr" indent="0" marL="0">
              <a:buNone/>
            </a:pPr>
            <a:r>
              <a:rPr lang="en-US" sz="1150" i="1" dirty="0">
                <a:solidFill>
                  <a:srgbClr val="5B6E6B"/>
                </a:solidFill>
                <a:latin typeface="Calibri" pitchFamily="34" charset="0"/>
                <a:ea typeface="Calibri" pitchFamily="34" charset="-122"/>
                <a:cs typeface="Calibri" pitchFamily="34" charset="-120"/>
              </a:rPr>
              <a:t>Presenter: insert your latest concrete milestone or metric here — one real proof point lands harder than any slide.</a:t>
            </a:r>
            <a:endParaRPr lang="en-US" sz="1150" dirty="0"/>
          </a:p>
        </p:txBody>
      </p:sp>
      <p:sp>
        <p:nvSpPr>
          <p:cNvPr id="21" name="Text 18"/>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22" name="Text 19"/>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9F8"/>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0D8577"/>
                </a:solidFill>
                <a:latin typeface="Calibri" pitchFamily="34" charset="0"/>
                <a:ea typeface="Calibri" pitchFamily="34" charset="-122"/>
                <a:cs typeface="Calibri" pitchFamily="34" charset="-120"/>
              </a:rPr>
              <a:t>THE ROADMAP AHEAD</a:t>
            </a:r>
            <a:endParaRPr lang="en-US" sz="1250" dirty="0"/>
          </a:p>
        </p:txBody>
      </p:sp>
      <p:sp>
        <p:nvSpPr>
          <p:cNvPr id="3" name="Text 1"/>
          <p:cNvSpPr/>
          <p:nvPr/>
        </p:nvSpPr>
        <p:spPr>
          <a:xfrm>
            <a:off x="640080" y="749808"/>
            <a:ext cx="10908792" cy="868680"/>
          </a:xfrm>
          <a:prstGeom prst="rect">
            <a:avLst/>
          </a:prstGeom>
          <a:noFill/>
          <a:ln/>
        </p:spPr>
        <p:txBody>
          <a:bodyPr wrap="square" lIns="0" tIns="0" rIns="0" bIns="0" rtlCol="0" anchor="t"/>
          <a:lstStyle/>
          <a:p>
            <a:pPr indent="0" marL="0">
              <a:lnSpc>
                <a:spcPts val="3600"/>
              </a:lnSpc>
              <a:buNone/>
            </a:pPr>
            <a:r>
              <a:rPr lang="en-US" sz="3300" b="1" dirty="0">
                <a:solidFill>
                  <a:srgbClr val="12312E"/>
                </a:solidFill>
                <a:latin typeface="Cambria" pitchFamily="34" charset="0"/>
                <a:ea typeface="Cambria" pitchFamily="34" charset="-122"/>
                <a:cs typeface="Cambria" pitchFamily="34" charset="-120"/>
              </a:rPr>
              <a:t>What comes next</a:t>
            </a:r>
            <a:endParaRPr lang="en-US" sz="3300" dirty="0"/>
          </a:p>
        </p:txBody>
      </p:sp>
      <p:sp>
        <p:nvSpPr>
          <p:cNvPr id="4" name="Shape 2"/>
          <p:cNvSpPr/>
          <p:nvPr/>
        </p:nvSpPr>
        <p:spPr>
          <a:xfrm>
            <a:off x="1874520" y="3749040"/>
            <a:ext cx="8439912" cy="0"/>
          </a:xfrm>
          <a:prstGeom prst="line">
            <a:avLst/>
          </a:prstGeom>
          <a:noFill/>
          <a:ln w="38100">
            <a:solidFill>
              <a:srgbClr val="14B8A6"/>
            </a:solidFill>
            <a:prstDash val="solid"/>
          </a:ln>
        </p:spPr>
      </p:sp>
      <p:sp>
        <p:nvSpPr>
          <p:cNvPr id="5" name="Shape 3"/>
          <p:cNvSpPr/>
          <p:nvPr/>
        </p:nvSpPr>
        <p:spPr>
          <a:xfrm>
            <a:off x="1463040" y="3337560"/>
            <a:ext cx="822960" cy="822960"/>
          </a:xfrm>
          <a:prstGeom prst="ellipse">
            <a:avLst/>
          </a:prstGeom>
          <a:solidFill>
            <a:srgbClr val="0A3B37"/>
          </a:solidFill>
          <a:ln w="31750">
            <a:solidFill>
              <a:srgbClr val="E1A21A"/>
            </a:solidFill>
            <a:prstDash val="solid"/>
          </a:ln>
        </p:spPr>
      </p:sp>
      <p:pic>
        <p:nvPicPr>
          <p:cNvPr id="6" name="Image 0" descr="preencoded.png">    </p:cNvPr>
          <p:cNvPicPr>
            <a:picLocks noChangeAspect="1"/>
          </p:cNvPicPr>
          <p:nvPr/>
        </p:nvPicPr>
        <p:blipFill>
          <a:blip r:embed="rId1"/>
          <a:stretch>
            <a:fillRect/>
          </a:stretch>
        </p:blipFill>
        <p:spPr>
          <a:xfrm>
            <a:off x="1664208" y="3538728"/>
            <a:ext cx="420624" cy="420624"/>
          </a:xfrm>
          <a:prstGeom prst="rect">
            <a:avLst/>
          </a:prstGeom>
        </p:spPr>
      </p:pic>
      <p:sp>
        <p:nvSpPr>
          <p:cNvPr id="7" name="Shape 4"/>
          <p:cNvSpPr/>
          <p:nvPr/>
        </p:nvSpPr>
        <p:spPr>
          <a:xfrm>
            <a:off x="640080" y="1874520"/>
            <a:ext cx="2468880" cy="1234440"/>
          </a:xfrm>
          <a:prstGeom prst="roundRect">
            <a:avLst>
              <a:gd name="adj" fmla="val 6667"/>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8" name="Text 5"/>
          <p:cNvSpPr/>
          <p:nvPr/>
        </p:nvSpPr>
        <p:spPr>
          <a:xfrm>
            <a:off x="822960" y="2039112"/>
            <a:ext cx="2103120" cy="365760"/>
          </a:xfrm>
          <a:prstGeom prst="rect">
            <a:avLst/>
          </a:prstGeom>
          <a:noFill/>
          <a:ln/>
        </p:spPr>
        <p:txBody>
          <a:bodyPr wrap="square" lIns="0" tIns="0" rIns="0" bIns="0" rtlCol="0" anchor="ctr"/>
          <a:lstStyle/>
          <a:p>
            <a:pPr indent="0" marL="0">
              <a:buNone/>
            </a:pPr>
            <a:r>
              <a:rPr lang="en-US" sz="1400" b="1" dirty="0">
                <a:solidFill>
                  <a:srgbClr val="0D8577"/>
                </a:solidFill>
                <a:latin typeface="Cambria" pitchFamily="34" charset="0"/>
                <a:ea typeface="Cambria" pitchFamily="34" charset="-122"/>
                <a:cs typeface="Cambria" pitchFamily="34" charset="-120"/>
              </a:rPr>
              <a:t>Close the loop</a:t>
            </a:r>
            <a:endParaRPr lang="en-US" sz="1400" dirty="0"/>
          </a:p>
        </p:txBody>
      </p:sp>
      <p:sp>
        <p:nvSpPr>
          <p:cNvPr id="9" name="Text 6"/>
          <p:cNvSpPr/>
          <p:nvPr/>
        </p:nvSpPr>
        <p:spPr>
          <a:xfrm>
            <a:off x="822960" y="2423160"/>
            <a:ext cx="2148840" cy="594360"/>
          </a:xfrm>
          <a:prstGeom prst="rect">
            <a:avLst/>
          </a:prstGeom>
          <a:noFill/>
          <a:ln/>
        </p:spPr>
        <p:txBody>
          <a:bodyPr wrap="square" lIns="0" tIns="0" rIns="0" bIns="0" rtlCol="0" anchor="ctr"/>
          <a:lstStyle/>
          <a:p>
            <a:pPr indent="0" marL="0">
              <a:lnSpc>
                <a:spcPts val="1300"/>
              </a:lnSpc>
              <a:buNone/>
            </a:pPr>
            <a:r>
              <a:rPr lang="en-US" sz="1100" dirty="0">
                <a:solidFill>
                  <a:srgbClr val="5B6E6B"/>
                </a:solidFill>
                <a:latin typeface="Calibri" pitchFamily="34" charset="0"/>
                <a:ea typeface="Calibri" pitchFamily="34" charset="-122"/>
                <a:cs typeface="Calibri" pitchFamily="34" charset="-120"/>
              </a:rPr>
              <a:t>Live end-to-end workflows across services</a:t>
            </a:r>
            <a:endParaRPr lang="en-US" sz="1100" dirty="0"/>
          </a:p>
        </p:txBody>
      </p:sp>
      <p:sp>
        <p:nvSpPr>
          <p:cNvPr id="10" name="Shape 7"/>
          <p:cNvSpPr/>
          <p:nvPr/>
        </p:nvSpPr>
        <p:spPr>
          <a:xfrm>
            <a:off x="4276344" y="3337560"/>
            <a:ext cx="822960" cy="822960"/>
          </a:xfrm>
          <a:prstGeom prst="ellipse">
            <a:avLst/>
          </a:prstGeom>
          <a:solidFill>
            <a:srgbClr val="0A3B37"/>
          </a:solidFill>
          <a:ln w="31750">
            <a:solidFill>
              <a:srgbClr val="E1A21A"/>
            </a:solidFill>
            <a:prstDash val="solid"/>
          </a:ln>
        </p:spPr>
      </p:sp>
      <p:pic>
        <p:nvPicPr>
          <p:cNvPr id="11" name="Image 1" descr="preencoded.png">    </p:cNvPr>
          <p:cNvPicPr>
            <a:picLocks noChangeAspect="1"/>
          </p:cNvPicPr>
          <p:nvPr/>
        </p:nvPicPr>
        <p:blipFill>
          <a:blip r:embed="rId2"/>
          <a:stretch>
            <a:fillRect/>
          </a:stretch>
        </p:blipFill>
        <p:spPr>
          <a:xfrm>
            <a:off x="4477512" y="3538728"/>
            <a:ext cx="420624" cy="420624"/>
          </a:xfrm>
          <a:prstGeom prst="rect">
            <a:avLst/>
          </a:prstGeom>
        </p:spPr>
      </p:pic>
      <p:sp>
        <p:nvSpPr>
          <p:cNvPr id="12" name="Shape 8"/>
          <p:cNvSpPr/>
          <p:nvPr/>
        </p:nvSpPr>
        <p:spPr>
          <a:xfrm>
            <a:off x="3453384" y="4389120"/>
            <a:ext cx="2468880" cy="1234440"/>
          </a:xfrm>
          <a:prstGeom prst="roundRect">
            <a:avLst>
              <a:gd name="adj" fmla="val 6667"/>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3" name="Text 9"/>
          <p:cNvSpPr/>
          <p:nvPr/>
        </p:nvSpPr>
        <p:spPr>
          <a:xfrm>
            <a:off x="3636264" y="4553712"/>
            <a:ext cx="2103120" cy="365760"/>
          </a:xfrm>
          <a:prstGeom prst="rect">
            <a:avLst/>
          </a:prstGeom>
          <a:noFill/>
          <a:ln/>
        </p:spPr>
        <p:txBody>
          <a:bodyPr wrap="square" lIns="0" tIns="0" rIns="0" bIns="0" rtlCol="0" anchor="ctr"/>
          <a:lstStyle/>
          <a:p>
            <a:pPr indent="0" marL="0">
              <a:buNone/>
            </a:pPr>
            <a:r>
              <a:rPr lang="en-US" sz="1400" b="1" dirty="0">
                <a:solidFill>
                  <a:srgbClr val="0D8577"/>
                </a:solidFill>
                <a:latin typeface="Cambria" pitchFamily="34" charset="0"/>
                <a:ea typeface="Cambria" pitchFamily="34" charset="-122"/>
                <a:cs typeface="Cambria" pitchFamily="34" charset="-120"/>
              </a:rPr>
              <a:t>Broaden rollout</a:t>
            </a:r>
            <a:endParaRPr lang="en-US" sz="1400" dirty="0"/>
          </a:p>
        </p:txBody>
      </p:sp>
      <p:sp>
        <p:nvSpPr>
          <p:cNvPr id="14" name="Text 10"/>
          <p:cNvSpPr/>
          <p:nvPr/>
        </p:nvSpPr>
        <p:spPr>
          <a:xfrm>
            <a:off x="3636264" y="4937760"/>
            <a:ext cx="2148840" cy="594360"/>
          </a:xfrm>
          <a:prstGeom prst="rect">
            <a:avLst/>
          </a:prstGeom>
          <a:noFill/>
          <a:ln/>
        </p:spPr>
        <p:txBody>
          <a:bodyPr wrap="square" lIns="0" tIns="0" rIns="0" bIns="0" rtlCol="0" anchor="ctr"/>
          <a:lstStyle/>
          <a:p>
            <a:pPr indent="0" marL="0">
              <a:lnSpc>
                <a:spcPts val="1300"/>
              </a:lnSpc>
              <a:buNone/>
            </a:pPr>
            <a:r>
              <a:rPr lang="en-US" sz="1100" dirty="0">
                <a:solidFill>
                  <a:srgbClr val="5B6E6B"/>
                </a:solidFill>
                <a:latin typeface="Calibri" pitchFamily="34" charset="0"/>
                <a:ea typeface="Calibri" pitchFamily="34" charset="-122"/>
                <a:cs typeface="Calibri" pitchFamily="34" charset="-120"/>
              </a:rPr>
              <a:t>Onboard real users at more facilities</a:t>
            </a:r>
            <a:endParaRPr lang="en-US" sz="1100" dirty="0"/>
          </a:p>
        </p:txBody>
      </p:sp>
      <p:sp>
        <p:nvSpPr>
          <p:cNvPr id="15" name="Shape 11"/>
          <p:cNvSpPr/>
          <p:nvPr/>
        </p:nvSpPr>
        <p:spPr>
          <a:xfrm>
            <a:off x="7089648" y="3337560"/>
            <a:ext cx="822960" cy="822960"/>
          </a:xfrm>
          <a:prstGeom prst="ellipse">
            <a:avLst/>
          </a:prstGeom>
          <a:solidFill>
            <a:srgbClr val="0A3B37"/>
          </a:solidFill>
          <a:ln w="31750">
            <a:solidFill>
              <a:srgbClr val="E1A21A"/>
            </a:solidFill>
            <a:prstDash val="solid"/>
          </a:ln>
        </p:spPr>
      </p:sp>
      <p:pic>
        <p:nvPicPr>
          <p:cNvPr id="16" name="Image 2" descr="preencoded.png">    </p:cNvPr>
          <p:cNvPicPr>
            <a:picLocks noChangeAspect="1"/>
          </p:cNvPicPr>
          <p:nvPr/>
        </p:nvPicPr>
        <p:blipFill>
          <a:blip r:embed="rId3"/>
          <a:stretch>
            <a:fillRect/>
          </a:stretch>
        </p:blipFill>
        <p:spPr>
          <a:xfrm>
            <a:off x="7290816" y="3538728"/>
            <a:ext cx="420624" cy="420624"/>
          </a:xfrm>
          <a:prstGeom prst="rect">
            <a:avLst/>
          </a:prstGeom>
        </p:spPr>
      </p:pic>
      <p:sp>
        <p:nvSpPr>
          <p:cNvPr id="17" name="Shape 12"/>
          <p:cNvSpPr/>
          <p:nvPr/>
        </p:nvSpPr>
        <p:spPr>
          <a:xfrm>
            <a:off x="6266688" y="1874520"/>
            <a:ext cx="2468880" cy="1234440"/>
          </a:xfrm>
          <a:prstGeom prst="roundRect">
            <a:avLst>
              <a:gd name="adj" fmla="val 6667"/>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18" name="Text 13"/>
          <p:cNvSpPr/>
          <p:nvPr/>
        </p:nvSpPr>
        <p:spPr>
          <a:xfrm>
            <a:off x="6449568" y="2039112"/>
            <a:ext cx="2103120" cy="365760"/>
          </a:xfrm>
          <a:prstGeom prst="rect">
            <a:avLst/>
          </a:prstGeom>
          <a:noFill/>
          <a:ln/>
        </p:spPr>
        <p:txBody>
          <a:bodyPr wrap="square" lIns="0" tIns="0" rIns="0" bIns="0" rtlCol="0" anchor="ctr"/>
          <a:lstStyle/>
          <a:p>
            <a:pPr indent="0" marL="0">
              <a:buNone/>
            </a:pPr>
            <a:r>
              <a:rPr lang="en-US" sz="1400" b="1" dirty="0">
                <a:solidFill>
                  <a:srgbClr val="0D8577"/>
                </a:solidFill>
                <a:latin typeface="Cambria" pitchFamily="34" charset="0"/>
                <a:ea typeface="Cambria" pitchFamily="34" charset="-122"/>
                <a:cs typeface="Cambria" pitchFamily="34" charset="-120"/>
              </a:rPr>
              <a:t>Open to partners</a:t>
            </a:r>
            <a:endParaRPr lang="en-US" sz="1400" dirty="0"/>
          </a:p>
        </p:txBody>
      </p:sp>
      <p:sp>
        <p:nvSpPr>
          <p:cNvPr id="19" name="Text 14"/>
          <p:cNvSpPr/>
          <p:nvPr/>
        </p:nvSpPr>
        <p:spPr>
          <a:xfrm>
            <a:off x="6449568" y="2423160"/>
            <a:ext cx="2148840" cy="594360"/>
          </a:xfrm>
          <a:prstGeom prst="rect">
            <a:avLst/>
          </a:prstGeom>
          <a:noFill/>
          <a:ln/>
        </p:spPr>
        <p:txBody>
          <a:bodyPr wrap="square" lIns="0" tIns="0" rIns="0" bIns="0" rtlCol="0" anchor="ctr"/>
          <a:lstStyle/>
          <a:p>
            <a:pPr indent="0" marL="0">
              <a:lnSpc>
                <a:spcPts val="1300"/>
              </a:lnSpc>
              <a:buNone/>
            </a:pPr>
            <a:r>
              <a:rPr lang="en-US" sz="1100" dirty="0">
                <a:solidFill>
                  <a:srgbClr val="5B6E6B"/>
                </a:solidFill>
                <a:latin typeface="Calibri" pitchFamily="34" charset="0"/>
                <a:ea typeface="Calibri" pitchFamily="34" charset="-122"/>
                <a:cs typeface="Calibri" pitchFamily="34" charset="-120"/>
              </a:rPr>
              <a:t>More integrations on standard interfaces</a:t>
            </a:r>
            <a:endParaRPr lang="en-US" sz="1100" dirty="0"/>
          </a:p>
        </p:txBody>
      </p:sp>
      <p:sp>
        <p:nvSpPr>
          <p:cNvPr id="20" name="Shape 15"/>
          <p:cNvSpPr/>
          <p:nvPr/>
        </p:nvSpPr>
        <p:spPr>
          <a:xfrm>
            <a:off x="9902952" y="3337560"/>
            <a:ext cx="822960" cy="822960"/>
          </a:xfrm>
          <a:prstGeom prst="ellipse">
            <a:avLst/>
          </a:prstGeom>
          <a:solidFill>
            <a:srgbClr val="0A3B37"/>
          </a:solidFill>
          <a:ln w="31750">
            <a:solidFill>
              <a:srgbClr val="E1A21A"/>
            </a:solidFill>
            <a:prstDash val="solid"/>
          </a:ln>
        </p:spPr>
      </p:sp>
      <p:pic>
        <p:nvPicPr>
          <p:cNvPr id="21" name="Image 3" descr="preencoded.png">    </p:cNvPr>
          <p:cNvPicPr>
            <a:picLocks noChangeAspect="1"/>
          </p:cNvPicPr>
          <p:nvPr/>
        </p:nvPicPr>
        <p:blipFill>
          <a:blip r:embed="rId4"/>
          <a:stretch>
            <a:fillRect/>
          </a:stretch>
        </p:blipFill>
        <p:spPr>
          <a:xfrm>
            <a:off x="10104120" y="3538728"/>
            <a:ext cx="420624" cy="420624"/>
          </a:xfrm>
          <a:prstGeom prst="rect">
            <a:avLst/>
          </a:prstGeom>
        </p:spPr>
      </p:pic>
      <p:sp>
        <p:nvSpPr>
          <p:cNvPr id="22" name="Shape 16"/>
          <p:cNvSpPr/>
          <p:nvPr/>
        </p:nvSpPr>
        <p:spPr>
          <a:xfrm>
            <a:off x="9079992" y="4389120"/>
            <a:ext cx="2468880" cy="1234440"/>
          </a:xfrm>
          <a:prstGeom prst="roundRect">
            <a:avLst>
              <a:gd name="adj" fmla="val 6667"/>
            </a:avLst>
          </a:prstGeom>
          <a:solidFill>
            <a:srgbClr val="FFFFFF"/>
          </a:solidFill>
          <a:ln w="12700">
            <a:solidFill>
              <a:srgbClr val="D8E6E3"/>
            </a:solidFill>
            <a:prstDash val="solid"/>
          </a:ln>
          <a:effectLst>
            <a:outerShdw sx="100000" sy="100000" kx="0" ky="0" algn="bl" rotWithShape="0" blurRad="114300" dist="38100" dir="5400000">
              <a:srgbClr val="0A3B37">
                <a:alpha val="13000"/>
              </a:srgbClr>
            </a:outerShdw>
          </a:effectLst>
        </p:spPr>
      </p:sp>
      <p:sp>
        <p:nvSpPr>
          <p:cNvPr id="23" name="Text 17"/>
          <p:cNvSpPr/>
          <p:nvPr/>
        </p:nvSpPr>
        <p:spPr>
          <a:xfrm>
            <a:off x="9262872" y="4553712"/>
            <a:ext cx="2103120" cy="365760"/>
          </a:xfrm>
          <a:prstGeom prst="rect">
            <a:avLst/>
          </a:prstGeom>
          <a:noFill/>
          <a:ln/>
        </p:spPr>
        <p:txBody>
          <a:bodyPr wrap="square" lIns="0" tIns="0" rIns="0" bIns="0" rtlCol="0" anchor="ctr"/>
          <a:lstStyle/>
          <a:p>
            <a:pPr indent="0" marL="0">
              <a:buNone/>
            </a:pPr>
            <a:r>
              <a:rPr lang="en-US" sz="1400" b="1" dirty="0">
                <a:solidFill>
                  <a:srgbClr val="0D8577"/>
                </a:solidFill>
                <a:latin typeface="Cambria" pitchFamily="34" charset="0"/>
                <a:ea typeface="Cambria" pitchFamily="34" charset="-122"/>
                <a:cs typeface="Cambria" pitchFamily="34" charset="-120"/>
              </a:rPr>
              <a:t>Harden the last mile</a:t>
            </a:r>
            <a:endParaRPr lang="en-US" sz="1400" dirty="0"/>
          </a:p>
        </p:txBody>
      </p:sp>
      <p:sp>
        <p:nvSpPr>
          <p:cNvPr id="24" name="Text 18"/>
          <p:cNvSpPr/>
          <p:nvPr/>
        </p:nvSpPr>
        <p:spPr>
          <a:xfrm>
            <a:off x="9262872" y="4937760"/>
            <a:ext cx="2148840" cy="594360"/>
          </a:xfrm>
          <a:prstGeom prst="rect">
            <a:avLst/>
          </a:prstGeom>
          <a:noFill/>
          <a:ln/>
        </p:spPr>
        <p:txBody>
          <a:bodyPr wrap="square" lIns="0" tIns="0" rIns="0" bIns="0" rtlCol="0" anchor="ctr"/>
          <a:lstStyle/>
          <a:p>
            <a:pPr indent="0" marL="0">
              <a:lnSpc>
                <a:spcPts val="1300"/>
              </a:lnSpc>
              <a:buNone/>
            </a:pPr>
            <a:r>
              <a:rPr lang="en-US" sz="1100" dirty="0">
                <a:solidFill>
                  <a:srgbClr val="5B6E6B"/>
                </a:solidFill>
                <a:latin typeface="Calibri" pitchFamily="34" charset="0"/>
                <a:ea typeface="Calibri" pitchFamily="34" charset="-122"/>
                <a:cs typeface="Calibri" pitchFamily="34" charset="-120"/>
              </a:rPr>
              <a:t>Stronger offline / federated operation</a:t>
            </a:r>
            <a:endParaRPr lang="en-US" sz="1100" dirty="0"/>
          </a:p>
        </p:txBody>
      </p:sp>
      <p:sp>
        <p:nvSpPr>
          <p:cNvPr id="25" name="Text 19"/>
          <p:cNvSpPr/>
          <p:nvPr/>
        </p:nvSpPr>
        <p:spPr>
          <a:xfrm>
            <a:off x="640080" y="5943600"/>
            <a:ext cx="10908792" cy="365760"/>
          </a:xfrm>
          <a:prstGeom prst="rect">
            <a:avLst/>
          </a:prstGeom>
          <a:noFill/>
          <a:ln/>
        </p:spPr>
        <p:txBody>
          <a:bodyPr wrap="square" rtlCol="0" anchor="ctr"/>
          <a:lstStyle/>
          <a:p>
            <a:pPr algn="ctr" indent="0" marL="0">
              <a:buNone/>
            </a:pPr>
            <a:r>
              <a:rPr lang="en-US" sz="1250" i="1" dirty="0">
                <a:solidFill>
                  <a:srgbClr val="5B6E6B"/>
                </a:solidFill>
                <a:latin typeface="Calibri" pitchFamily="34" charset="0"/>
                <a:ea typeface="Calibri" pitchFamily="34" charset="-122"/>
                <a:cs typeface="Calibri" pitchFamily="34" charset="-120"/>
              </a:rPr>
              <a:t>We'll keep bringing progress to this meeting — honestly, including the gaps. Trust is built by being straight about where we are.</a:t>
            </a:r>
            <a:endParaRPr lang="en-US" sz="1250" dirty="0"/>
          </a:p>
        </p:txBody>
      </p:sp>
      <p:sp>
        <p:nvSpPr>
          <p:cNvPr id="26" name="Text 20"/>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27" name="Text 21"/>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3B37"/>
        </a:solidFill>
      </p:bgPr>
    </p:bg>
    <p:spTree>
      <p:nvGrpSpPr>
        <p:cNvPr id="1" name=""/>
        <p:cNvGrpSpPr/>
        <p:nvPr/>
      </p:nvGrpSpPr>
      <p:grpSpPr>
        <a:xfrm>
          <a:off x="0" y="0"/>
          <a:ext cx="0" cy="0"/>
          <a:chOff x="0" y="0"/>
          <a:chExt cx="0" cy="0"/>
        </a:xfrm>
      </p:grpSpPr>
      <p:sp>
        <p:nvSpPr>
          <p:cNvPr id="2" name="Shape 0"/>
          <p:cNvSpPr/>
          <p:nvPr/>
        </p:nvSpPr>
        <p:spPr>
          <a:xfrm>
            <a:off x="9509760" y="3291840"/>
            <a:ext cx="5120640" cy="5120640"/>
          </a:xfrm>
          <a:prstGeom prst="ellipse">
            <a:avLst/>
          </a:prstGeom>
          <a:solidFill>
            <a:srgbClr val="0F4A44"/>
          </a:solidFill>
          <a:ln/>
        </p:spPr>
      </p:sp>
      <p:sp>
        <p:nvSpPr>
          <p:cNvPr id="3" name="Shape 1"/>
          <p:cNvSpPr/>
          <p:nvPr/>
        </p:nvSpPr>
        <p:spPr>
          <a:xfrm>
            <a:off x="10195560" y="960120"/>
            <a:ext cx="1280160" cy="1280160"/>
          </a:xfrm>
          <a:prstGeom prst="ellipse">
            <a:avLst/>
          </a:prstGeom>
          <a:solidFill>
            <a:srgbClr val="E1A21A"/>
          </a:solidFill>
          <a:ln/>
        </p:spPr>
      </p:sp>
      <p:pic>
        <p:nvPicPr>
          <p:cNvPr id="4" name="Image 0" descr="preencoded.png">    </p:cNvPr>
          <p:cNvPicPr>
            <a:picLocks noChangeAspect="1"/>
          </p:cNvPicPr>
          <p:nvPr/>
        </p:nvPicPr>
        <p:blipFill>
          <a:blip r:embed="rId1"/>
          <a:stretch>
            <a:fillRect/>
          </a:stretch>
        </p:blipFill>
        <p:spPr>
          <a:xfrm>
            <a:off x="10554005" y="1318565"/>
            <a:ext cx="563270" cy="563270"/>
          </a:xfrm>
          <a:prstGeom prst="rect">
            <a:avLst/>
          </a:prstGeom>
        </p:spPr>
      </p:pic>
      <p:sp>
        <p:nvSpPr>
          <p:cNvPr id="5" name="Text 2"/>
          <p:cNvSpPr/>
          <p:nvPr/>
        </p:nvSpPr>
        <p:spPr>
          <a:xfrm>
            <a:off x="640080" y="457200"/>
            <a:ext cx="10908792" cy="292608"/>
          </a:xfrm>
          <a:prstGeom prst="rect">
            <a:avLst/>
          </a:prstGeom>
          <a:noFill/>
          <a:ln/>
        </p:spPr>
        <p:txBody>
          <a:bodyPr wrap="square" lIns="0" tIns="0" rIns="0" bIns="0" rtlCol="0" anchor="ctr"/>
          <a:lstStyle/>
          <a:p>
            <a:pPr indent="0" marL="0">
              <a:buNone/>
            </a:pPr>
            <a:r>
              <a:rPr lang="en-US" sz="1250" b="1" spc="300" kern="0" dirty="0">
                <a:solidFill>
                  <a:srgbClr val="5EEAD4"/>
                </a:solidFill>
                <a:latin typeface="Calibri" pitchFamily="34" charset="0"/>
                <a:ea typeface="Calibri" pitchFamily="34" charset="-122"/>
                <a:cs typeface="Calibri" pitchFamily="34" charset="-120"/>
              </a:rPr>
              <a:t>WHY THIS MATTERS FOR ZIMBABWE</a:t>
            </a:r>
            <a:endParaRPr lang="en-US" sz="1250" dirty="0"/>
          </a:p>
        </p:txBody>
      </p:sp>
      <p:sp>
        <p:nvSpPr>
          <p:cNvPr id="6" name="Text 3"/>
          <p:cNvSpPr/>
          <p:nvPr/>
        </p:nvSpPr>
        <p:spPr>
          <a:xfrm>
            <a:off x="640080" y="914400"/>
            <a:ext cx="8686800" cy="128016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One coherent national health environment</a:t>
            </a:r>
            <a:endParaRPr lang="en-US" sz="3400" dirty="0"/>
          </a:p>
        </p:txBody>
      </p:sp>
      <p:sp>
        <p:nvSpPr>
          <p:cNvPr id="7" name="Shape 4"/>
          <p:cNvSpPr/>
          <p:nvPr/>
        </p:nvSpPr>
        <p:spPr>
          <a:xfrm>
            <a:off x="640080" y="2514600"/>
            <a:ext cx="658368" cy="658368"/>
          </a:xfrm>
          <a:prstGeom prst="ellipse">
            <a:avLst/>
          </a:prstGeom>
          <a:solidFill>
            <a:srgbClr val="0B6B60"/>
          </a:solidFill>
          <a:ln/>
        </p:spPr>
      </p:sp>
      <p:pic>
        <p:nvPicPr>
          <p:cNvPr id="8" name="Image 1" descr="preencoded.png">    </p:cNvPr>
          <p:cNvPicPr>
            <a:picLocks noChangeAspect="1"/>
          </p:cNvPicPr>
          <p:nvPr/>
        </p:nvPicPr>
        <p:blipFill>
          <a:blip r:embed="rId2"/>
          <a:stretch>
            <a:fillRect/>
          </a:stretch>
        </p:blipFill>
        <p:spPr>
          <a:xfrm>
            <a:off x="824423" y="2698943"/>
            <a:ext cx="289682" cy="289682"/>
          </a:xfrm>
          <a:prstGeom prst="rect">
            <a:avLst/>
          </a:prstGeom>
        </p:spPr>
      </p:pic>
      <p:sp>
        <p:nvSpPr>
          <p:cNvPr id="9" name="Text 5"/>
          <p:cNvSpPr/>
          <p:nvPr/>
        </p:nvSpPr>
        <p:spPr>
          <a:xfrm>
            <a:off x="1554480" y="2468880"/>
            <a:ext cx="8229600" cy="749808"/>
          </a:xfrm>
          <a:prstGeom prst="rect">
            <a:avLst/>
          </a:prstGeom>
          <a:noFill/>
          <a:ln/>
        </p:spPr>
        <p:txBody>
          <a:bodyPr wrap="square" lIns="0" tIns="0" rIns="0" bIns="0" rtlCol="0" anchor="ctr"/>
          <a:lstStyle/>
          <a:p>
            <a:pPr indent="0" marL="0">
              <a:lnSpc>
                <a:spcPts val="2000"/>
              </a:lnSpc>
              <a:buNone/>
            </a:pPr>
            <a:r>
              <a:rPr lang="en-US" sz="1700" dirty="0">
                <a:solidFill>
                  <a:srgbClr val="E4F2EE"/>
                </a:solidFill>
                <a:latin typeface="Calibri" pitchFamily="34" charset="0"/>
                <a:ea typeface="Calibri" pitchFamily="34" charset="-122"/>
                <a:cs typeface="Calibri" pitchFamily="34" charset="-120"/>
              </a:rPr>
              <a:t>A citizen's health story follows them, safely, wherever they go</a:t>
            </a:r>
            <a:endParaRPr lang="en-US" sz="1700" dirty="0"/>
          </a:p>
        </p:txBody>
      </p:sp>
      <p:sp>
        <p:nvSpPr>
          <p:cNvPr id="10" name="Shape 6"/>
          <p:cNvSpPr/>
          <p:nvPr/>
        </p:nvSpPr>
        <p:spPr>
          <a:xfrm>
            <a:off x="640080" y="3447288"/>
            <a:ext cx="658368" cy="658368"/>
          </a:xfrm>
          <a:prstGeom prst="ellipse">
            <a:avLst/>
          </a:prstGeom>
          <a:solidFill>
            <a:srgbClr val="0B6B60"/>
          </a:solidFill>
          <a:ln/>
        </p:spPr>
      </p:sp>
      <p:pic>
        <p:nvPicPr>
          <p:cNvPr id="11" name="Image 2" descr="preencoded.png">    </p:cNvPr>
          <p:cNvPicPr>
            <a:picLocks noChangeAspect="1"/>
          </p:cNvPicPr>
          <p:nvPr/>
        </p:nvPicPr>
        <p:blipFill>
          <a:blip r:embed="rId3"/>
          <a:stretch>
            <a:fillRect/>
          </a:stretch>
        </p:blipFill>
        <p:spPr>
          <a:xfrm>
            <a:off x="824423" y="3631631"/>
            <a:ext cx="289682" cy="289682"/>
          </a:xfrm>
          <a:prstGeom prst="rect">
            <a:avLst/>
          </a:prstGeom>
        </p:spPr>
      </p:pic>
      <p:sp>
        <p:nvSpPr>
          <p:cNvPr id="12" name="Text 7"/>
          <p:cNvSpPr/>
          <p:nvPr/>
        </p:nvSpPr>
        <p:spPr>
          <a:xfrm>
            <a:off x="1554480" y="3401568"/>
            <a:ext cx="8229600" cy="749808"/>
          </a:xfrm>
          <a:prstGeom prst="rect">
            <a:avLst/>
          </a:prstGeom>
          <a:noFill/>
          <a:ln/>
        </p:spPr>
        <p:txBody>
          <a:bodyPr wrap="square" lIns="0" tIns="0" rIns="0" bIns="0" rtlCol="0" anchor="ctr"/>
          <a:lstStyle/>
          <a:p>
            <a:pPr indent="0" marL="0">
              <a:lnSpc>
                <a:spcPts val="2000"/>
              </a:lnSpc>
              <a:buNone/>
            </a:pPr>
            <a:r>
              <a:rPr lang="en-US" sz="1700" dirty="0">
                <a:solidFill>
                  <a:srgbClr val="E4F2EE"/>
                </a:solidFill>
                <a:latin typeface="Calibri" pitchFamily="34" charset="0"/>
                <a:ea typeface="Calibri" pitchFamily="34" charset="-122"/>
                <a:cs typeface="Calibri" pitchFamily="34" charset="-120"/>
              </a:rPr>
              <a:t>Managers lead with information they can trust, closer to real time</a:t>
            </a:r>
            <a:endParaRPr lang="en-US" sz="1700" dirty="0"/>
          </a:p>
        </p:txBody>
      </p:sp>
      <p:sp>
        <p:nvSpPr>
          <p:cNvPr id="13" name="Shape 8"/>
          <p:cNvSpPr/>
          <p:nvPr/>
        </p:nvSpPr>
        <p:spPr>
          <a:xfrm>
            <a:off x="640080" y="4379976"/>
            <a:ext cx="658368" cy="658368"/>
          </a:xfrm>
          <a:prstGeom prst="ellipse">
            <a:avLst/>
          </a:prstGeom>
          <a:solidFill>
            <a:srgbClr val="0B6B60"/>
          </a:solidFill>
          <a:ln/>
        </p:spPr>
      </p:sp>
      <p:pic>
        <p:nvPicPr>
          <p:cNvPr id="14" name="Image 3" descr="preencoded.png">    </p:cNvPr>
          <p:cNvPicPr>
            <a:picLocks noChangeAspect="1"/>
          </p:cNvPicPr>
          <p:nvPr/>
        </p:nvPicPr>
        <p:blipFill>
          <a:blip r:embed="rId4"/>
          <a:stretch>
            <a:fillRect/>
          </a:stretch>
        </p:blipFill>
        <p:spPr>
          <a:xfrm>
            <a:off x="824423" y="4564319"/>
            <a:ext cx="289682" cy="289682"/>
          </a:xfrm>
          <a:prstGeom prst="rect">
            <a:avLst/>
          </a:prstGeom>
        </p:spPr>
      </p:pic>
      <p:sp>
        <p:nvSpPr>
          <p:cNvPr id="15" name="Text 9"/>
          <p:cNvSpPr/>
          <p:nvPr/>
        </p:nvSpPr>
        <p:spPr>
          <a:xfrm>
            <a:off x="1554480" y="4334256"/>
            <a:ext cx="8229600" cy="749808"/>
          </a:xfrm>
          <a:prstGeom prst="rect">
            <a:avLst/>
          </a:prstGeom>
          <a:noFill/>
          <a:ln/>
        </p:spPr>
        <p:txBody>
          <a:bodyPr wrap="square" lIns="0" tIns="0" rIns="0" bIns="0" rtlCol="0" anchor="ctr"/>
          <a:lstStyle/>
          <a:p>
            <a:pPr indent="0" marL="0">
              <a:lnSpc>
                <a:spcPts val="2000"/>
              </a:lnSpc>
              <a:buNone/>
            </a:pPr>
            <a:r>
              <a:rPr lang="en-US" sz="1700" dirty="0">
                <a:solidFill>
                  <a:srgbClr val="E4F2EE"/>
                </a:solidFill>
                <a:latin typeface="Calibri" pitchFamily="34" charset="0"/>
                <a:ea typeface="Calibri" pitchFamily="34" charset="-122"/>
                <a:cs typeface="Calibri" pitchFamily="34" charset="-120"/>
              </a:rPr>
              <a:t>Partners strengthen the system instead of splintering it</a:t>
            </a:r>
            <a:endParaRPr lang="en-US" sz="1700" dirty="0"/>
          </a:p>
        </p:txBody>
      </p:sp>
      <p:sp>
        <p:nvSpPr>
          <p:cNvPr id="16" name="Shape 10"/>
          <p:cNvSpPr/>
          <p:nvPr/>
        </p:nvSpPr>
        <p:spPr>
          <a:xfrm>
            <a:off x="640080" y="5312664"/>
            <a:ext cx="658368" cy="658368"/>
          </a:xfrm>
          <a:prstGeom prst="ellipse">
            <a:avLst/>
          </a:prstGeom>
          <a:solidFill>
            <a:srgbClr val="0B6B60"/>
          </a:solidFill>
          <a:ln/>
        </p:spPr>
      </p:sp>
      <p:pic>
        <p:nvPicPr>
          <p:cNvPr id="17" name="Image 4" descr="preencoded.png">    </p:cNvPr>
          <p:cNvPicPr>
            <a:picLocks noChangeAspect="1"/>
          </p:cNvPicPr>
          <p:nvPr/>
        </p:nvPicPr>
        <p:blipFill>
          <a:blip r:embed="rId5"/>
          <a:stretch>
            <a:fillRect/>
          </a:stretch>
        </p:blipFill>
        <p:spPr>
          <a:xfrm>
            <a:off x="824423" y="5497007"/>
            <a:ext cx="289682" cy="289682"/>
          </a:xfrm>
          <a:prstGeom prst="rect">
            <a:avLst/>
          </a:prstGeom>
        </p:spPr>
      </p:pic>
      <p:sp>
        <p:nvSpPr>
          <p:cNvPr id="18" name="Text 11"/>
          <p:cNvSpPr/>
          <p:nvPr/>
        </p:nvSpPr>
        <p:spPr>
          <a:xfrm>
            <a:off x="1554480" y="5266944"/>
            <a:ext cx="8229600" cy="749808"/>
          </a:xfrm>
          <a:prstGeom prst="rect">
            <a:avLst/>
          </a:prstGeom>
          <a:noFill/>
          <a:ln/>
        </p:spPr>
        <p:txBody>
          <a:bodyPr wrap="square" lIns="0" tIns="0" rIns="0" bIns="0" rtlCol="0" anchor="ctr"/>
          <a:lstStyle/>
          <a:p>
            <a:pPr indent="0" marL="0">
              <a:lnSpc>
                <a:spcPts val="2000"/>
              </a:lnSpc>
              <a:buNone/>
            </a:pPr>
            <a:r>
              <a:rPr lang="en-US" sz="1700" dirty="0">
                <a:solidFill>
                  <a:srgbClr val="E4F2EE"/>
                </a:solidFill>
                <a:latin typeface="Calibri" pitchFamily="34" charset="0"/>
                <a:ea typeface="Calibri" pitchFamily="34" charset="-122"/>
                <a:cs typeface="Calibri" pitchFamily="34" charset="-120"/>
              </a:rPr>
              <a:t>A digital foundation we own, govern and grow — for the long term</a:t>
            </a:r>
            <a:endParaRPr lang="en-US" sz="1700" dirty="0"/>
          </a:p>
        </p:txBody>
      </p:sp>
      <p:sp>
        <p:nvSpPr>
          <p:cNvPr id="19" name="Text 12"/>
          <p:cNvSpPr/>
          <p:nvPr/>
        </p:nvSpPr>
        <p:spPr>
          <a:xfrm>
            <a:off x="640080" y="6400800"/>
            <a:ext cx="5486400" cy="274320"/>
          </a:xfrm>
          <a:prstGeom prst="rect">
            <a:avLst/>
          </a:prstGeom>
          <a:noFill/>
          <a:ln/>
        </p:spPr>
        <p:txBody>
          <a:bodyPr wrap="square" lIns="0" tIns="0" rIns="0" bIns="0" rtlCol="0" anchor="ctr"/>
          <a:lstStyle/>
          <a:p>
            <a:pPr algn="l" indent="0" marL="0">
              <a:buNone/>
            </a:pPr>
            <a:r>
              <a:rPr lang="en-US" sz="900" b="1" dirty="0">
                <a:solidFill>
                  <a:srgbClr val="0D8577"/>
                </a:solidFill>
                <a:latin typeface="Calibri" pitchFamily="34" charset="0"/>
                <a:ea typeface="Calibri" pitchFamily="34" charset="-122"/>
                <a:cs typeface="Calibri" pitchFamily="34" charset="-120"/>
              </a:rPr>
              <a:t>Impilo vNext</a:t>
            </a:r>
            <a:pPr algn="l" indent="0" marL="0">
              <a:buNone/>
            </a:pPr>
            <a:r>
              <a:rPr lang="en-US" sz="900" dirty="0">
                <a:solidFill>
                  <a:srgbClr val="5B6E6B"/>
                </a:solidFill>
                <a:latin typeface="Calibri" pitchFamily="34" charset="0"/>
                <a:ea typeface="Calibri" pitchFamily="34" charset="-122"/>
                <a:cs typeface="Calibri" pitchFamily="34" charset="-120"/>
              </a:rPr>
              <a:t>   Health Operating System</a:t>
            </a:r>
            <a:endParaRPr lang="en-US" sz="900" dirty="0"/>
          </a:p>
        </p:txBody>
      </p:sp>
      <p:sp>
        <p:nvSpPr>
          <p:cNvPr id="20" name="Text 13"/>
          <p:cNvSpPr/>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B6E6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3B37"/>
        </a:solidFill>
      </p:bgPr>
    </p:bg>
    <p:spTree>
      <p:nvGrpSpPr>
        <p:cNvPr id="1" name=""/>
        <p:cNvGrpSpPr/>
        <p:nvPr/>
      </p:nvGrpSpPr>
      <p:grpSpPr>
        <a:xfrm>
          <a:off x="0" y="0"/>
          <a:ext cx="0" cy="0"/>
          <a:chOff x="0" y="0"/>
          <a:chExt cx="0" cy="0"/>
        </a:xfrm>
      </p:grpSpPr>
      <p:sp>
        <p:nvSpPr>
          <p:cNvPr id="2" name="Shape 0"/>
          <p:cNvSpPr/>
          <p:nvPr/>
        </p:nvSpPr>
        <p:spPr>
          <a:xfrm>
            <a:off x="-1828800" y="-2011680"/>
            <a:ext cx="4937760" cy="4937760"/>
          </a:xfrm>
          <a:prstGeom prst="ellipse">
            <a:avLst/>
          </a:prstGeom>
          <a:solidFill>
            <a:srgbClr val="0F4A44"/>
          </a:solidFill>
          <a:ln/>
        </p:spPr>
      </p:sp>
      <p:sp>
        <p:nvSpPr>
          <p:cNvPr id="3" name="Shape 1"/>
          <p:cNvSpPr/>
          <p:nvPr/>
        </p:nvSpPr>
        <p:spPr>
          <a:xfrm>
            <a:off x="9692640" y="3840480"/>
            <a:ext cx="4572000" cy="4572000"/>
          </a:xfrm>
          <a:prstGeom prst="ellipse">
            <a:avLst/>
          </a:prstGeom>
          <a:solidFill>
            <a:srgbClr val="0F4A44"/>
          </a:solidFill>
          <a:ln/>
        </p:spPr>
      </p:sp>
      <p:sp>
        <p:nvSpPr>
          <p:cNvPr id="4" name="Shape 2"/>
          <p:cNvSpPr/>
          <p:nvPr/>
        </p:nvSpPr>
        <p:spPr>
          <a:xfrm>
            <a:off x="5632704" y="868680"/>
            <a:ext cx="914400" cy="914400"/>
          </a:xfrm>
          <a:prstGeom prst="ellipse">
            <a:avLst/>
          </a:prstGeom>
          <a:solidFill>
            <a:srgbClr val="E1A21A"/>
          </a:solidFill>
          <a:ln/>
        </p:spPr>
      </p:sp>
      <p:pic>
        <p:nvPicPr>
          <p:cNvPr id="5" name="Image 0" descr="preencoded.png">    </p:cNvPr>
          <p:cNvPicPr>
            <a:picLocks noChangeAspect="1"/>
          </p:cNvPicPr>
          <p:nvPr/>
        </p:nvPicPr>
        <p:blipFill>
          <a:blip r:embed="rId1"/>
          <a:stretch>
            <a:fillRect/>
          </a:stretch>
        </p:blipFill>
        <p:spPr>
          <a:xfrm>
            <a:off x="5888736" y="1124712"/>
            <a:ext cx="402336" cy="402336"/>
          </a:xfrm>
          <a:prstGeom prst="rect">
            <a:avLst/>
          </a:prstGeom>
        </p:spPr>
      </p:pic>
      <p:sp>
        <p:nvSpPr>
          <p:cNvPr id="6" name="Text 3"/>
          <p:cNvSpPr/>
          <p:nvPr/>
        </p:nvSpPr>
        <p:spPr>
          <a:xfrm>
            <a:off x="0" y="1965960"/>
            <a:ext cx="12188952" cy="82296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Impilo vNext</a:t>
            </a:r>
            <a:endParaRPr lang="en-US" sz="4600" dirty="0"/>
          </a:p>
        </p:txBody>
      </p:sp>
      <p:sp>
        <p:nvSpPr>
          <p:cNvPr id="7" name="Text 4"/>
          <p:cNvSpPr/>
          <p:nvPr/>
        </p:nvSpPr>
        <p:spPr>
          <a:xfrm>
            <a:off x="0" y="2880360"/>
            <a:ext cx="12188952" cy="457200"/>
          </a:xfrm>
          <a:prstGeom prst="rect">
            <a:avLst/>
          </a:prstGeom>
          <a:noFill/>
          <a:ln/>
        </p:spPr>
        <p:txBody>
          <a:bodyPr wrap="square" lIns="0" tIns="0" rIns="0" bIns="0" rtlCol="0" anchor="ctr"/>
          <a:lstStyle/>
          <a:p>
            <a:pPr algn="ctr" indent="0" marL="0">
              <a:buNone/>
            </a:pPr>
            <a:r>
              <a:rPr lang="en-US" sz="2000" i="1" dirty="0">
                <a:solidFill>
                  <a:srgbClr val="5EEAD4"/>
                </a:solidFill>
                <a:latin typeface="Calibri" pitchFamily="34" charset="0"/>
                <a:ea typeface="Calibri" pitchFamily="34" charset="-122"/>
                <a:cs typeface="Calibri" pitchFamily="34" charset="-120"/>
              </a:rPr>
              <a:t>One system  ·  many roles  ·  one person at the centre</a:t>
            </a:r>
            <a:endParaRPr lang="en-US" sz="2000" dirty="0"/>
          </a:p>
        </p:txBody>
      </p:sp>
      <p:sp>
        <p:nvSpPr>
          <p:cNvPr id="8" name="Shape 5"/>
          <p:cNvSpPr/>
          <p:nvPr/>
        </p:nvSpPr>
        <p:spPr>
          <a:xfrm>
            <a:off x="4539996" y="3611880"/>
            <a:ext cx="3108960" cy="0"/>
          </a:xfrm>
          <a:prstGeom prst="line">
            <a:avLst/>
          </a:prstGeom>
          <a:noFill/>
          <a:ln w="31750">
            <a:solidFill>
              <a:srgbClr val="E1A21A"/>
            </a:solidFill>
            <a:prstDash val="solid"/>
          </a:ln>
        </p:spPr>
      </p:sp>
      <p:sp>
        <p:nvSpPr>
          <p:cNvPr id="9" name="Text 6"/>
          <p:cNvSpPr/>
          <p:nvPr/>
        </p:nvSpPr>
        <p:spPr>
          <a:xfrm>
            <a:off x="1371600" y="3886200"/>
            <a:ext cx="9445752" cy="640080"/>
          </a:xfrm>
          <a:prstGeom prst="rect">
            <a:avLst/>
          </a:prstGeom>
          <a:noFill/>
          <a:ln/>
        </p:spPr>
        <p:txBody>
          <a:bodyPr wrap="square" lIns="0" tIns="0" rIns="0" bIns="0" rtlCol="0" anchor="ctr"/>
          <a:lstStyle/>
          <a:p>
            <a:pPr algn="ctr" indent="0" marL="0">
              <a:buNone/>
            </a:pPr>
            <a:r>
              <a:rPr lang="en-US" sz="1500" dirty="0">
                <a:solidFill>
                  <a:srgbClr val="CFE9E4"/>
                </a:solidFill>
                <a:latin typeface="Calibri" pitchFamily="34" charset="0"/>
                <a:ea typeface="Calibri" pitchFamily="34" charset="-122"/>
                <a:cs typeface="Calibri" pitchFamily="34" charset="-120"/>
              </a:rPr>
              <a:t>Wherever you sit — facility, district, province, HQ or partner — there is a place for you in this.</a:t>
            </a:r>
            <a:endParaRPr lang="en-US" sz="1500" dirty="0"/>
          </a:p>
        </p:txBody>
      </p:sp>
      <p:sp>
        <p:nvSpPr>
          <p:cNvPr id="10" name="Text 7"/>
          <p:cNvSpPr/>
          <p:nvPr/>
        </p:nvSpPr>
        <p:spPr>
          <a:xfrm>
            <a:off x="0" y="4800600"/>
            <a:ext cx="1218895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Questions &amp; discussion welcome</a:t>
            </a:r>
            <a:endParaRPr lang="en-US" sz="1600" dirty="0"/>
          </a:p>
        </p:txBody>
      </p:sp>
      <p:sp>
        <p:nvSpPr>
          <p:cNvPr id="11" name="Text 8"/>
          <p:cNvSpPr/>
          <p:nvPr/>
        </p:nvSpPr>
        <p:spPr>
          <a:xfrm>
            <a:off x="0" y="5943600"/>
            <a:ext cx="12188952" cy="365760"/>
          </a:xfrm>
          <a:prstGeom prst="rect">
            <a:avLst/>
          </a:prstGeom>
          <a:noFill/>
          <a:ln/>
        </p:spPr>
        <p:txBody>
          <a:bodyPr wrap="square" lIns="0" tIns="0" rIns="0" bIns="0" rtlCol="0" anchor="ctr"/>
          <a:lstStyle/>
          <a:p>
            <a:pPr algn="ctr" indent="0" marL="0">
              <a:buNone/>
            </a:pPr>
            <a:r>
              <a:rPr lang="en-US" sz="1200" dirty="0">
                <a:solidFill>
                  <a:srgbClr val="9FC4BE"/>
                </a:solidFill>
                <a:latin typeface="Calibri" pitchFamily="34" charset="0"/>
                <a:ea typeface="Calibri" pitchFamily="34" charset="-122"/>
                <a:cs typeface="Calibri" pitchFamily="34" charset="-120"/>
              </a:rPr>
              <a:t>[Presenter name · role · email]     ·     Learn more: internal doctrine &amp; architecture docs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Impilo vNext</dc:title>
  <dc:subject>PptxGenJS Presentation</dc:subject>
  <dc:creator>Impilo vNext Programme</dc:creator>
  <cp:lastModifiedBy>Impilo vNext Programme</cp:lastModifiedBy>
  <cp:revision>1</cp:revision>
  <dcterms:created xsi:type="dcterms:W3CDTF">2026-07-10T03:59:46Z</dcterms:created>
  <dcterms:modified xsi:type="dcterms:W3CDTF">2026-07-10T03:59:46Z</dcterms:modified>
</cp:coreProperties>
</file>